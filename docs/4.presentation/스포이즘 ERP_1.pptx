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aveSubsetFonts="1" autoCompressPictures="0">
  <p:sldMasterIdLst>
    <p:sldMasterId id="214748367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howPr>
    <p:sldAll/>
    <p:penClr>
      <a:srgbClr val="ff0000"/>
    </p:penClr>
    <p:extLst>
      <p:ext uri="{2FDB2607-1784-4EEB-B798-7EB5836EED8A}">
        <p14:showMediaCtrls xmlns:p14="http://schemas.microsoft.com/office/powerpoint/2010/main" val="1"/>
      </p:ext>
    </p:extLst>
  </p:showPr>
  <p:extLst>
    <p:ext uri="ACF4677E-8BD2-47ae-8A1F-98590045965D">
      <hp:hncThemeShow xmlns:hp="http://schemas.haansoft.com/office/presentation/8.0" themeShowType="1" themeSkinType="1" themeTransitionType="1" useThemeTransition="1" byMouseClick="1" attrType="1" dur="2000"/>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presProps" Target="presProps.xml"  /><Relationship Id="rId21" Type="http://schemas.openxmlformats.org/officeDocument/2006/relationships/viewProps" Target="viewProps.xml"  /><Relationship Id="rId22" Type="http://schemas.openxmlformats.org/officeDocument/2006/relationships/theme" Target="theme/theme1.xml"  /><Relationship Id="rId23" Type="http://schemas.openxmlformats.org/officeDocument/2006/relationships/tableStyles" Target="tableStyles.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idx="0"/>
          </p:nvPr>
        </p:nvSpPr>
        <p:spPr>
          <a:xfrm>
            <a:off x="0" y="0"/>
            <a:ext cx="2971800" cy="458788"/>
          </a:xfrm>
          <a:prstGeom prst="rect">
            <a:avLst/>
          </a:prstGeom>
        </p:spPr>
        <p:txBody>
          <a:bodyPr vert="horz" lIns="91440" tIns="45720" rIns="91440" bIns="45720"/>
          <a:lstStyle>
            <a:lvl1pPr algn="l">
              <a:defRPr sz="1200"/>
            </a:lvl1pPr>
          </a:lstStyle>
          <a:p>
            <a:pPr lvl="0">
              <a:defRPr/>
            </a:pPr>
            <a:r>
              <a:rPr lang="ko-KR" altLang="en-US"/>
              <a:t/>
            </a:r>
            <a:endParaRPr lang="ko-KR"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9/7/2026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endParaRPr lang="en-US"/>
          </a:p>
          <a:p>
            <a:pPr lvl="1">
              <a:defRPr/>
            </a:pPr>
            <a:r>
              <a:rPr lang="en-US"/>
              <a:t>Second level</a:t>
            </a:r>
            <a:endParaRPr lang="en-US"/>
          </a:p>
          <a:p>
            <a:pPr lvl="2">
              <a:defRPr/>
            </a:pPr>
            <a:r>
              <a:rPr lang="en-US"/>
              <a:t>Third level</a:t>
            </a:r>
            <a:endParaRPr lang="en-US"/>
          </a:p>
          <a:p>
            <a:pPr lvl="3">
              <a:defRPr/>
            </a:pPr>
            <a:r>
              <a:rPr lang="en-US"/>
              <a:t>Fourth level</a:t>
            </a:r>
            <a:endParaRPr lang="en-US"/>
          </a:p>
          <a:p>
            <a:pPr lvl="4">
              <a:defRPr/>
            </a:pPr>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r>
              <a:rPr lang="ko-KR" altLang="en-US"/>
              <a:t/>
            </a:r>
            <a:endParaRPr lang="ko-KR"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아파트·오피스텔 커뮤니티 시설을 여러 지점에서 위탁 운영하는 회사를 가정한 프로젝트입니다. 실제 제안요청서를 근거로 설계했고, 오늘은 첫 진행상황 보고입니다.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a:t>
            </a:fld>
            <a:endParaRPr lang="en-US"/>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네 부분으로 말씀드립니다. 무엇을 만드는지, 원본 요구사항을 어떤 근거로 조정했는지, 지금 무엇을 고치고 있는지, 무엇이 남았는지.</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먼저 이 시스템이 무엇인지부터 말씀드립니다.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3</a:t>
            </a:fld>
            <a:endParaRPr lang="en-US"/>
          </a:p>
        </p:txBody>
      </p:sp>
    </p:spTree>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한 문장으로는, 여러 지점을 위탁 운영하는 회사의 본사 시스템입니다. 편의점 본사 시스템에서 A매장 점주가 B매장 매출을 볼 수 없는 것과 같은 구조를 커뮤니티 시설에 적용했습니다.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4</a:t>
            </a:fld>
            <a:endParaRPr lang="en-US"/>
          </a:p>
        </p:txBody>
      </p:sp>
    </p:spTree>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이 시스템이 실제로 어떻게 굴러가는지를 한 장으로 보여드립니다. 왼쪽에서 오른쪽으로 시간이 흐르고, 세 개의 가로줄은 각각 본사·지점·회원이 하는 일입니다. 본사가 지점과 계정을 열고, 지점이 프로그램과 회원을 등록하고, 회원이 예약·결제하고 체크인하면, 그 체크인 기록이 혼잡도로 집계되어 다시 지점과 본사 화면에 올라갑니다.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5</a:t>
            </a:fld>
            <a:endParaRPr lang="en-US"/>
          </a:p>
        </p:txBody>
      </p:sp>
    </p:spTree>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로그인하는 모든 사람은 출입증 하나를 갖고, 그 출입증에 직급이 찍혀 있습니다. 직급은 네 가지로 정했습니다. 그리고 모든 데이터에 어느 지점 것인지를 표시해두고, 지점 관리자는 자기 지점 표시가 붙은 것만 보도록 설계했습니다. 원본 요구사항에서 가장 강하게 요구된 항목입니다.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6</a:t>
            </a:fld>
            <a:endParaRPr lang="en-US"/>
          </a:p>
        </p:txBody>
      </p:sp>
    </p:spTree>
  </p:cSld>
  <p:clrMapOvr>
    <a:masterClrMapping/>
  </p:clrMapOvr>
</p:notes>
</file>

<file path=ppt/notesSlides/notesSlide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다음은 원본 제안요청서를 어떻게 이 프로젝트로 옮겼는지입니다.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7</a:t>
            </a:fld>
            <a:endParaRPr lang="en-US"/>
          </a:p>
        </p:txBody>
      </p:sp>
    </p:spTree>
  </p:cSld>
  <p:clrMapOvr>
    <a:masterClrMapping/>
  </p:clrMapOvr>
</p:notes>
</file>

<file path=ppt/notesSlides/notesSlide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㈜유니비즈컨설팅 제안요청서의 세부 과업 표에 실린 항목을 번호 그대로 옮겨왔습니다. 원문 번호에 9번이 없어 8번에서 10번으로 건너뛰는데, 임의로 채우지 않고 그대로 표기했습니다. 모든 항목이 설계 문서로 이어지고, 조정한 항목은 각각 근거 기록이 있습니다.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8</a:t>
            </a:fld>
            <a:endParaRPr lang="en-US"/>
          </a:p>
        </p:txBody>
      </p:sp>
    </p:spTree>
  </p:cSld>
  <p:clrMapOvr>
    <a:masterClrMapping/>
  </p:clrMapOvr>
</p:notes>
</file>

<file path=ppt/notesSlides/notesSlide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조정에는 하나의 기준을 썼습니다. 요구사항의 표면적 형태가 아니라 실질적 의도를 남기는 것입니다. 네 가지 사례 모두 같은 원칙의 적용입니다.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9</a:t>
            </a:fld>
            <a:endParaRPr lang="en-US"/>
          </a:p>
        </p:txBody>
      </p:sp>
    </p:spTree>
  </p:cSld>
  <p:clrMapOvr>
    <a:masterClrMapping/>
  </p:clrMapOvr>
</p:notes>
</file>

<file path=ppt/notesSlides/notesSlide1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여기서부터 지금 실제로 하고 있는 작업입니다.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10</a:t>
            </a:fld>
            <a:endParaRPr lang="en-US"/>
          </a:p>
        </p:txBody>
      </p:sp>
    </p:spTree>
  </p:cSld>
  <p:clrMapOvr>
    <a:masterClrMapping/>
  </p:clrMapOvr>
</p:notes>
</file>

<file path=ppt/notesSlides/notesSlide1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현재 데이터베이스 스키마를 확정하는 단계입니다. 26개 모델 전체를 보여드리기보다 구조의 원칙을 보시면 됩니다. 지점이 모든 데이터의 소유 축이고, 로그인 정보는 계정 하나에 모으고 직원과 회원의 상세 정보는 따로 연결합니다.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11</a:t>
            </a:fld>
            <a:endParaRPr lang="en-US"/>
          </a:p>
        </p:txBody>
      </p:sp>
    </p:spTree>
  </p:cSld>
  <p:clrMapOvr>
    <a:masterClrMapping/>
  </p:clrMapOvr>
</p:notes>
</file>

<file path=ppt/notesSlides/notesSlide1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스키마를 한 번에 확정한 것이 아니라, 화면을 만들다 한계를 발견하면 구조를 고치는 방식으로 진행 중입니다. 네 건 모두 나중에 조건문이 누더기가 되기 전에 미리 잡은 경우입니다. 특히 세 번째는 트레이너에게 관리자 권한이 붙어 있던 것을 바로잡은 것으로, 놓쳤다면 보안상 결함이 되었을 항목입니다.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12</a:t>
            </a:fld>
            <a:endParaRPr lang="en-US"/>
          </a:p>
        </p:txBody>
      </p:sp>
    </p:spTree>
  </p:cSld>
  <p:clrMapOvr>
    <a:masterClrMapping/>
  </p:clrMapOvr>
</p:notes>
</file>

<file path=ppt/notesSlides/notesSlide1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화면 쪽은 로컬에서 수정을 거치며 기준을 확정하는 중입니다. 별도 UI 프레임워크를 쓰지 않고 색·간격·모서리 값을 한 곳에 모아 모든 화면이 그 값을 따라 쓰게 했습니다. 그래서 대시보드 하나만 고치면 나머지 화면이 같은 톤을 자동으로 물려받습니다.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13</a:t>
            </a:fld>
            <a:endParaRPr lang="en-US"/>
          </a:p>
        </p:txBody>
      </p:sp>
    </p:spTree>
  </p:cSld>
  <p:clrMapOvr>
    <a:masterClrMapping/>
  </p:clrMapOvr>
</p:notes>
</file>

<file path=ppt/notesSlides/notesSlide1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마지막으로 현재 범위와 남은 일입니다.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14</a:t>
            </a:fld>
            <a:endParaRPr lang="en-US"/>
          </a:p>
        </p:txBody>
      </p:sp>
    </p:spTree>
  </p:cSld>
  <p:clrMapOvr>
    <a:masterClrMapping/>
  </p:clrMapOvr>
</p:notes>
</file>

<file path=ppt/notesSlides/notesSlide1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아직 개발이 끝난 기능은 없습니다. 지금은 설계를 확정하는 단계이고, 스키마 구조와 화면 기준을 고쳐가며 잡고 있습니다. 8개 기능 영역은 설계 문서까지 정리되어 있고, 데이터베이스 연결과 기능 구현이 그다음 순서입니다.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15</a:t>
            </a:fld>
            <a:endParaRPr lang="en-US"/>
          </a:p>
        </p:txBody>
      </p:sp>
    </p:spTree>
  </p:cSld>
  <p:clrMapOvr>
    <a:masterClrMapping/>
  </p:clrMapOvr>
</p:notes>
</file>

<file path=ppt/notesSlides/notesSlide1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네 단계로 잡았습니다. 지금은 첫 단계인 설계 확정 중이고, 구조가 굳은 뒤에 데이터베이스를 연결하고 기능을 채우는 순서입니다.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16</a:t>
            </a:fld>
            <a:endParaRPr lang="en-US"/>
          </a:p>
        </p:txBody>
      </p:sp>
    </p:spTree>
  </p:cSld>
  <p:clrMapOvr>
    <a:masterClrMapping/>
  </p:clrMapOvr>
</p:notes>
</file>

<file path=ppt/notesSlides/notesSlide1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질문 받겠습니다. 데이터베이스 연동 여부, 등록 기능 여부, 변경 로그 여부는 모두 다음 단계로 계획되어 있다고 답합니다.</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notesSlide" Target="../notesSlides/notesSlide1.xml"  /><Relationship Id="rId2"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notesSlide" Target="../notesSlides/notesSlide2.xml"  /><Relationship Id="rId2"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1" Type="http://schemas.openxmlformats.org/officeDocument/2006/relationships/notesSlide" Target="../notesSlides/notesSlide3.xml"  /><Relationship Id="rId2"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1" Type="http://schemas.openxmlformats.org/officeDocument/2006/relationships/notesSlide" Target="../notesSlides/notesSlide4.xml"  /><Relationship Id="rId2"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1" Type="http://schemas.openxmlformats.org/officeDocument/2006/relationships/notesSlide" Target="../notesSlides/notesSlide5.xml"  /><Relationship Id="rId2"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1" Type="http://schemas.openxmlformats.org/officeDocument/2006/relationships/notesSlide" Target="../notesSlides/notesSlide6.xml"  /><Relationship Id="rId2"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1" Type="http://schemas.openxmlformats.org/officeDocument/2006/relationships/notesSlide" Target="../notesSlides/notesSlide7.xml"  /><Relationship Id="rId2"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1" Type="http://schemas.openxmlformats.org/officeDocument/2006/relationships/notesSlide" Target="../notesSlides/notesSlide8.xml"  /><Relationship Id="rId2"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1" Type="http://schemas.openxmlformats.org/officeDocument/2006/relationships/notesSlide" Target="../notesSlides/notesSlide9.xml"  /><Relationship Id="rId2"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1" Type="http://schemas.openxmlformats.org/officeDocument/2006/relationships/notesSlide" Target="../notesSlides/notesSlide10.xml"  /><Relationship Id="rId2"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1" Type="http://schemas.openxmlformats.org/officeDocument/2006/relationships/notesSlide" Target="../notesSlides/notesSlide11.xml"  /><Relationship Id="rId2"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1" Type="http://schemas.openxmlformats.org/officeDocument/2006/relationships/notesSlide" Target="../notesSlides/notesSlide12.xml"  /><Relationship Id="rId2"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1" Type="http://schemas.openxmlformats.org/officeDocument/2006/relationships/notesSlide" Target="../notesSlides/notesSlide13.xml"  /><Relationship Id="rId2" Type="http://schemas.openxmlformats.org/officeDocument/2006/relationships/slideLayout" Target="../slideLayouts/slideLayout1.xml"  /><Relationship Id="rId3" Type="http://schemas.openxmlformats.org/officeDocument/2006/relationships/image" Target="../media/image1.png"  /></Relationships>
</file>

<file path=ppt/slides/_rels/slide14.xml.rels><?xml version="1.0" encoding="UTF-8" standalone="yes" ?><Relationships xmlns="http://schemas.openxmlformats.org/package/2006/relationships"><Relationship Id="rId1" Type="http://schemas.openxmlformats.org/officeDocument/2006/relationships/notesSlide" Target="../notesSlides/notesSlide14.xml"  /><Relationship Id="rId2"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1" Type="http://schemas.openxmlformats.org/officeDocument/2006/relationships/notesSlide" Target="../notesSlides/notesSlide15.xml"  /><Relationship Id="rId2"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1" Type="http://schemas.openxmlformats.org/officeDocument/2006/relationships/notesSlide" Target="../notesSlides/notesSlide16.xml"  /><Relationship Id="rId2"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1" Type="http://schemas.openxmlformats.org/officeDocument/2006/relationships/notesSlide" Target="../notesSlides/notesSlide17.xml"  /><Relationship Id="rId2" Type="http://schemas.openxmlformats.org/officeDocument/2006/relationships/slideLayout" Target="../slideLayouts/slideLayout1.xml"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
    <p:bg>
      <p:bgPr shadeToTitle="0">
        <a:solidFill>
          <a:srgbClr val="f2f2f3"/>
        </a:solidFill>
      </p:bgPr>
    </p:bg>
    <p:spTree>
      <p:nvGrpSpPr>
        <p:cNvPr id="1" name=""/>
        <p:cNvGrpSpPr/>
        <p:nvPr/>
      </p:nvGrpSpPr>
      <p:grpSpPr>
        <a:xfrm>
          <a:off x="0" y="0"/>
          <a:ext cx="0" cy="0"/>
          <a:chOff x="0" y="0"/>
          <a:chExt cx="0" cy="0"/>
        </a:xfrm>
      </p:grpSpPr>
      <p:sp>
        <p:nvSpPr>
          <p:cNvPr id="2" name="Shape 0"/>
          <p:cNvSpPr/>
          <p:nvPr/>
        </p:nvSpPr>
        <p:spPr>
          <a:xfrm>
            <a:off x="1047750" y="986730"/>
            <a:ext cx="133350" cy="133350"/>
          </a:xfrm>
          <a:prstGeom prst="rect">
            <a:avLst/>
          </a:prstGeom>
          <a:solidFill>
            <a:srgbClr val="5980a6"/>
          </a:solidFill>
          <a:ln/>
        </p:spPr>
        <p:txBody>
          <a:bodyPr anchor="ctr"/>
          <a:p>
            <a:pPr algn="ctr">
              <a:defRPr/>
            </a:pPr>
            <a:endParaRPr lang="ko-KR" altLang="en-US">
              <a:latin typeface="고양덕양 EB"/>
            </a:endParaRPr>
          </a:p>
        </p:txBody>
      </p:sp>
      <p:sp>
        <p:nvSpPr>
          <p:cNvPr id="3" name="Text 1"/>
          <p:cNvSpPr/>
          <p:nvPr/>
        </p:nvSpPr>
        <p:spPr>
          <a:xfrm>
            <a:off x="1371600" y="876300"/>
            <a:ext cx="6080388"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24">
                <a:solidFill>
                  <a:srgbClr val="416180"/>
                </a:solidFill>
                <a:latin typeface="고양덕양 EB"/>
                <a:ea typeface="고양덕양 EB"/>
                <a:cs typeface="Courier New"/>
              </a:rPr>
              <a:t>SPOISM ERP / PROGRESS REVIEW 01</a:t>
            </a:r>
            <a:endParaRPr lang="en-US" sz="1800">
              <a:latin typeface="고양덕양 EB"/>
            </a:endParaRPr>
          </a:p>
        </p:txBody>
      </p:sp>
      <p:sp>
        <p:nvSpPr>
          <p:cNvPr id="4" name="Text 2"/>
          <p:cNvSpPr/>
          <p:nvPr/>
        </p:nvSpPr>
        <p:spPr>
          <a:xfrm>
            <a:off x="1047750" y="6410920"/>
            <a:ext cx="17811750" cy="1270248"/>
          </a:xfrm>
          <a:prstGeom prst="rect">
            <a:avLst/>
          </a:prstGeom>
          <a:noFill/>
          <a:ln/>
        </p:spPr>
        <p:txBody>
          <a:bodyPr wrap="square" lIns="25400" tIns="25400" rIns="25400" bIns="25400" anchor="t">
            <a:normAutofit/>
          </a:bodyPr>
          <a:lstStyle/>
          <a:p>
            <a:pPr marL="0" indent="0" algn="l">
              <a:lnSpc>
                <a:spcPct val="85669"/>
              </a:lnSpc>
              <a:buNone/>
              <a:defRPr/>
            </a:pPr>
            <a:r>
              <a:rPr lang="en-US" sz="9900" b="0" kern="0" spc="-198">
                <a:solidFill>
                  <a:srgbClr val="1d1f20"/>
                </a:solidFill>
                <a:latin typeface="고양덕양 EB"/>
                <a:ea typeface="고양덕양 EB"/>
                <a:cs typeface="Arial"/>
              </a:rPr>
              <a:t>스포이즘 ERP</a:t>
            </a:r>
            <a:endParaRPr lang="en-US" sz="9900">
              <a:latin typeface="고양덕양 EB"/>
            </a:endParaRPr>
          </a:p>
        </p:txBody>
      </p:sp>
      <p:sp>
        <p:nvSpPr>
          <p:cNvPr id="5" name="Text 3"/>
          <p:cNvSpPr/>
          <p:nvPr/>
        </p:nvSpPr>
        <p:spPr>
          <a:xfrm>
            <a:off x="1047750" y="7909768"/>
            <a:ext cx="12363450" cy="603796"/>
          </a:xfrm>
          <a:prstGeom prst="rect">
            <a:avLst/>
          </a:prstGeom>
          <a:noFill/>
          <a:ln/>
        </p:spPr>
        <p:txBody>
          <a:bodyPr wrap="square" lIns="25400" tIns="25400" rIns="25400" bIns="25400" anchor="t">
            <a:normAutofit/>
          </a:bodyPr>
          <a:lstStyle/>
          <a:p>
            <a:pPr marL="0" indent="0" algn="l">
              <a:lnSpc>
                <a:spcPct val="118800"/>
              </a:lnSpc>
              <a:buNone/>
              <a:defRPr/>
            </a:pPr>
            <a:r>
              <a:rPr lang="en-US" sz="3300">
                <a:solidFill>
                  <a:srgbClr val="424244"/>
                </a:solidFill>
                <a:latin typeface="고양덕양 EB"/>
                <a:ea typeface="고양덕양 EB"/>
                <a:cs typeface="Arial"/>
              </a:rPr>
              <a:t>아파트·오피스텔 커뮤니티 시설의 다지점 통합 관리 시스템</a:t>
            </a:r>
            <a:endParaRPr lang="en-US" sz="3300">
              <a:latin typeface="고양덕양 EB"/>
            </a:endParaRPr>
          </a:p>
        </p:txBody>
      </p:sp>
      <p:sp>
        <p:nvSpPr>
          <p:cNvPr id="6" name="Shape 4"/>
          <p:cNvSpPr/>
          <p:nvPr/>
        </p:nvSpPr>
        <p:spPr>
          <a:xfrm>
            <a:off x="1047750" y="8894564"/>
            <a:ext cx="16192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7" name="Text 5"/>
          <p:cNvSpPr/>
          <p:nvPr/>
        </p:nvSpPr>
        <p:spPr>
          <a:xfrm>
            <a:off x="1047750" y="9208889"/>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108">
                <a:solidFill>
                  <a:srgbClr val="5d5d60"/>
                </a:solidFill>
                <a:latin typeface="고양덕양 EB"/>
                <a:ea typeface="고양덕양 EB"/>
                <a:cs typeface="Courier New"/>
              </a:rPr>
              <a:t>프로젝트 개요 및 진행상황 발표 · 2026.09.07</a:t>
            </a:r>
            <a:endParaRPr lang="en-US" sz="1800">
              <a:latin typeface="고양덕양 EB"/>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2">
    <p:bg>
      <p:bgPr shadeToTitle="0">
        <a:solidFill>
          <a:srgbClr val="f2f2f3"/>
        </a:solidFill>
      </p:bgPr>
    </p:bg>
    <p:spTree>
      <p:nvGrpSpPr>
        <p:cNvPr id="1" name=""/>
        <p:cNvGrpSpPr/>
        <p:nvPr/>
      </p:nvGrpSpPr>
      <p:grpSpPr>
        <a:xfrm>
          <a:off x="0" y="0"/>
          <a:ext cx="0" cy="0"/>
          <a:chOff x="0" y="0"/>
          <a:chExt cx="0" cy="0"/>
        </a:xfrm>
      </p:grpSpPr>
      <p:sp>
        <p:nvSpPr>
          <p:cNvPr id="2" name="Text 0"/>
          <p:cNvSpPr/>
          <p:nvPr/>
        </p:nvSpPr>
        <p:spPr>
          <a:xfrm>
            <a:off x="1047750" y="876300"/>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24">
                <a:solidFill>
                  <a:srgbClr val="416180"/>
                </a:solidFill>
                <a:latin typeface="고양덕양 EB"/>
                <a:ea typeface="고양덕양 EB"/>
                <a:cs typeface="Courier New"/>
              </a:rPr>
              <a:t>CONTENTS</a:t>
            </a:r>
            <a:endParaRPr lang="en-US" sz="1800">
              <a:latin typeface="고양덕양 EB"/>
            </a:endParaRPr>
          </a:p>
        </p:txBody>
      </p:sp>
      <p:sp>
        <p:nvSpPr>
          <p:cNvPr id="3" name="Text 1"/>
          <p:cNvSpPr/>
          <p:nvPr/>
        </p:nvSpPr>
        <p:spPr>
          <a:xfrm>
            <a:off x="1047750" y="1440061"/>
            <a:ext cx="17811750" cy="708571"/>
          </a:xfrm>
          <a:prstGeom prst="rect">
            <a:avLst/>
          </a:prstGeom>
          <a:noFill/>
          <a:ln/>
        </p:spPr>
        <p:txBody>
          <a:bodyPr wrap="square" lIns="25400" tIns="25400" rIns="25400" bIns="25400" anchor="t">
            <a:normAutofit/>
          </a:bodyPr>
          <a:lstStyle/>
          <a:p>
            <a:pPr marL="0" indent="0" algn="l">
              <a:lnSpc>
                <a:spcPct val="95135"/>
              </a:lnSpc>
              <a:buNone/>
              <a:defRPr/>
            </a:pPr>
            <a:r>
              <a:rPr lang="en-US" sz="4800" b="1" kern="0" spc="-72">
                <a:solidFill>
                  <a:srgbClr val="1d1f20"/>
                </a:solidFill>
                <a:latin typeface="고양덕양 EB"/>
                <a:ea typeface="고양덕양 EB"/>
                <a:cs typeface="Arial"/>
              </a:rPr>
              <a:t>발표 순서</a:t>
            </a:r>
            <a:endParaRPr lang="en-US" sz="4800">
              <a:latin typeface="고양덕양 EB"/>
            </a:endParaRPr>
          </a:p>
        </p:txBody>
      </p:sp>
      <p:sp>
        <p:nvSpPr>
          <p:cNvPr id="4" name="Shape 2"/>
          <p:cNvSpPr/>
          <p:nvPr/>
        </p:nvSpPr>
        <p:spPr>
          <a:xfrm>
            <a:off x="1047750" y="2491532"/>
            <a:ext cx="16192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 name="Shape 3"/>
          <p:cNvSpPr/>
          <p:nvPr/>
        </p:nvSpPr>
        <p:spPr>
          <a:xfrm>
            <a:off x="1047750" y="3034457"/>
            <a:ext cx="7791450" cy="2350591"/>
          </a:xfrm>
          <a:prstGeom prst="rect">
            <a:avLst/>
          </a:prstGeom>
          <a:ln w="9525">
            <a:solidFill>
              <a:srgbClr val="1f1f1f">
                <a:alpha val="16000"/>
              </a:srgbClr>
            </a:solidFill>
            <a:prstDash val="solid"/>
          </a:ln>
        </p:spPr>
        <p:txBody>
          <a:bodyPr anchor="ctr"/>
          <a:p>
            <a:pPr algn="ctr">
              <a:defRPr/>
            </a:pPr>
            <a:endParaRPr lang="ko-KR" altLang="en-US">
              <a:latin typeface="고양덕양 EB"/>
            </a:endParaRPr>
          </a:p>
        </p:txBody>
      </p:sp>
      <p:sp>
        <p:nvSpPr>
          <p:cNvPr id="6" name="Text 4"/>
          <p:cNvSpPr/>
          <p:nvPr/>
        </p:nvSpPr>
        <p:spPr>
          <a:xfrm>
            <a:off x="1438275" y="3463082"/>
            <a:ext cx="771144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Ⅰ</a:t>
            </a:r>
            <a:endParaRPr lang="en-US" sz="1800">
              <a:latin typeface="고양덕양 EB"/>
            </a:endParaRPr>
          </a:p>
        </p:txBody>
      </p:sp>
      <p:sp>
        <p:nvSpPr>
          <p:cNvPr id="7" name="Text 5"/>
          <p:cNvSpPr/>
          <p:nvPr/>
        </p:nvSpPr>
        <p:spPr>
          <a:xfrm>
            <a:off x="1438275" y="3969693"/>
            <a:ext cx="7711440" cy="520005"/>
          </a:xfrm>
          <a:prstGeom prst="rect">
            <a:avLst/>
          </a:prstGeom>
          <a:noFill/>
          <a:ln/>
        </p:spPr>
        <p:txBody>
          <a:bodyPr wrap="square" lIns="25400" tIns="25400" rIns="25400" bIns="25400" anchor="t">
            <a:normAutofit/>
          </a:bodyPr>
          <a:lstStyle/>
          <a:p>
            <a:pPr marL="0" indent="0" algn="l">
              <a:lnSpc>
                <a:spcPct val="101200"/>
              </a:lnSpc>
              <a:buNone/>
              <a:defRPr/>
            </a:pPr>
            <a:r>
              <a:rPr lang="en-US" sz="3300">
                <a:solidFill>
                  <a:srgbClr val="1d1f20"/>
                </a:solidFill>
                <a:latin typeface="고양덕양 EB"/>
                <a:ea typeface="고양덕양 EB"/>
                <a:cs typeface="Arial"/>
              </a:rPr>
              <a:t>프로젝트 개요</a:t>
            </a:r>
            <a:endParaRPr lang="en-US" sz="3300">
              <a:latin typeface="고양덕양 EB"/>
            </a:endParaRPr>
          </a:p>
        </p:txBody>
      </p:sp>
      <p:sp>
        <p:nvSpPr>
          <p:cNvPr id="8" name="Text 6"/>
          <p:cNvSpPr/>
          <p:nvPr/>
        </p:nvSpPr>
        <p:spPr>
          <a:xfrm>
            <a:off x="1438275" y="4584948"/>
            <a:ext cx="7711440" cy="409575"/>
          </a:xfrm>
          <a:prstGeom prst="rect">
            <a:avLst/>
          </a:prstGeom>
          <a:noFill/>
          <a:ln/>
        </p:spPr>
        <p:txBody>
          <a:bodyPr wrap="square" lIns="25400" tIns="25400" rIns="25400" bIns="25400" anchor="t">
            <a:normAutofit/>
          </a:bodyPr>
          <a:lstStyle/>
          <a:p>
            <a:pPr marL="0" indent="0" algn="l">
              <a:lnSpc>
                <a:spcPct val="125806"/>
              </a:lnSpc>
              <a:buNone/>
              <a:defRPr/>
            </a:pPr>
            <a:r>
              <a:rPr lang="en-US" sz="1950">
                <a:solidFill>
                  <a:srgbClr val="5d5d60"/>
                </a:solidFill>
                <a:latin typeface="고양덕양 EB"/>
                <a:ea typeface="고양덕양 EB"/>
                <a:cs typeface="Arial"/>
              </a:rPr>
              <a:t>시스템의 목적, 3계층 구조, 이용 시나리오</a:t>
            </a:r>
            <a:endParaRPr lang="en-US" sz="1950">
              <a:latin typeface="고양덕양 EB"/>
            </a:endParaRPr>
          </a:p>
        </p:txBody>
      </p:sp>
      <p:sp>
        <p:nvSpPr>
          <p:cNvPr id="9" name="Shape 7"/>
          <p:cNvSpPr/>
          <p:nvPr/>
        </p:nvSpPr>
        <p:spPr>
          <a:xfrm>
            <a:off x="9448800" y="3034457"/>
            <a:ext cx="7791450" cy="2350591"/>
          </a:xfrm>
          <a:prstGeom prst="rect">
            <a:avLst/>
          </a:prstGeom>
          <a:ln w="9525">
            <a:solidFill>
              <a:srgbClr val="1f1f1f">
                <a:alpha val="16000"/>
              </a:srgbClr>
            </a:solidFill>
            <a:prstDash val="solid"/>
          </a:ln>
        </p:spPr>
        <p:txBody>
          <a:bodyPr anchor="ctr"/>
          <a:p>
            <a:pPr algn="ctr">
              <a:defRPr/>
            </a:pPr>
            <a:endParaRPr lang="ko-KR" altLang="en-US">
              <a:latin typeface="고양덕양 EB"/>
            </a:endParaRPr>
          </a:p>
        </p:txBody>
      </p:sp>
      <p:sp>
        <p:nvSpPr>
          <p:cNvPr id="10" name="Text 8"/>
          <p:cNvSpPr/>
          <p:nvPr/>
        </p:nvSpPr>
        <p:spPr>
          <a:xfrm>
            <a:off x="9839325" y="3463082"/>
            <a:ext cx="771144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Ⅱ</a:t>
            </a:r>
            <a:endParaRPr lang="en-US" sz="1800">
              <a:latin typeface="고양덕양 EB"/>
            </a:endParaRPr>
          </a:p>
        </p:txBody>
      </p:sp>
      <p:sp>
        <p:nvSpPr>
          <p:cNvPr id="11" name="Text 9"/>
          <p:cNvSpPr/>
          <p:nvPr/>
        </p:nvSpPr>
        <p:spPr>
          <a:xfrm>
            <a:off x="9839325" y="3969693"/>
            <a:ext cx="7711440" cy="520005"/>
          </a:xfrm>
          <a:prstGeom prst="rect">
            <a:avLst/>
          </a:prstGeom>
          <a:noFill/>
          <a:ln/>
        </p:spPr>
        <p:txBody>
          <a:bodyPr wrap="square" lIns="25400" tIns="25400" rIns="25400" bIns="25400" anchor="t">
            <a:normAutofit/>
          </a:bodyPr>
          <a:lstStyle/>
          <a:p>
            <a:pPr marL="0" indent="0" algn="l">
              <a:lnSpc>
                <a:spcPct val="101200"/>
              </a:lnSpc>
              <a:buNone/>
              <a:defRPr/>
            </a:pPr>
            <a:r>
              <a:rPr lang="en-US" sz="3300">
                <a:solidFill>
                  <a:srgbClr val="1d1f20"/>
                </a:solidFill>
                <a:latin typeface="고양덕양 EB"/>
                <a:ea typeface="고양덕양 EB"/>
                <a:cs typeface="Arial"/>
              </a:rPr>
              <a:t>제안요청서에서 프로젝트로</a:t>
            </a:r>
            <a:endParaRPr lang="en-US" sz="3300">
              <a:latin typeface="고양덕양 EB"/>
            </a:endParaRPr>
          </a:p>
        </p:txBody>
      </p:sp>
      <p:sp>
        <p:nvSpPr>
          <p:cNvPr id="12" name="Text 10"/>
          <p:cNvSpPr/>
          <p:nvPr/>
        </p:nvSpPr>
        <p:spPr>
          <a:xfrm>
            <a:off x="9839325" y="4584948"/>
            <a:ext cx="7711440" cy="409575"/>
          </a:xfrm>
          <a:prstGeom prst="rect">
            <a:avLst/>
          </a:prstGeom>
          <a:noFill/>
          <a:ln/>
        </p:spPr>
        <p:txBody>
          <a:bodyPr wrap="square" lIns="25400" tIns="25400" rIns="25400" bIns="25400" anchor="t">
            <a:normAutofit/>
          </a:bodyPr>
          <a:lstStyle/>
          <a:p>
            <a:pPr marL="0" indent="0" algn="l">
              <a:lnSpc>
                <a:spcPct val="125806"/>
              </a:lnSpc>
              <a:buNone/>
              <a:defRPr/>
            </a:pPr>
            <a:r>
              <a:rPr lang="en-US" sz="1950">
                <a:solidFill>
                  <a:srgbClr val="5d5d60"/>
                </a:solidFill>
                <a:latin typeface="고양덕양 EB"/>
                <a:ea typeface="고양덕양 EB"/>
                <a:cs typeface="Arial"/>
              </a:rPr>
              <a:t>원문 요구사항 추적과 조정 근거</a:t>
            </a:r>
            <a:endParaRPr lang="en-US" sz="1950">
              <a:latin typeface="고양덕양 EB"/>
            </a:endParaRPr>
          </a:p>
        </p:txBody>
      </p:sp>
      <p:sp>
        <p:nvSpPr>
          <p:cNvPr id="13" name="Shape 11"/>
          <p:cNvSpPr/>
          <p:nvPr/>
        </p:nvSpPr>
        <p:spPr>
          <a:xfrm>
            <a:off x="1047750" y="5766048"/>
            <a:ext cx="7791450" cy="2350591"/>
          </a:xfrm>
          <a:prstGeom prst="rect">
            <a:avLst/>
          </a:prstGeom>
          <a:ln w="9525">
            <a:solidFill>
              <a:srgbClr val="1f1f1f">
                <a:alpha val="16000"/>
              </a:srgbClr>
            </a:solidFill>
            <a:prstDash val="solid"/>
          </a:ln>
        </p:spPr>
        <p:txBody>
          <a:bodyPr anchor="ctr"/>
          <a:p>
            <a:pPr algn="ctr">
              <a:defRPr/>
            </a:pPr>
            <a:endParaRPr lang="ko-KR" altLang="en-US">
              <a:latin typeface="고양덕양 EB"/>
            </a:endParaRPr>
          </a:p>
        </p:txBody>
      </p:sp>
      <p:sp>
        <p:nvSpPr>
          <p:cNvPr id="14" name="Text 12"/>
          <p:cNvSpPr/>
          <p:nvPr/>
        </p:nvSpPr>
        <p:spPr>
          <a:xfrm>
            <a:off x="1438275" y="6194673"/>
            <a:ext cx="771144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Ⅲ</a:t>
            </a:r>
            <a:endParaRPr lang="en-US" sz="1800">
              <a:latin typeface="고양덕양 EB"/>
            </a:endParaRPr>
          </a:p>
        </p:txBody>
      </p:sp>
      <p:sp>
        <p:nvSpPr>
          <p:cNvPr id="15" name="Text 13"/>
          <p:cNvSpPr/>
          <p:nvPr/>
        </p:nvSpPr>
        <p:spPr>
          <a:xfrm>
            <a:off x="1438275" y="6701284"/>
            <a:ext cx="7711440" cy="520005"/>
          </a:xfrm>
          <a:prstGeom prst="rect">
            <a:avLst/>
          </a:prstGeom>
          <a:noFill/>
          <a:ln/>
        </p:spPr>
        <p:txBody>
          <a:bodyPr wrap="square" lIns="25400" tIns="25400" rIns="25400" bIns="25400" anchor="t">
            <a:normAutofit/>
          </a:bodyPr>
          <a:lstStyle/>
          <a:p>
            <a:pPr marL="0" indent="0" algn="l">
              <a:lnSpc>
                <a:spcPct val="101200"/>
              </a:lnSpc>
              <a:buNone/>
              <a:defRPr/>
            </a:pPr>
            <a:r>
              <a:rPr lang="en-US" sz="3300">
                <a:solidFill>
                  <a:srgbClr val="1d1f20"/>
                </a:solidFill>
                <a:latin typeface="고양덕양 EB"/>
                <a:ea typeface="고양덕양 EB"/>
                <a:cs typeface="Arial"/>
              </a:rPr>
              <a:t>현재 진행 상황</a:t>
            </a:r>
            <a:endParaRPr lang="en-US" sz="3300">
              <a:latin typeface="고양덕양 EB"/>
            </a:endParaRPr>
          </a:p>
        </p:txBody>
      </p:sp>
      <p:sp>
        <p:nvSpPr>
          <p:cNvPr id="16" name="Text 14"/>
          <p:cNvSpPr/>
          <p:nvPr/>
        </p:nvSpPr>
        <p:spPr>
          <a:xfrm>
            <a:off x="1438275" y="7316539"/>
            <a:ext cx="7711440" cy="409575"/>
          </a:xfrm>
          <a:prstGeom prst="rect">
            <a:avLst/>
          </a:prstGeom>
          <a:noFill/>
          <a:ln/>
        </p:spPr>
        <p:txBody>
          <a:bodyPr wrap="square" lIns="25400" tIns="25400" rIns="25400" bIns="25400" anchor="t">
            <a:normAutofit/>
          </a:bodyPr>
          <a:lstStyle/>
          <a:p>
            <a:pPr marL="0" indent="0" algn="l">
              <a:lnSpc>
                <a:spcPct val="125806"/>
              </a:lnSpc>
              <a:buNone/>
              <a:defRPr/>
            </a:pPr>
            <a:r>
              <a:rPr lang="en-US" sz="1950">
                <a:solidFill>
                  <a:srgbClr val="5d5d60"/>
                </a:solidFill>
                <a:latin typeface="고양덕양 EB"/>
                <a:ea typeface="고양덕양 EB"/>
                <a:cs typeface="Arial"/>
              </a:rPr>
              <a:t>데이터 모델과 화면 설계의 확정 과정</a:t>
            </a:r>
            <a:endParaRPr lang="en-US" sz="1950">
              <a:latin typeface="고양덕양 EB"/>
            </a:endParaRPr>
          </a:p>
        </p:txBody>
      </p:sp>
      <p:sp>
        <p:nvSpPr>
          <p:cNvPr id="17" name="Shape 15"/>
          <p:cNvSpPr/>
          <p:nvPr/>
        </p:nvSpPr>
        <p:spPr>
          <a:xfrm>
            <a:off x="9448800" y="5766048"/>
            <a:ext cx="7791450" cy="2350591"/>
          </a:xfrm>
          <a:prstGeom prst="rect">
            <a:avLst/>
          </a:prstGeom>
          <a:ln w="9525">
            <a:solidFill>
              <a:srgbClr val="1f1f1f">
                <a:alpha val="16000"/>
              </a:srgbClr>
            </a:solidFill>
            <a:prstDash val="solid"/>
          </a:ln>
        </p:spPr>
        <p:txBody>
          <a:bodyPr anchor="ctr"/>
          <a:p>
            <a:pPr algn="ctr">
              <a:defRPr/>
            </a:pPr>
            <a:endParaRPr lang="ko-KR" altLang="en-US">
              <a:latin typeface="고양덕양 EB"/>
            </a:endParaRPr>
          </a:p>
        </p:txBody>
      </p:sp>
      <p:sp>
        <p:nvSpPr>
          <p:cNvPr id="18" name="Text 16"/>
          <p:cNvSpPr/>
          <p:nvPr/>
        </p:nvSpPr>
        <p:spPr>
          <a:xfrm>
            <a:off x="9839325" y="6194673"/>
            <a:ext cx="771144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Ⅳ</a:t>
            </a:r>
            <a:endParaRPr lang="en-US" sz="1800">
              <a:latin typeface="고양덕양 EB"/>
            </a:endParaRPr>
          </a:p>
        </p:txBody>
      </p:sp>
      <p:sp>
        <p:nvSpPr>
          <p:cNvPr id="19" name="Text 17"/>
          <p:cNvSpPr/>
          <p:nvPr/>
        </p:nvSpPr>
        <p:spPr>
          <a:xfrm>
            <a:off x="9839325" y="6701284"/>
            <a:ext cx="7711440" cy="520005"/>
          </a:xfrm>
          <a:prstGeom prst="rect">
            <a:avLst/>
          </a:prstGeom>
          <a:noFill/>
          <a:ln/>
        </p:spPr>
        <p:txBody>
          <a:bodyPr wrap="square" lIns="25400" tIns="25400" rIns="25400" bIns="25400" anchor="t">
            <a:normAutofit/>
          </a:bodyPr>
          <a:lstStyle/>
          <a:p>
            <a:pPr marL="0" indent="0" algn="l">
              <a:lnSpc>
                <a:spcPct val="101200"/>
              </a:lnSpc>
              <a:buNone/>
              <a:defRPr/>
            </a:pPr>
            <a:r>
              <a:rPr lang="en-US" sz="3300">
                <a:solidFill>
                  <a:srgbClr val="1d1f20"/>
                </a:solidFill>
                <a:latin typeface="고양덕양 EB"/>
                <a:ea typeface="고양덕양 EB"/>
                <a:cs typeface="Arial"/>
              </a:rPr>
              <a:t>다음 계획</a:t>
            </a:r>
            <a:endParaRPr lang="en-US" sz="3300">
              <a:latin typeface="고양덕양 EB"/>
            </a:endParaRPr>
          </a:p>
        </p:txBody>
      </p:sp>
      <p:sp>
        <p:nvSpPr>
          <p:cNvPr id="20" name="Text 18"/>
          <p:cNvSpPr/>
          <p:nvPr/>
        </p:nvSpPr>
        <p:spPr>
          <a:xfrm>
            <a:off x="9839325" y="7316539"/>
            <a:ext cx="7711440" cy="409575"/>
          </a:xfrm>
          <a:prstGeom prst="rect">
            <a:avLst/>
          </a:prstGeom>
          <a:noFill/>
          <a:ln/>
        </p:spPr>
        <p:txBody>
          <a:bodyPr wrap="square" lIns="25400" tIns="25400" rIns="25400" bIns="25400" anchor="t">
            <a:normAutofit/>
          </a:bodyPr>
          <a:lstStyle/>
          <a:p>
            <a:pPr marL="0" indent="0" algn="l">
              <a:lnSpc>
                <a:spcPct val="125806"/>
              </a:lnSpc>
              <a:buNone/>
              <a:defRPr/>
            </a:pPr>
            <a:r>
              <a:rPr lang="en-US" sz="1950">
                <a:solidFill>
                  <a:srgbClr val="5d5d60"/>
                </a:solidFill>
                <a:latin typeface="고양덕양 EB"/>
                <a:ea typeface="고양덕양 EB"/>
                <a:cs typeface="Arial"/>
              </a:rPr>
              <a:t>현재 구현 범위와 남은 단계</a:t>
            </a:r>
            <a:endParaRPr lang="en-US" sz="1950">
              <a:latin typeface="고양덕양 EB"/>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3">
    <p:bg>
      <p:bgPr shadeToTitle="0">
        <a:solidFill>
          <a:srgbClr val="1d2d3d"/>
        </a:solidFill>
      </p:bgPr>
    </p:bg>
    <p:spTree>
      <p:nvGrpSpPr>
        <p:cNvPr id="1" name=""/>
        <p:cNvGrpSpPr/>
        <p:nvPr/>
      </p:nvGrpSpPr>
      <p:grpSpPr>
        <a:xfrm>
          <a:off x="0" y="0"/>
          <a:ext cx="0" cy="0"/>
          <a:chOff x="0" y="0"/>
          <a:chExt cx="0" cy="0"/>
        </a:xfrm>
      </p:grpSpPr>
      <p:sp>
        <p:nvSpPr>
          <p:cNvPr id="2" name="Text 0"/>
          <p:cNvSpPr/>
          <p:nvPr/>
        </p:nvSpPr>
        <p:spPr>
          <a:xfrm>
            <a:off x="1047750" y="4146054"/>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60">
                <a:solidFill>
                  <a:srgbClr val="b5d9fd"/>
                </a:solidFill>
                <a:latin typeface="고양덕양 EB"/>
                <a:ea typeface="고양덕양 EB"/>
                <a:cs typeface="Courier New"/>
              </a:rPr>
              <a:t>SECTION Ⅰ</a:t>
            </a:r>
            <a:endParaRPr lang="en-US" sz="1800">
              <a:latin typeface="고양덕양 EB"/>
            </a:endParaRPr>
          </a:p>
        </p:txBody>
      </p:sp>
      <p:sp>
        <p:nvSpPr>
          <p:cNvPr id="3" name="Text 1"/>
          <p:cNvSpPr/>
          <p:nvPr/>
        </p:nvSpPr>
        <p:spPr>
          <a:xfrm>
            <a:off x="1047750" y="4766965"/>
            <a:ext cx="17811750" cy="1126182"/>
          </a:xfrm>
          <a:prstGeom prst="rect">
            <a:avLst/>
          </a:prstGeom>
          <a:noFill/>
          <a:ln/>
        </p:spPr>
        <p:txBody>
          <a:bodyPr wrap="square" lIns="25400" tIns="25400" rIns="25400" bIns="25400" anchor="t">
            <a:normAutofit/>
          </a:bodyPr>
          <a:lstStyle/>
          <a:p>
            <a:pPr marL="0" indent="0" algn="l">
              <a:lnSpc>
                <a:spcPct val="88558"/>
              </a:lnSpc>
              <a:buNone/>
              <a:defRPr/>
            </a:pPr>
            <a:r>
              <a:rPr lang="en-US" sz="8400" b="0" kern="0" spc="-168">
                <a:solidFill>
                  <a:srgbClr val="f2f2f3"/>
                </a:solidFill>
                <a:latin typeface="고양덕양 EB"/>
                <a:ea typeface="고양덕양 EB"/>
                <a:cs typeface="Arial"/>
              </a:rPr>
              <a:t>프로젝트 개요</a:t>
            </a:r>
            <a:endParaRPr lang="en-US" sz="8400">
              <a:latin typeface="고양덕양 EB"/>
            </a:endParaRPr>
          </a:p>
        </p:txBody>
      </p:sp>
      <p:sp>
        <p:nvSpPr>
          <p:cNvPr id="4" name="Shape 2"/>
          <p:cNvSpPr/>
          <p:nvPr/>
        </p:nvSpPr>
        <p:spPr>
          <a:xfrm>
            <a:off x="1047750" y="6274147"/>
            <a:ext cx="2095500" cy="19050"/>
          </a:xfrm>
          <a:prstGeom prst="rect">
            <a:avLst/>
          </a:prstGeom>
          <a:solidFill>
            <a:srgbClr val="94bce3"/>
          </a:solidFill>
          <a:ln/>
        </p:spPr>
        <p:txBody>
          <a:bodyPr anchor="ctr"/>
          <a:p>
            <a:pPr algn="ctr">
              <a:defRPr/>
            </a:pPr>
            <a:endParaRPr lang="ko-KR" altLang="en-US">
              <a:latin typeface="고양덕양 EB"/>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4">
    <p:bg>
      <p:bgPr shadeToTitle="0">
        <a:solidFill>
          <a:srgbClr val="f2f2f3"/>
        </a:solidFill>
      </p:bgPr>
    </p:bg>
    <p:spTree>
      <p:nvGrpSpPr>
        <p:cNvPr id="1" name=""/>
        <p:cNvGrpSpPr/>
        <p:nvPr/>
      </p:nvGrpSpPr>
      <p:grpSpPr>
        <a:xfrm>
          <a:off x="0" y="0"/>
          <a:ext cx="0" cy="0"/>
          <a:chOff x="0" y="0"/>
          <a:chExt cx="0" cy="0"/>
        </a:xfrm>
      </p:grpSpPr>
      <p:sp>
        <p:nvSpPr>
          <p:cNvPr id="2" name="Text 0"/>
          <p:cNvSpPr/>
          <p:nvPr/>
        </p:nvSpPr>
        <p:spPr>
          <a:xfrm>
            <a:off x="1047750" y="876300"/>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24">
                <a:solidFill>
                  <a:srgbClr val="416180"/>
                </a:solidFill>
                <a:latin typeface="고양덕양 EB"/>
                <a:ea typeface="고양덕양 EB"/>
                <a:cs typeface="Courier New"/>
              </a:rPr>
              <a:t>Ⅰ </a:t>
            </a:r>
            <a:r>
              <a:rPr lang="en-US" sz="1800" b="0" kern="0" spc="324">
                <a:solidFill>
                  <a:srgbClr val="416180"/>
                </a:solidFill>
                <a:ea typeface="고양덕양 EB"/>
                <a:cs typeface="Courier New"/>
              </a:rPr>
              <a:t>—</a:t>
            </a:r>
            <a:r>
              <a:rPr lang="en-US" sz="1800" b="0" kern="0" spc="324">
                <a:solidFill>
                  <a:srgbClr val="416180"/>
                </a:solidFill>
                <a:latin typeface="고양덕양 EB"/>
                <a:ea typeface="고양덕양 EB"/>
                <a:cs typeface="Courier New"/>
              </a:rPr>
              <a:t> 01</a:t>
            </a:r>
            <a:endParaRPr lang="en-US" sz="1800">
              <a:latin typeface="고양덕양 EB"/>
            </a:endParaRPr>
          </a:p>
        </p:txBody>
      </p:sp>
      <p:sp>
        <p:nvSpPr>
          <p:cNvPr id="3" name="Text 1"/>
          <p:cNvSpPr/>
          <p:nvPr/>
        </p:nvSpPr>
        <p:spPr>
          <a:xfrm>
            <a:off x="1047750" y="1440061"/>
            <a:ext cx="17811750" cy="708571"/>
          </a:xfrm>
          <a:prstGeom prst="rect">
            <a:avLst/>
          </a:prstGeom>
          <a:noFill/>
          <a:ln/>
        </p:spPr>
        <p:txBody>
          <a:bodyPr wrap="square" lIns="25400" tIns="25400" rIns="25400" bIns="25400" anchor="t">
            <a:normAutofit/>
          </a:bodyPr>
          <a:lstStyle/>
          <a:p>
            <a:pPr marL="0" indent="0" algn="l">
              <a:lnSpc>
                <a:spcPct val="95135"/>
              </a:lnSpc>
              <a:buNone/>
              <a:defRPr/>
            </a:pPr>
            <a:r>
              <a:rPr lang="en-US" sz="4800" b="1" kern="0" spc="-72">
                <a:solidFill>
                  <a:srgbClr val="1d1f20"/>
                </a:solidFill>
                <a:latin typeface="고양덕양 EB"/>
                <a:ea typeface="고양덕양 EB"/>
                <a:cs typeface="Arial"/>
              </a:rPr>
              <a:t>프로젝트 개요</a:t>
            </a:r>
            <a:endParaRPr lang="en-US" sz="4800">
              <a:latin typeface="고양덕양 EB"/>
            </a:endParaRPr>
          </a:p>
        </p:txBody>
      </p:sp>
      <p:sp>
        <p:nvSpPr>
          <p:cNvPr id="4" name="Shape 2"/>
          <p:cNvSpPr/>
          <p:nvPr/>
        </p:nvSpPr>
        <p:spPr>
          <a:xfrm>
            <a:off x="1047750" y="2453432"/>
            <a:ext cx="16192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 name="Text 3"/>
          <p:cNvSpPr/>
          <p:nvPr/>
        </p:nvSpPr>
        <p:spPr>
          <a:xfrm>
            <a:off x="1047750" y="2882056"/>
            <a:ext cx="16192500" cy="3190204"/>
          </a:xfrm>
          <a:prstGeom prst="rect">
            <a:avLst/>
          </a:prstGeom>
          <a:noFill/>
          <a:ln/>
        </p:spPr>
        <p:txBody>
          <a:bodyPr wrap="square" lIns="25400" tIns="25400" rIns="25400" bIns="25400" anchor="t">
            <a:normAutofit/>
          </a:bodyPr>
          <a:lstStyle/>
          <a:p>
            <a:pPr marL="0" indent="0" algn="l">
              <a:lnSpc>
                <a:spcPct val="128889"/>
              </a:lnSpc>
              <a:buNone/>
              <a:defRPr/>
            </a:pPr>
            <a:r>
              <a:rPr lang="en-US" sz="2600">
                <a:solidFill>
                  <a:srgbClr val="1d1f20"/>
                </a:solidFill>
                <a:latin typeface="고양덕양 EB"/>
                <a:ea typeface="고양덕양 EB"/>
                <a:cs typeface="Arial"/>
              </a:rPr>
              <a:t>헬스장·수영장 같은 커뮤니티 시설을 </a:t>
            </a:r>
            <a:r>
              <a:rPr lang="en-US" sz="2600" b="1">
                <a:solidFill>
                  <a:srgbClr val="416180"/>
                </a:solidFill>
                <a:latin typeface="고양덕양 EB"/>
                <a:ea typeface="고양덕양 EB"/>
                <a:cs typeface="Arial"/>
              </a:rPr>
              <a:t>여러 지점에서 위탁 운영하는 회사 </a:t>
            </a:r>
            <a:r>
              <a:rPr lang="en-US" sz="2600">
                <a:solidFill>
                  <a:srgbClr val="1d1f20"/>
                </a:solidFill>
                <a:latin typeface="고양덕양 EB"/>
                <a:ea typeface="고양덕양 EB"/>
                <a:cs typeface="Arial"/>
              </a:rPr>
              <a:t>를 위한 회원·인사 관리 시스템입니다. </a:t>
            </a:r>
            <a:br>
              <a:rPr lang="ko-KR" altLang="en-US" sz="2600">
                <a:solidFill>
                  <a:srgbClr val="1d1f20"/>
                </a:solidFill>
                <a:latin typeface="고양덕양 EB"/>
                <a:ea typeface="고양덕양 EB"/>
                <a:cs typeface="Arial"/>
              </a:rPr>
            </a:br>
            <a:br>
              <a:rPr lang="ko-KR" altLang="en-US" sz="2600">
                <a:solidFill>
                  <a:srgbClr val="1d1f20"/>
                </a:solidFill>
                <a:latin typeface="고양덕양 EB"/>
                <a:ea typeface="고양덕양 EB"/>
                <a:cs typeface="Arial"/>
              </a:rPr>
            </a:br>
            <a:r>
              <a:rPr lang="en-US" sz="2600">
                <a:solidFill>
                  <a:srgbClr val="1d1f20"/>
                </a:solidFill>
                <a:latin typeface="고양덕양 EB"/>
                <a:ea typeface="고양덕양 EB"/>
                <a:cs typeface="Arial"/>
              </a:rPr>
              <a:t>본사·지점·회원 세 계층이 하나의 시스템을 쓰지만, 각자 볼 수 있는 범위는 다릅니다.</a:t>
            </a:r>
            <a:endParaRPr lang="en-US" sz="2600">
              <a:solidFill>
                <a:srgbClr val="1d1f20"/>
              </a:solidFill>
              <a:latin typeface="고양덕양 EB"/>
              <a:ea typeface="고양덕양 EB"/>
              <a:cs typeface="Arial"/>
            </a:endParaRPr>
          </a:p>
        </p:txBody>
      </p:sp>
      <p:sp>
        <p:nvSpPr>
          <p:cNvPr id="6" name="Text 4"/>
          <p:cNvSpPr/>
          <p:nvPr/>
        </p:nvSpPr>
        <p:spPr>
          <a:xfrm>
            <a:off x="1047750" y="7686675"/>
            <a:ext cx="5601861" cy="800100"/>
          </a:xfrm>
          <a:prstGeom prst="rect">
            <a:avLst/>
          </a:prstGeom>
          <a:noFill/>
          <a:ln/>
        </p:spPr>
        <p:txBody>
          <a:bodyPr wrap="square" lIns="25400" tIns="25400" rIns="25400" bIns="25400" anchor="t">
            <a:normAutofit/>
          </a:bodyPr>
          <a:lstStyle/>
          <a:p>
            <a:pPr marL="0" indent="0" algn="l">
              <a:lnSpc>
                <a:spcPct val="86957"/>
              </a:lnSpc>
              <a:buNone/>
              <a:defRPr/>
            </a:pPr>
            <a:r>
              <a:rPr lang="en-US" sz="6000">
                <a:solidFill>
                  <a:srgbClr val="416180"/>
                </a:solidFill>
                <a:latin typeface="고양덕양 EB"/>
                <a:ea typeface="고양덕양 EB"/>
                <a:cs typeface="Arial"/>
              </a:rPr>
              <a:t>3</a:t>
            </a:r>
            <a:endParaRPr lang="en-US" sz="6000">
              <a:latin typeface="고양덕양 EB"/>
            </a:endParaRPr>
          </a:p>
        </p:txBody>
      </p:sp>
      <p:sp>
        <p:nvSpPr>
          <p:cNvPr id="7" name="Shape 5"/>
          <p:cNvSpPr/>
          <p:nvPr/>
        </p:nvSpPr>
        <p:spPr>
          <a:xfrm>
            <a:off x="1047750" y="8639175"/>
            <a:ext cx="5092601"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8" name="Text 6"/>
          <p:cNvSpPr/>
          <p:nvPr/>
        </p:nvSpPr>
        <p:spPr>
          <a:xfrm>
            <a:off x="1047750" y="8820150"/>
            <a:ext cx="5601861" cy="409575"/>
          </a:xfrm>
          <a:prstGeom prst="rect">
            <a:avLst/>
          </a:prstGeom>
          <a:noFill/>
          <a:ln/>
        </p:spPr>
        <p:txBody>
          <a:bodyPr wrap="square" lIns="25400" tIns="25400" rIns="25400" bIns="25400" anchor="t">
            <a:normAutofit/>
          </a:bodyPr>
          <a:lstStyle/>
          <a:p>
            <a:pPr marL="0" indent="0" algn="l">
              <a:lnSpc>
                <a:spcPct val="125806"/>
              </a:lnSpc>
              <a:buNone/>
              <a:defRPr/>
            </a:pPr>
            <a:r>
              <a:rPr lang="en-US" sz="1950">
                <a:solidFill>
                  <a:srgbClr val="424244"/>
                </a:solidFill>
                <a:latin typeface="고양덕양 EB"/>
                <a:ea typeface="고양덕양 EB"/>
                <a:cs typeface="Arial"/>
              </a:rPr>
              <a:t>계층 </a:t>
            </a:r>
            <a:r>
              <a:rPr lang="en-US" sz="1950">
                <a:solidFill>
                  <a:srgbClr val="424244"/>
                </a:solidFill>
                <a:ea typeface="고양덕양 EB"/>
                <a:cs typeface="Arial"/>
              </a:rPr>
              <a:t>—</a:t>
            </a:r>
            <a:r>
              <a:rPr lang="en-US" sz="1950">
                <a:solidFill>
                  <a:srgbClr val="424244"/>
                </a:solidFill>
                <a:latin typeface="고양덕양 EB"/>
                <a:ea typeface="고양덕양 EB"/>
                <a:cs typeface="Arial"/>
              </a:rPr>
              <a:t> 본사 / 지점 / 회원</a:t>
            </a:r>
            <a:endParaRPr lang="en-US" sz="1950">
              <a:latin typeface="고양덕양 EB"/>
            </a:endParaRPr>
          </a:p>
        </p:txBody>
      </p:sp>
      <p:sp>
        <p:nvSpPr>
          <p:cNvPr id="9" name="Text 7"/>
          <p:cNvSpPr/>
          <p:nvPr/>
        </p:nvSpPr>
        <p:spPr>
          <a:xfrm>
            <a:off x="6597551" y="7686675"/>
            <a:ext cx="5602025" cy="800100"/>
          </a:xfrm>
          <a:prstGeom prst="rect">
            <a:avLst/>
          </a:prstGeom>
          <a:noFill/>
          <a:ln/>
        </p:spPr>
        <p:txBody>
          <a:bodyPr wrap="square" lIns="25400" tIns="25400" rIns="25400" bIns="25400" anchor="t">
            <a:normAutofit/>
          </a:bodyPr>
          <a:lstStyle/>
          <a:p>
            <a:pPr marL="0" indent="0" algn="l">
              <a:lnSpc>
                <a:spcPct val="86957"/>
              </a:lnSpc>
              <a:buNone/>
              <a:defRPr/>
            </a:pPr>
            <a:r>
              <a:rPr lang="en-US" sz="6000">
                <a:solidFill>
                  <a:srgbClr val="416180"/>
                </a:solidFill>
                <a:latin typeface="고양덕양 EB"/>
                <a:ea typeface="고양덕양 EB"/>
                <a:cs typeface="Arial"/>
              </a:rPr>
              <a:t>8</a:t>
            </a:r>
            <a:endParaRPr lang="en-US" sz="6000">
              <a:latin typeface="고양덕양 EB"/>
            </a:endParaRPr>
          </a:p>
        </p:txBody>
      </p:sp>
      <p:sp>
        <p:nvSpPr>
          <p:cNvPr id="10" name="Shape 8"/>
          <p:cNvSpPr/>
          <p:nvPr/>
        </p:nvSpPr>
        <p:spPr>
          <a:xfrm>
            <a:off x="6597551" y="8639175"/>
            <a:ext cx="50927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1" name="Text 9"/>
          <p:cNvSpPr/>
          <p:nvPr/>
        </p:nvSpPr>
        <p:spPr>
          <a:xfrm>
            <a:off x="6597551" y="8820150"/>
            <a:ext cx="5245532" cy="781050"/>
          </a:xfrm>
          <a:prstGeom prst="rect">
            <a:avLst/>
          </a:prstGeom>
          <a:noFill/>
          <a:ln/>
        </p:spPr>
        <p:txBody>
          <a:bodyPr wrap="square" lIns="25400" tIns="25400" rIns="25400" bIns="25400" anchor="t">
            <a:normAutofit/>
          </a:bodyPr>
          <a:lstStyle/>
          <a:p>
            <a:pPr marL="0" indent="0" algn="l">
              <a:lnSpc>
                <a:spcPct val="125806"/>
              </a:lnSpc>
              <a:buNone/>
              <a:defRPr/>
            </a:pPr>
            <a:r>
              <a:rPr lang="en-US" sz="1950">
                <a:solidFill>
                  <a:srgbClr val="424244"/>
                </a:solidFill>
                <a:latin typeface="고양덕양 EB"/>
                <a:ea typeface="고양덕양 EB"/>
                <a:cs typeface="Arial"/>
              </a:rPr>
              <a:t>기능 영역 </a:t>
            </a:r>
            <a:r>
              <a:rPr lang="en-US" sz="1950">
                <a:solidFill>
                  <a:srgbClr val="424244"/>
                </a:solidFill>
                <a:ea typeface="고양덕양 EB"/>
                <a:cs typeface="Arial"/>
              </a:rPr>
              <a:t>—</a:t>
            </a:r>
            <a:r>
              <a:rPr lang="en-US" sz="1950">
                <a:solidFill>
                  <a:srgbClr val="424244"/>
                </a:solidFill>
                <a:latin typeface="고양덕양 EB"/>
                <a:ea typeface="고양덕양 EB"/>
                <a:cs typeface="Arial"/>
              </a:rPr>
              <a:t> 권한·인사·근태·게시판·회원·예약결제·프로그램·혼잡도</a:t>
            </a:r>
            <a:endParaRPr lang="en-US" sz="1950">
              <a:latin typeface="고양덕양 EB"/>
            </a:endParaRPr>
          </a:p>
        </p:txBody>
      </p:sp>
      <p:sp>
        <p:nvSpPr>
          <p:cNvPr id="12" name="Text 10"/>
          <p:cNvSpPr/>
          <p:nvPr/>
        </p:nvSpPr>
        <p:spPr>
          <a:xfrm>
            <a:off x="12147500" y="7686675"/>
            <a:ext cx="5602025" cy="800100"/>
          </a:xfrm>
          <a:prstGeom prst="rect">
            <a:avLst/>
          </a:prstGeom>
          <a:noFill/>
          <a:ln/>
        </p:spPr>
        <p:txBody>
          <a:bodyPr wrap="square" lIns="25400" tIns="25400" rIns="25400" bIns="25400" anchor="t">
            <a:normAutofit/>
          </a:bodyPr>
          <a:lstStyle/>
          <a:p>
            <a:pPr marL="0" indent="0" algn="l">
              <a:lnSpc>
                <a:spcPct val="86957"/>
              </a:lnSpc>
              <a:buNone/>
              <a:defRPr/>
            </a:pPr>
            <a:r>
              <a:rPr lang="en-US" sz="6000">
                <a:solidFill>
                  <a:srgbClr val="416180"/>
                </a:solidFill>
                <a:latin typeface="고양덕양 EB"/>
                <a:ea typeface="고양덕양 EB"/>
                <a:cs typeface="Arial"/>
              </a:rPr>
              <a:t>26</a:t>
            </a:r>
            <a:endParaRPr lang="en-US" sz="6000">
              <a:latin typeface="고양덕양 EB"/>
            </a:endParaRPr>
          </a:p>
        </p:txBody>
      </p:sp>
      <p:sp>
        <p:nvSpPr>
          <p:cNvPr id="13" name="Shape 11"/>
          <p:cNvSpPr/>
          <p:nvPr/>
        </p:nvSpPr>
        <p:spPr>
          <a:xfrm>
            <a:off x="12147500" y="8639175"/>
            <a:ext cx="50927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4" name="Text 12"/>
          <p:cNvSpPr/>
          <p:nvPr/>
        </p:nvSpPr>
        <p:spPr>
          <a:xfrm>
            <a:off x="12147500" y="8820150"/>
            <a:ext cx="5602025" cy="409575"/>
          </a:xfrm>
          <a:prstGeom prst="rect">
            <a:avLst/>
          </a:prstGeom>
          <a:noFill/>
          <a:ln/>
        </p:spPr>
        <p:txBody>
          <a:bodyPr wrap="square" lIns="25400" tIns="25400" rIns="25400" bIns="25400" anchor="t">
            <a:normAutofit/>
          </a:bodyPr>
          <a:lstStyle/>
          <a:p>
            <a:pPr marL="0" indent="0" algn="l">
              <a:lnSpc>
                <a:spcPct val="125806"/>
              </a:lnSpc>
              <a:buNone/>
              <a:defRPr/>
            </a:pPr>
            <a:r>
              <a:rPr lang="en-US" sz="1950">
                <a:solidFill>
                  <a:srgbClr val="424244"/>
                </a:solidFill>
                <a:latin typeface="고양덕양 EB"/>
                <a:ea typeface="고양덕양 EB"/>
                <a:cs typeface="Arial"/>
              </a:rPr>
              <a:t>데이터 모델 </a:t>
            </a:r>
            <a:r>
              <a:rPr lang="en-US" sz="1950">
                <a:solidFill>
                  <a:srgbClr val="424244"/>
                </a:solidFill>
                <a:ea typeface="고양덕양 EB"/>
                <a:cs typeface="Arial"/>
              </a:rPr>
              <a:t>—</a:t>
            </a:r>
            <a:r>
              <a:rPr lang="en-US" sz="1950">
                <a:solidFill>
                  <a:srgbClr val="424244"/>
                </a:solidFill>
                <a:latin typeface="고양덕양 EB"/>
                <a:ea typeface="고양덕양 EB"/>
                <a:cs typeface="Arial"/>
              </a:rPr>
              <a:t> 하나의 스키마로 설계 진행 중</a:t>
            </a:r>
            <a:endParaRPr lang="en-US" sz="1950">
              <a:latin typeface="고양덕양 EB"/>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5">
    <p:bg>
      <p:bgPr shadeToTitle="0">
        <a:solidFill>
          <a:srgbClr val="f2f2f3"/>
        </a:solidFill>
      </p:bgPr>
    </p:bg>
    <p:spTree>
      <p:nvGrpSpPr>
        <p:cNvPr id="1" name=""/>
        <p:cNvGrpSpPr/>
        <p:nvPr/>
      </p:nvGrpSpPr>
      <p:grpSpPr>
        <a:xfrm>
          <a:off x="0" y="0"/>
          <a:ext cx="0" cy="0"/>
          <a:chOff x="0" y="0"/>
          <a:chExt cx="0" cy="0"/>
        </a:xfrm>
      </p:grpSpPr>
      <p:sp>
        <p:nvSpPr>
          <p:cNvPr id="2" name="Text 0"/>
          <p:cNvSpPr/>
          <p:nvPr/>
        </p:nvSpPr>
        <p:spPr>
          <a:xfrm>
            <a:off x="1047750" y="876300"/>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24">
                <a:solidFill>
                  <a:srgbClr val="416180"/>
                </a:solidFill>
                <a:latin typeface="고양덕양 EB"/>
                <a:ea typeface="고양덕양 EB"/>
                <a:cs typeface="Courier New"/>
              </a:rPr>
              <a:t>Ⅰ </a:t>
            </a:r>
            <a:r>
              <a:rPr lang="en-US" sz="1800" b="0" kern="0" spc="324">
                <a:solidFill>
                  <a:srgbClr val="416180"/>
                </a:solidFill>
                <a:ea typeface="고양덕양 EB"/>
                <a:cs typeface="Courier New"/>
              </a:rPr>
              <a:t>—</a:t>
            </a:r>
            <a:r>
              <a:rPr lang="en-US" sz="1800" b="0" kern="0" spc="324">
                <a:solidFill>
                  <a:srgbClr val="416180"/>
                </a:solidFill>
                <a:latin typeface="고양덕양 EB"/>
                <a:ea typeface="고양덕양 EB"/>
                <a:cs typeface="Courier New"/>
              </a:rPr>
              <a:t> 02</a:t>
            </a:r>
            <a:endParaRPr lang="en-US" sz="1800">
              <a:latin typeface="고양덕양 EB"/>
            </a:endParaRPr>
          </a:p>
        </p:txBody>
      </p:sp>
      <p:sp>
        <p:nvSpPr>
          <p:cNvPr id="3" name="Text 1"/>
          <p:cNvSpPr/>
          <p:nvPr/>
        </p:nvSpPr>
        <p:spPr>
          <a:xfrm>
            <a:off x="1047750" y="1440061"/>
            <a:ext cx="17811750" cy="708571"/>
          </a:xfrm>
          <a:prstGeom prst="rect">
            <a:avLst/>
          </a:prstGeom>
          <a:noFill/>
          <a:ln/>
        </p:spPr>
        <p:txBody>
          <a:bodyPr wrap="square" lIns="25400" tIns="25400" rIns="25400" bIns="25400" anchor="t">
            <a:normAutofit/>
          </a:bodyPr>
          <a:lstStyle/>
          <a:p>
            <a:pPr marL="0" indent="0" algn="l">
              <a:lnSpc>
                <a:spcPct val="95135"/>
              </a:lnSpc>
              <a:buNone/>
              <a:defRPr/>
            </a:pPr>
            <a:r>
              <a:rPr lang="en-US" sz="4800" b="1" kern="0" spc="-72">
                <a:solidFill>
                  <a:srgbClr val="1d1f20"/>
                </a:solidFill>
                <a:latin typeface="고양덕양 EB"/>
                <a:ea typeface="고양덕양 EB"/>
                <a:cs typeface="Arial"/>
              </a:rPr>
              <a:t>시스템 이용 시나리오</a:t>
            </a:r>
            <a:endParaRPr lang="en-US" sz="4800">
              <a:latin typeface="고양덕양 EB"/>
            </a:endParaRPr>
          </a:p>
        </p:txBody>
      </p:sp>
      <p:sp>
        <p:nvSpPr>
          <p:cNvPr id="4" name="Shape 2"/>
          <p:cNvSpPr/>
          <p:nvPr/>
        </p:nvSpPr>
        <p:spPr>
          <a:xfrm>
            <a:off x="1047750" y="2415332"/>
            <a:ext cx="16192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 name="Text 3"/>
          <p:cNvSpPr/>
          <p:nvPr/>
        </p:nvSpPr>
        <p:spPr>
          <a:xfrm>
            <a:off x="2609850" y="2767757"/>
            <a:ext cx="2903982"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5d5d60"/>
                </a:solidFill>
                <a:latin typeface="고양덕양 EB"/>
                <a:ea typeface="고양덕양 EB"/>
                <a:cs typeface="Courier New"/>
              </a:rPr>
              <a:t>① 개설 </a:t>
            </a:r>
            <a:r>
              <a:rPr lang="en-US" sz="1800">
                <a:solidFill>
                  <a:srgbClr val="5980a6"/>
                </a:solidFill>
                <a:latin typeface="고양덕양 EB"/>
                <a:ea typeface="고양덕양 EB"/>
                <a:cs typeface="Courier New"/>
              </a:rPr>
              <a:t>→</a:t>
            </a:r>
            <a:endParaRPr lang="en-US" sz="1800">
              <a:latin typeface="고양덕양 EB"/>
            </a:endParaRPr>
          </a:p>
        </p:txBody>
      </p:sp>
      <p:sp>
        <p:nvSpPr>
          <p:cNvPr id="6" name="Text 4"/>
          <p:cNvSpPr/>
          <p:nvPr/>
        </p:nvSpPr>
        <p:spPr>
          <a:xfrm>
            <a:off x="5562600" y="2767757"/>
            <a:ext cx="2903982"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5d5d60"/>
                </a:solidFill>
                <a:latin typeface="고양덕양 EB"/>
                <a:ea typeface="고양덕양 EB"/>
                <a:cs typeface="Courier New"/>
              </a:rPr>
              <a:t>② 등록 </a:t>
            </a:r>
            <a:r>
              <a:rPr lang="en-US" sz="1800">
                <a:solidFill>
                  <a:srgbClr val="5980a6"/>
                </a:solidFill>
                <a:latin typeface="고양덕양 EB"/>
                <a:ea typeface="고양덕양 EB"/>
                <a:cs typeface="Courier New"/>
              </a:rPr>
              <a:t>→</a:t>
            </a:r>
            <a:endParaRPr lang="en-US" sz="1800">
              <a:latin typeface="고양덕양 EB"/>
            </a:endParaRPr>
          </a:p>
        </p:txBody>
      </p:sp>
      <p:sp>
        <p:nvSpPr>
          <p:cNvPr id="7" name="Text 5"/>
          <p:cNvSpPr/>
          <p:nvPr/>
        </p:nvSpPr>
        <p:spPr>
          <a:xfrm>
            <a:off x="8515350" y="2767757"/>
            <a:ext cx="2903982"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5d5d60"/>
                </a:solidFill>
                <a:latin typeface="고양덕양 EB"/>
                <a:ea typeface="고양덕양 EB"/>
                <a:cs typeface="Courier New"/>
              </a:rPr>
              <a:t>③ 예약·결제 </a:t>
            </a:r>
            <a:r>
              <a:rPr lang="en-US" sz="1800">
                <a:solidFill>
                  <a:srgbClr val="5980a6"/>
                </a:solidFill>
                <a:latin typeface="고양덕양 EB"/>
                <a:ea typeface="고양덕양 EB"/>
                <a:cs typeface="Courier New"/>
              </a:rPr>
              <a:t>→</a:t>
            </a:r>
            <a:endParaRPr lang="en-US" sz="1800">
              <a:latin typeface="고양덕양 EB"/>
            </a:endParaRPr>
          </a:p>
        </p:txBody>
      </p:sp>
      <p:sp>
        <p:nvSpPr>
          <p:cNvPr id="8" name="Text 6"/>
          <p:cNvSpPr/>
          <p:nvPr/>
        </p:nvSpPr>
        <p:spPr>
          <a:xfrm>
            <a:off x="11468100" y="2767757"/>
            <a:ext cx="2903982"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5d5d60"/>
                </a:solidFill>
                <a:latin typeface="고양덕양 EB"/>
                <a:ea typeface="고양덕양 EB"/>
                <a:cs typeface="Courier New"/>
              </a:rPr>
              <a:t>④ 이용 </a:t>
            </a:r>
            <a:r>
              <a:rPr lang="en-US" sz="1800">
                <a:solidFill>
                  <a:srgbClr val="5980a6"/>
                </a:solidFill>
                <a:latin typeface="고양덕양 EB"/>
                <a:ea typeface="고양덕양 EB"/>
                <a:cs typeface="Courier New"/>
              </a:rPr>
              <a:t>→</a:t>
            </a:r>
            <a:endParaRPr lang="en-US" sz="1800">
              <a:latin typeface="고양덕양 EB"/>
            </a:endParaRPr>
          </a:p>
        </p:txBody>
      </p:sp>
      <p:sp>
        <p:nvSpPr>
          <p:cNvPr id="9" name="Text 7"/>
          <p:cNvSpPr/>
          <p:nvPr/>
        </p:nvSpPr>
        <p:spPr>
          <a:xfrm>
            <a:off x="14420850" y="2767757"/>
            <a:ext cx="2903982"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5d5d60"/>
                </a:solidFill>
                <a:latin typeface="고양덕양 EB"/>
                <a:ea typeface="고양덕양 EB"/>
                <a:cs typeface="Courier New"/>
              </a:rPr>
              <a:t>⑤ 집계</a:t>
            </a:r>
            <a:endParaRPr lang="en-US" sz="1800">
              <a:latin typeface="고양덕양 EB"/>
            </a:endParaRPr>
          </a:p>
        </p:txBody>
      </p:sp>
      <p:sp>
        <p:nvSpPr>
          <p:cNvPr id="10" name="Shape 8"/>
          <p:cNvSpPr/>
          <p:nvPr/>
        </p:nvSpPr>
        <p:spPr>
          <a:xfrm>
            <a:off x="1047750" y="3255318"/>
            <a:ext cx="14287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1" name="Text 9"/>
          <p:cNvSpPr/>
          <p:nvPr/>
        </p:nvSpPr>
        <p:spPr>
          <a:xfrm>
            <a:off x="1047750" y="3512493"/>
            <a:ext cx="1504950" cy="1017091"/>
          </a:xfrm>
          <a:prstGeom prst="rect">
            <a:avLst/>
          </a:prstGeom>
          <a:noFill/>
          <a:ln/>
        </p:spPr>
        <p:txBody>
          <a:bodyPr wrap="square" lIns="25400" tIns="25400" rIns="25400" bIns="25400" anchor="ctr">
            <a:normAutofit/>
          </a:bodyPr>
          <a:lstStyle/>
          <a:p>
            <a:pPr marL="0" indent="0" algn="l">
              <a:lnSpc>
                <a:spcPct val="135128"/>
              </a:lnSpc>
              <a:buNone/>
              <a:defRPr/>
            </a:pPr>
            <a:r>
              <a:rPr lang="en-US" sz="2550">
                <a:solidFill>
                  <a:srgbClr val="2c455d"/>
                </a:solidFill>
                <a:latin typeface="고양덕양 EB"/>
                <a:ea typeface="고양덕양 EB"/>
                <a:cs typeface="Arial"/>
              </a:rPr>
              <a:t>본사</a:t>
            </a:r>
            <a:endParaRPr lang="en-US" sz="2550">
              <a:latin typeface="고양덕양 EB"/>
            </a:endParaRPr>
          </a:p>
        </p:txBody>
      </p:sp>
      <p:sp>
        <p:nvSpPr>
          <p:cNvPr id="12" name="Shape 10"/>
          <p:cNvSpPr/>
          <p:nvPr/>
        </p:nvSpPr>
        <p:spPr>
          <a:xfrm>
            <a:off x="2609850" y="3255318"/>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3" name="Shape 11"/>
          <p:cNvSpPr/>
          <p:nvPr/>
        </p:nvSpPr>
        <p:spPr>
          <a:xfrm>
            <a:off x="2609850" y="3455343"/>
            <a:ext cx="2819400" cy="1093291"/>
          </a:xfrm>
          <a:prstGeom prst="rect">
            <a:avLst/>
          </a:prstGeom>
          <a:solidFill>
            <a:srgbClr val="d6ebff"/>
          </a:solidFill>
          <a:ln w="9525">
            <a:solidFill>
              <a:srgbClr val="749dc4"/>
            </a:solidFill>
            <a:prstDash val="solid"/>
          </a:ln>
        </p:spPr>
        <p:txBody>
          <a:bodyPr anchor="ctr"/>
          <a:p>
            <a:pPr algn="ctr">
              <a:defRPr/>
            </a:pPr>
            <a:endParaRPr lang="ko-KR" altLang="en-US">
              <a:latin typeface="고양덕양 EB"/>
            </a:endParaRPr>
          </a:p>
        </p:txBody>
      </p:sp>
      <p:sp>
        <p:nvSpPr>
          <p:cNvPr id="14" name="Text 12"/>
          <p:cNvSpPr/>
          <p:nvPr/>
        </p:nvSpPr>
        <p:spPr>
          <a:xfrm>
            <a:off x="2790825" y="3655368"/>
            <a:ext cx="2542032" cy="731341"/>
          </a:xfrm>
          <a:prstGeom prst="rect">
            <a:avLst/>
          </a:prstGeom>
          <a:noFill/>
          <a:ln/>
        </p:spPr>
        <p:txBody>
          <a:bodyPr wrap="square" lIns="25400" tIns="25400" rIns="25400" bIns="25400" anchor="t">
            <a:normAutofit/>
          </a:bodyPr>
          <a:lstStyle/>
          <a:p>
            <a:pPr marL="0" indent="0" algn="l">
              <a:lnSpc>
                <a:spcPct val="117419"/>
              </a:lnSpc>
              <a:buNone/>
              <a:defRPr/>
            </a:pPr>
            <a:r>
              <a:rPr lang="en-US" sz="1800">
                <a:solidFill>
                  <a:srgbClr val="1d1f20"/>
                </a:solidFill>
                <a:latin typeface="고양덕양 EB"/>
                <a:ea typeface="고양덕양 EB"/>
                <a:cs typeface="Arial"/>
              </a:rPr>
              <a:t>지점 개설 계정·권한 발급</a:t>
            </a:r>
            <a:endParaRPr lang="en-US">
              <a:latin typeface="고양덕양 EB"/>
            </a:endParaRPr>
          </a:p>
        </p:txBody>
      </p:sp>
      <p:sp>
        <p:nvSpPr>
          <p:cNvPr id="15" name="Shape 13"/>
          <p:cNvSpPr/>
          <p:nvPr/>
        </p:nvSpPr>
        <p:spPr>
          <a:xfrm>
            <a:off x="5562600" y="3255318"/>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6" name="Shape 14"/>
          <p:cNvSpPr/>
          <p:nvPr/>
        </p:nvSpPr>
        <p:spPr>
          <a:xfrm>
            <a:off x="5562600" y="3455343"/>
            <a:ext cx="2819400" cy="1093291"/>
          </a:xfrm>
          <a:prstGeom prst="rect">
            <a:avLst/>
          </a:prstGeom>
          <a:ln w="9525">
            <a:solidFill>
              <a:srgbClr val="b7b7ba"/>
            </a:solidFill>
            <a:prstDash val="dash"/>
          </a:ln>
        </p:spPr>
        <p:txBody>
          <a:bodyPr anchor="ctr"/>
          <a:p>
            <a:pPr algn="ctr">
              <a:defRPr/>
            </a:pPr>
            <a:endParaRPr lang="ko-KR" altLang="en-US">
              <a:latin typeface="고양덕양 EB"/>
            </a:endParaRPr>
          </a:p>
        </p:txBody>
      </p:sp>
      <p:sp>
        <p:nvSpPr>
          <p:cNvPr id="17" name="Text 15"/>
          <p:cNvSpPr/>
          <p:nvPr/>
        </p:nvSpPr>
        <p:spPr>
          <a:xfrm>
            <a:off x="5743575" y="3655368"/>
            <a:ext cx="2542032" cy="731341"/>
          </a:xfrm>
          <a:prstGeom prst="rect">
            <a:avLst/>
          </a:prstGeom>
          <a:noFill/>
          <a:ln/>
        </p:spPr>
        <p:txBody>
          <a:bodyPr wrap="square" lIns="25400" tIns="25400" rIns="25400" bIns="25400" anchor="t">
            <a:normAutofit/>
          </a:bodyPr>
          <a:lstStyle/>
          <a:p>
            <a:pPr marL="0" indent="0" algn="l">
              <a:lnSpc>
                <a:spcPct val="117419"/>
              </a:lnSpc>
              <a:buNone/>
              <a:defRPr/>
            </a:pPr>
            <a:r>
              <a:rPr lang="en-US" sz="1800">
                <a:solidFill>
                  <a:srgbClr val="7a7a7d"/>
                </a:solidFill>
                <a:latin typeface="고양덕양 EB"/>
                <a:ea typeface="고양덕양 EB"/>
                <a:cs typeface="Arial"/>
              </a:rPr>
              <a:t>직원 권한 전환 </a:t>
            </a:r>
            <a:br>
              <a:rPr lang="ko-KR" altLang="en-US" sz="1800">
                <a:solidFill>
                  <a:srgbClr val="7a7a7d"/>
                </a:solidFill>
                <a:latin typeface="고양덕양 EB"/>
                <a:ea typeface="고양덕양 EB"/>
                <a:cs typeface="Arial"/>
              </a:rPr>
            </a:br>
            <a:r>
              <a:rPr lang="en-US" sz="1800">
                <a:solidFill>
                  <a:srgbClr val="7a7a7d"/>
                </a:solidFill>
                <a:latin typeface="고양덕양 EB"/>
                <a:ea typeface="고양덕양 EB"/>
                <a:cs typeface="Arial"/>
              </a:rPr>
              <a:t>(STAFF ↔ 지점 관리자)</a:t>
            </a:r>
            <a:endParaRPr lang="en-US" sz="1800">
              <a:solidFill>
                <a:srgbClr val="7a7a7d"/>
              </a:solidFill>
              <a:latin typeface="고양덕양 EB"/>
              <a:ea typeface="고양덕양 EB"/>
              <a:cs typeface="Arial"/>
            </a:endParaRPr>
          </a:p>
        </p:txBody>
      </p:sp>
      <p:sp>
        <p:nvSpPr>
          <p:cNvPr id="18" name="Shape 16"/>
          <p:cNvSpPr/>
          <p:nvPr/>
        </p:nvSpPr>
        <p:spPr>
          <a:xfrm>
            <a:off x="8515350" y="3255318"/>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9" name="Shape 17"/>
          <p:cNvSpPr/>
          <p:nvPr/>
        </p:nvSpPr>
        <p:spPr>
          <a:xfrm>
            <a:off x="11468100" y="3255318"/>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0" name="Shape 18"/>
          <p:cNvSpPr/>
          <p:nvPr/>
        </p:nvSpPr>
        <p:spPr>
          <a:xfrm>
            <a:off x="14420850" y="3255318"/>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1" name="Shape 19"/>
          <p:cNvSpPr/>
          <p:nvPr/>
        </p:nvSpPr>
        <p:spPr>
          <a:xfrm>
            <a:off x="14420850" y="3455343"/>
            <a:ext cx="2819400" cy="1093291"/>
          </a:xfrm>
          <a:prstGeom prst="rect">
            <a:avLst/>
          </a:prstGeom>
          <a:solidFill>
            <a:srgbClr val="d6ebff"/>
          </a:solidFill>
          <a:ln w="9525">
            <a:solidFill>
              <a:srgbClr val="749dc4"/>
            </a:solidFill>
            <a:prstDash val="solid"/>
          </a:ln>
        </p:spPr>
        <p:txBody>
          <a:bodyPr anchor="ctr"/>
          <a:p>
            <a:pPr algn="ctr">
              <a:defRPr/>
            </a:pPr>
            <a:endParaRPr lang="ko-KR" altLang="en-US">
              <a:latin typeface="고양덕양 EB"/>
            </a:endParaRPr>
          </a:p>
        </p:txBody>
      </p:sp>
      <p:sp>
        <p:nvSpPr>
          <p:cNvPr id="22" name="Text 20"/>
          <p:cNvSpPr/>
          <p:nvPr/>
        </p:nvSpPr>
        <p:spPr>
          <a:xfrm>
            <a:off x="14601825" y="3655368"/>
            <a:ext cx="2542032" cy="731341"/>
          </a:xfrm>
          <a:prstGeom prst="rect">
            <a:avLst/>
          </a:prstGeom>
          <a:noFill/>
          <a:ln/>
        </p:spPr>
        <p:txBody>
          <a:bodyPr wrap="square" lIns="25400" tIns="25400" rIns="25400" bIns="25400" anchor="t">
            <a:normAutofit/>
          </a:bodyPr>
          <a:lstStyle/>
          <a:p>
            <a:pPr marL="0" indent="0" algn="l">
              <a:lnSpc>
                <a:spcPct val="117419"/>
              </a:lnSpc>
              <a:buNone/>
              <a:defRPr/>
            </a:pPr>
            <a:r>
              <a:rPr lang="en-US" sz="1800">
                <a:solidFill>
                  <a:srgbClr val="1d1f20"/>
                </a:solidFill>
                <a:latin typeface="고양덕양 EB"/>
                <a:ea typeface="고양덕양 EB"/>
                <a:cs typeface="Arial"/>
              </a:rPr>
              <a:t>전 지점 통합 현황 </a:t>
            </a:r>
            <a:br>
              <a:rPr lang="ko-KR" altLang="en-US" sz="1800">
                <a:solidFill>
                  <a:srgbClr val="1d1f20"/>
                </a:solidFill>
                <a:latin typeface="고양덕양 EB"/>
                <a:ea typeface="고양덕양 EB"/>
                <a:cs typeface="Arial"/>
              </a:rPr>
            </a:br>
            <a:r>
              <a:rPr lang="en-US" sz="1800">
                <a:solidFill>
                  <a:srgbClr val="1d1f20"/>
                </a:solidFill>
                <a:latin typeface="고양덕양 EB"/>
                <a:ea typeface="고양덕양 EB"/>
                <a:cs typeface="Arial"/>
              </a:rPr>
              <a:t>대시보드 KPI</a:t>
            </a:r>
            <a:endParaRPr lang="en-US" sz="1800">
              <a:solidFill>
                <a:srgbClr val="1d1f20"/>
              </a:solidFill>
              <a:latin typeface="고양덕양 EB"/>
              <a:ea typeface="고양덕양 EB"/>
              <a:cs typeface="Arial"/>
            </a:endParaRPr>
          </a:p>
        </p:txBody>
      </p:sp>
      <p:sp>
        <p:nvSpPr>
          <p:cNvPr id="23" name="Shape 21"/>
          <p:cNvSpPr/>
          <p:nvPr/>
        </p:nvSpPr>
        <p:spPr>
          <a:xfrm>
            <a:off x="1047750" y="4739134"/>
            <a:ext cx="14287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4" name="Text 22"/>
          <p:cNvSpPr/>
          <p:nvPr/>
        </p:nvSpPr>
        <p:spPr>
          <a:xfrm>
            <a:off x="1047750" y="4996309"/>
            <a:ext cx="1504950" cy="1017091"/>
          </a:xfrm>
          <a:prstGeom prst="rect">
            <a:avLst/>
          </a:prstGeom>
          <a:noFill/>
          <a:ln/>
        </p:spPr>
        <p:txBody>
          <a:bodyPr wrap="square" lIns="25400" tIns="25400" rIns="25400" bIns="25400" anchor="ctr">
            <a:normAutofit/>
          </a:bodyPr>
          <a:lstStyle/>
          <a:p>
            <a:pPr marL="0" indent="0" algn="l">
              <a:lnSpc>
                <a:spcPct val="135128"/>
              </a:lnSpc>
              <a:buNone/>
              <a:defRPr/>
            </a:pPr>
            <a:r>
              <a:rPr lang="en-US" sz="2550">
                <a:solidFill>
                  <a:srgbClr val="2c455d"/>
                </a:solidFill>
                <a:latin typeface="고양덕양 EB"/>
                <a:ea typeface="고양덕양 EB"/>
                <a:cs typeface="Arial"/>
              </a:rPr>
              <a:t>지점</a:t>
            </a:r>
            <a:endParaRPr lang="en-US" sz="2550">
              <a:latin typeface="고양덕양 EB"/>
            </a:endParaRPr>
          </a:p>
        </p:txBody>
      </p:sp>
      <p:sp>
        <p:nvSpPr>
          <p:cNvPr id="25" name="Shape 23"/>
          <p:cNvSpPr/>
          <p:nvPr/>
        </p:nvSpPr>
        <p:spPr>
          <a:xfrm>
            <a:off x="2609850" y="4739134"/>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6" name="Shape 24"/>
          <p:cNvSpPr/>
          <p:nvPr/>
        </p:nvSpPr>
        <p:spPr>
          <a:xfrm>
            <a:off x="2609850" y="4939159"/>
            <a:ext cx="2819400" cy="1093291"/>
          </a:xfrm>
          <a:prstGeom prst="rect">
            <a:avLst/>
          </a:prstGeom>
          <a:ln w="9525">
            <a:solidFill>
              <a:srgbClr val="b7b7ba"/>
            </a:solidFill>
            <a:prstDash val="solid"/>
          </a:ln>
        </p:spPr>
        <p:txBody>
          <a:bodyPr anchor="ctr"/>
          <a:p>
            <a:pPr algn="ctr">
              <a:defRPr/>
            </a:pPr>
            <a:endParaRPr lang="ko-KR" altLang="en-US">
              <a:latin typeface="고양덕양 EB"/>
            </a:endParaRPr>
          </a:p>
        </p:txBody>
      </p:sp>
      <p:sp>
        <p:nvSpPr>
          <p:cNvPr id="27" name="Text 25"/>
          <p:cNvSpPr/>
          <p:nvPr/>
        </p:nvSpPr>
        <p:spPr>
          <a:xfrm>
            <a:off x="2790825" y="5139184"/>
            <a:ext cx="2542032" cy="731341"/>
          </a:xfrm>
          <a:prstGeom prst="rect">
            <a:avLst/>
          </a:prstGeom>
          <a:noFill/>
          <a:ln/>
        </p:spPr>
        <p:txBody>
          <a:bodyPr wrap="square" lIns="25400" tIns="25400" rIns="25400" bIns="25400" anchor="t">
            <a:normAutofit/>
          </a:bodyPr>
          <a:lstStyle/>
          <a:p>
            <a:pPr marL="0" indent="0" algn="l">
              <a:lnSpc>
                <a:spcPct val="117419"/>
              </a:lnSpc>
              <a:buNone/>
              <a:defRPr/>
            </a:pPr>
            <a:r>
              <a:rPr lang="en-US" sz="1800">
                <a:solidFill>
                  <a:srgbClr val="1d1f20"/>
                </a:solidFill>
                <a:latin typeface="고양덕양 EB"/>
                <a:ea typeface="고양덕양 EB"/>
                <a:cs typeface="Arial"/>
              </a:rPr>
              <a:t>프로그램 게시 </a:t>
            </a:r>
            <a:br>
              <a:rPr lang="ko-KR" altLang="en-US" sz="1800">
                <a:solidFill>
                  <a:srgbClr val="1d1f20"/>
                </a:solidFill>
                <a:latin typeface="고양덕양 EB"/>
                <a:ea typeface="고양덕양 EB"/>
                <a:cs typeface="Arial"/>
              </a:rPr>
            </a:br>
            <a:r>
              <a:rPr lang="en-US" sz="1800">
                <a:solidFill>
                  <a:srgbClr val="1d1f20"/>
                </a:solidFill>
                <a:latin typeface="고양덕양 EB"/>
                <a:ea typeface="고양덕양 EB"/>
                <a:cs typeface="Arial"/>
              </a:rPr>
              <a:t>준비중 → 진행중</a:t>
            </a:r>
            <a:endParaRPr lang="en-US" sz="1800">
              <a:solidFill>
                <a:srgbClr val="1d1f20"/>
              </a:solidFill>
              <a:latin typeface="고양덕양 EB"/>
              <a:ea typeface="고양덕양 EB"/>
              <a:cs typeface="Arial"/>
            </a:endParaRPr>
          </a:p>
        </p:txBody>
      </p:sp>
      <p:sp>
        <p:nvSpPr>
          <p:cNvPr id="28" name="Shape 26"/>
          <p:cNvSpPr/>
          <p:nvPr/>
        </p:nvSpPr>
        <p:spPr>
          <a:xfrm>
            <a:off x="5562600" y="4739134"/>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9" name="Shape 27"/>
          <p:cNvSpPr/>
          <p:nvPr/>
        </p:nvSpPr>
        <p:spPr>
          <a:xfrm>
            <a:off x="5562600" y="4939159"/>
            <a:ext cx="2819400" cy="1093291"/>
          </a:xfrm>
          <a:prstGeom prst="rect">
            <a:avLst/>
          </a:prstGeom>
          <a:ln w="9525">
            <a:solidFill>
              <a:srgbClr val="b7b7ba"/>
            </a:solidFill>
            <a:prstDash val="solid"/>
          </a:ln>
        </p:spPr>
        <p:txBody>
          <a:bodyPr anchor="ctr"/>
          <a:p>
            <a:pPr algn="ctr">
              <a:defRPr/>
            </a:pPr>
            <a:endParaRPr lang="ko-KR" altLang="en-US">
              <a:latin typeface="고양덕양 EB"/>
            </a:endParaRPr>
          </a:p>
        </p:txBody>
      </p:sp>
      <p:sp>
        <p:nvSpPr>
          <p:cNvPr id="30" name="Text 28"/>
          <p:cNvSpPr/>
          <p:nvPr/>
        </p:nvSpPr>
        <p:spPr>
          <a:xfrm>
            <a:off x="5743575" y="5139184"/>
            <a:ext cx="2542032" cy="731341"/>
          </a:xfrm>
          <a:prstGeom prst="rect">
            <a:avLst/>
          </a:prstGeom>
          <a:noFill/>
          <a:ln/>
        </p:spPr>
        <p:txBody>
          <a:bodyPr wrap="square" lIns="25400" tIns="25400" rIns="25400" bIns="25400" anchor="t">
            <a:normAutofit/>
          </a:bodyPr>
          <a:lstStyle/>
          <a:p>
            <a:pPr marL="0" indent="0" algn="l">
              <a:lnSpc>
                <a:spcPct val="117419"/>
              </a:lnSpc>
              <a:buNone/>
              <a:defRPr/>
            </a:pPr>
            <a:r>
              <a:rPr lang="en-US" sz="1800">
                <a:solidFill>
                  <a:srgbClr val="1d1f20"/>
                </a:solidFill>
                <a:latin typeface="고양덕양 EB"/>
                <a:ea typeface="고양덕양 EB"/>
                <a:cs typeface="Arial"/>
              </a:rPr>
              <a:t>회원 등록 담당 </a:t>
            </a:r>
            <a:br>
              <a:rPr lang="ko-KR" altLang="en-US" sz="1800">
                <a:solidFill>
                  <a:srgbClr val="1d1f20"/>
                </a:solidFill>
                <a:latin typeface="고양덕양 EB"/>
                <a:ea typeface="고양덕양 EB"/>
                <a:cs typeface="Arial"/>
              </a:rPr>
            </a:br>
            <a:r>
              <a:rPr lang="en-US" sz="1800">
                <a:solidFill>
                  <a:srgbClr val="1d1f20"/>
                </a:solidFill>
                <a:latin typeface="고양덕양 EB"/>
                <a:ea typeface="고양덕양 EB"/>
                <a:cs typeface="Arial"/>
              </a:rPr>
              <a:t>트레이너 배정</a:t>
            </a:r>
            <a:endParaRPr lang="en-US" sz="1800">
              <a:solidFill>
                <a:srgbClr val="1d1f20"/>
              </a:solidFill>
              <a:latin typeface="고양덕양 EB"/>
              <a:ea typeface="고양덕양 EB"/>
              <a:cs typeface="Arial"/>
            </a:endParaRPr>
          </a:p>
        </p:txBody>
      </p:sp>
      <p:sp>
        <p:nvSpPr>
          <p:cNvPr id="31" name="Shape 29"/>
          <p:cNvSpPr/>
          <p:nvPr/>
        </p:nvSpPr>
        <p:spPr>
          <a:xfrm>
            <a:off x="8515350" y="4739134"/>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32" name="Shape 30"/>
          <p:cNvSpPr/>
          <p:nvPr/>
        </p:nvSpPr>
        <p:spPr>
          <a:xfrm>
            <a:off x="8515350" y="4939159"/>
            <a:ext cx="2819400" cy="1093291"/>
          </a:xfrm>
          <a:prstGeom prst="rect">
            <a:avLst/>
          </a:prstGeom>
          <a:ln w="9525">
            <a:solidFill>
              <a:srgbClr val="b7b7ba"/>
            </a:solidFill>
            <a:prstDash val="solid"/>
          </a:ln>
        </p:spPr>
        <p:txBody>
          <a:bodyPr anchor="ctr"/>
          <a:p>
            <a:pPr algn="ctr">
              <a:defRPr/>
            </a:pPr>
            <a:endParaRPr lang="ko-KR" altLang="en-US">
              <a:latin typeface="고양덕양 EB"/>
            </a:endParaRPr>
          </a:p>
        </p:txBody>
      </p:sp>
      <p:sp>
        <p:nvSpPr>
          <p:cNvPr id="33" name="Text 31"/>
          <p:cNvSpPr/>
          <p:nvPr/>
        </p:nvSpPr>
        <p:spPr>
          <a:xfrm>
            <a:off x="8696325" y="5139184"/>
            <a:ext cx="2542032" cy="731341"/>
          </a:xfrm>
          <a:prstGeom prst="rect">
            <a:avLst/>
          </a:prstGeom>
          <a:noFill/>
          <a:ln/>
        </p:spPr>
        <p:txBody>
          <a:bodyPr wrap="square" lIns="25400" tIns="25400" rIns="25400" bIns="25400" anchor="t">
            <a:normAutofit/>
          </a:bodyPr>
          <a:lstStyle/>
          <a:p>
            <a:pPr marL="0" indent="0" algn="l">
              <a:lnSpc>
                <a:spcPct val="117419"/>
              </a:lnSpc>
              <a:buNone/>
              <a:defRPr/>
            </a:pPr>
            <a:r>
              <a:rPr lang="en-US" sz="1800">
                <a:solidFill>
                  <a:srgbClr val="1d1f20"/>
                </a:solidFill>
                <a:latin typeface="고양덕양 EB"/>
                <a:ea typeface="고양덕양 EB"/>
                <a:cs typeface="Arial"/>
              </a:rPr>
              <a:t>예약 현황 확인 정원 관리</a:t>
            </a:r>
            <a:endParaRPr lang="en-US">
              <a:latin typeface="고양덕양 EB"/>
            </a:endParaRPr>
          </a:p>
        </p:txBody>
      </p:sp>
      <p:sp>
        <p:nvSpPr>
          <p:cNvPr id="34" name="Shape 32"/>
          <p:cNvSpPr/>
          <p:nvPr/>
        </p:nvSpPr>
        <p:spPr>
          <a:xfrm>
            <a:off x="11468100" y="4739134"/>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35" name="Shape 33"/>
          <p:cNvSpPr/>
          <p:nvPr/>
        </p:nvSpPr>
        <p:spPr>
          <a:xfrm>
            <a:off x="11468100" y="4939159"/>
            <a:ext cx="2819400" cy="1093291"/>
          </a:xfrm>
          <a:prstGeom prst="rect">
            <a:avLst/>
          </a:prstGeom>
          <a:ln w="9525">
            <a:solidFill>
              <a:srgbClr val="b7b7ba"/>
            </a:solidFill>
            <a:prstDash val="solid"/>
          </a:ln>
        </p:spPr>
        <p:txBody>
          <a:bodyPr anchor="ctr"/>
          <a:p>
            <a:pPr algn="ctr">
              <a:defRPr/>
            </a:pPr>
            <a:endParaRPr lang="ko-KR" altLang="en-US">
              <a:latin typeface="고양덕양 EB"/>
            </a:endParaRPr>
          </a:p>
        </p:txBody>
      </p:sp>
      <p:sp>
        <p:nvSpPr>
          <p:cNvPr id="36" name="Text 34"/>
          <p:cNvSpPr/>
          <p:nvPr/>
        </p:nvSpPr>
        <p:spPr>
          <a:xfrm>
            <a:off x="11649075" y="5139184"/>
            <a:ext cx="2542032" cy="731341"/>
          </a:xfrm>
          <a:prstGeom prst="rect">
            <a:avLst/>
          </a:prstGeom>
          <a:noFill/>
          <a:ln/>
        </p:spPr>
        <p:txBody>
          <a:bodyPr wrap="square" lIns="25400" tIns="25400" rIns="25400" bIns="25400" anchor="t">
            <a:normAutofit/>
          </a:bodyPr>
          <a:lstStyle/>
          <a:p>
            <a:pPr marL="0" indent="0" algn="l">
              <a:lnSpc>
                <a:spcPct val="117419"/>
              </a:lnSpc>
              <a:buNone/>
              <a:defRPr/>
            </a:pPr>
            <a:r>
              <a:rPr lang="en-US" sz="1800">
                <a:solidFill>
                  <a:srgbClr val="1d1f20"/>
                </a:solidFill>
                <a:latin typeface="고양덕양 EB"/>
                <a:ea typeface="고양덕양 EB"/>
                <a:cs typeface="Arial"/>
              </a:rPr>
              <a:t>대리 체크인 혼잡도 </a:t>
            </a:r>
            <a:br>
              <a:rPr lang="ko-KR" altLang="en-US" sz="1800">
                <a:solidFill>
                  <a:srgbClr val="1d1f20"/>
                </a:solidFill>
                <a:latin typeface="고양덕양 EB"/>
                <a:ea typeface="고양덕양 EB"/>
                <a:cs typeface="Arial"/>
              </a:rPr>
            </a:br>
            <a:r>
              <a:rPr lang="en-US" sz="1800">
                <a:solidFill>
                  <a:srgbClr val="1d1f20"/>
                </a:solidFill>
                <a:latin typeface="고양덕양 EB"/>
                <a:ea typeface="고양덕양 EB"/>
                <a:cs typeface="Arial"/>
              </a:rPr>
              <a:t>수동 보정</a:t>
            </a:r>
            <a:endParaRPr lang="en-US" sz="1800">
              <a:solidFill>
                <a:srgbClr val="1d1f20"/>
              </a:solidFill>
              <a:latin typeface="고양덕양 EB"/>
              <a:ea typeface="고양덕양 EB"/>
              <a:cs typeface="Arial"/>
            </a:endParaRPr>
          </a:p>
        </p:txBody>
      </p:sp>
      <p:sp>
        <p:nvSpPr>
          <p:cNvPr id="37" name="Shape 35"/>
          <p:cNvSpPr/>
          <p:nvPr/>
        </p:nvSpPr>
        <p:spPr>
          <a:xfrm>
            <a:off x="14420850" y="4739134"/>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38" name="Shape 36"/>
          <p:cNvSpPr/>
          <p:nvPr/>
        </p:nvSpPr>
        <p:spPr>
          <a:xfrm>
            <a:off x="14420850" y="4939159"/>
            <a:ext cx="2819400" cy="1093291"/>
          </a:xfrm>
          <a:prstGeom prst="rect">
            <a:avLst/>
          </a:prstGeom>
          <a:ln w="9525">
            <a:solidFill>
              <a:srgbClr val="b7b7ba"/>
            </a:solidFill>
            <a:prstDash val="solid"/>
          </a:ln>
        </p:spPr>
        <p:txBody>
          <a:bodyPr anchor="ctr"/>
          <a:p>
            <a:pPr algn="ctr">
              <a:defRPr/>
            </a:pPr>
            <a:endParaRPr lang="ko-KR" altLang="en-US">
              <a:latin typeface="고양덕양 EB"/>
            </a:endParaRPr>
          </a:p>
        </p:txBody>
      </p:sp>
      <p:sp>
        <p:nvSpPr>
          <p:cNvPr id="39" name="Text 37"/>
          <p:cNvSpPr/>
          <p:nvPr/>
        </p:nvSpPr>
        <p:spPr>
          <a:xfrm>
            <a:off x="14601825" y="5139184"/>
            <a:ext cx="2542032" cy="731341"/>
          </a:xfrm>
          <a:prstGeom prst="rect">
            <a:avLst/>
          </a:prstGeom>
          <a:noFill/>
          <a:ln/>
        </p:spPr>
        <p:txBody>
          <a:bodyPr wrap="square" lIns="25400" tIns="25400" rIns="25400" bIns="25400" anchor="t">
            <a:normAutofit/>
          </a:bodyPr>
          <a:lstStyle/>
          <a:p>
            <a:pPr marL="0" indent="0" algn="l">
              <a:lnSpc>
                <a:spcPct val="117419"/>
              </a:lnSpc>
              <a:buNone/>
              <a:defRPr/>
            </a:pPr>
            <a:r>
              <a:rPr lang="en-US" sz="1800">
                <a:solidFill>
                  <a:srgbClr val="1d1f20"/>
                </a:solidFill>
                <a:latin typeface="고양덕양 EB"/>
                <a:ea typeface="고양덕양 EB"/>
                <a:cs typeface="Arial"/>
              </a:rPr>
              <a:t>지점 현황판 </a:t>
            </a:r>
            <a:br>
              <a:rPr lang="ko-KR" altLang="en-US" sz="1800">
                <a:solidFill>
                  <a:srgbClr val="1d1f20"/>
                </a:solidFill>
                <a:latin typeface="고양덕양 EB"/>
                <a:ea typeface="고양덕양 EB"/>
                <a:cs typeface="Arial"/>
              </a:rPr>
            </a:br>
            <a:r>
              <a:rPr lang="en-US" sz="1800">
                <a:solidFill>
                  <a:srgbClr val="1d1f20"/>
                </a:solidFill>
                <a:latin typeface="고양덕양 EB"/>
                <a:ea typeface="고양덕양 EB"/>
                <a:cs typeface="Arial"/>
              </a:rPr>
              <a:t>근태·매출 집계</a:t>
            </a:r>
            <a:endParaRPr lang="en-US" sz="1800">
              <a:solidFill>
                <a:srgbClr val="1d1f20"/>
              </a:solidFill>
              <a:latin typeface="고양덕양 EB"/>
              <a:ea typeface="고양덕양 EB"/>
              <a:cs typeface="Arial"/>
            </a:endParaRPr>
          </a:p>
        </p:txBody>
      </p:sp>
      <p:sp>
        <p:nvSpPr>
          <p:cNvPr id="40" name="Shape 38"/>
          <p:cNvSpPr/>
          <p:nvPr/>
        </p:nvSpPr>
        <p:spPr>
          <a:xfrm>
            <a:off x="1047750" y="7706767"/>
            <a:ext cx="14287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41" name="Shape 39"/>
          <p:cNvSpPr/>
          <p:nvPr/>
        </p:nvSpPr>
        <p:spPr>
          <a:xfrm>
            <a:off x="1047750" y="6222950"/>
            <a:ext cx="14287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42" name="Text 40"/>
          <p:cNvSpPr/>
          <p:nvPr/>
        </p:nvSpPr>
        <p:spPr>
          <a:xfrm>
            <a:off x="1047750" y="6480125"/>
            <a:ext cx="1504950" cy="1017091"/>
          </a:xfrm>
          <a:prstGeom prst="rect">
            <a:avLst/>
          </a:prstGeom>
          <a:noFill/>
          <a:ln/>
        </p:spPr>
        <p:txBody>
          <a:bodyPr wrap="square" lIns="25400" tIns="25400" rIns="25400" bIns="25400" anchor="ctr">
            <a:normAutofit/>
          </a:bodyPr>
          <a:lstStyle/>
          <a:p>
            <a:pPr marL="0" indent="0" algn="l">
              <a:lnSpc>
                <a:spcPct val="135128"/>
              </a:lnSpc>
              <a:buNone/>
              <a:defRPr/>
            </a:pPr>
            <a:r>
              <a:rPr lang="en-US" sz="2550">
                <a:solidFill>
                  <a:srgbClr val="2c455d"/>
                </a:solidFill>
                <a:latin typeface="고양덕양 EB"/>
                <a:ea typeface="고양덕양 EB"/>
                <a:cs typeface="Arial"/>
              </a:rPr>
              <a:t>회원</a:t>
            </a:r>
            <a:endParaRPr lang="en-US" sz="2550">
              <a:latin typeface="고양덕양 EB"/>
            </a:endParaRPr>
          </a:p>
        </p:txBody>
      </p:sp>
      <p:sp>
        <p:nvSpPr>
          <p:cNvPr id="43" name="Shape 41"/>
          <p:cNvSpPr/>
          <p:nvPr/>
        </p:nvSpPr>
        <p:spPr>
          <a:xfrm>
            <a:off x="2609850" y="7706767"/>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44" name="Shape 42"/>
          <p:cNvSpPr/>
          <p:nvPr/>
        </p:nvSpPr>
        <p:spPr>
          <a:xfrm>
            <a:off x="2609850" y="6222950"/>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45" name="Shape 43"/>
          <p:cNvSpPr/>
          <p:nvPr/>
        </p:nvSpPr>
        <p:spPr>
          <a:xfrm>
            <a:off x="5562600" y="7706767"/>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46" name="Shape 44"/>
          <p:cNvSpPr/>
          <p:nvPr/>
        </p:nvSpPr>
        <p:spPr>
          <a:xfrm>
            <a:off x="5562600" y="6222950"/>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47" name="Shape 45"/>
          <p:cNvSpPr/>
          <p:nvPr/>
        </p:nvSpPr>
        <p:spPr>
          <a:xfrm>
            <a:off x="5562600" y="6422975"/>
            <a:ext cx="2819400" cy="1093291"/>
          </a:xfrm>
          <a:prstGeom prst="rect">
            <a:avLst/>
          </a:prstGeom>
          <a:ln w="9525">
            <a:solidFill>
              <a:srgbClr val="b7b7ba"/>
            </a:solidFill>
            <a:prstDash val="dash"/>
          </a:ln>
        </p:spPr>
        <p:txBody>
          <a:bodyPr anchor="ctr"/>
          <a:p>
            <a:pPr algn="ctr">
              <a:defRPr/>
            </a:pPr>
            <a:endParaRPr lang="ko-KR" altLang="en-US">
              <a:latin typeface="고양덕양 EB"/>
            </a:endParaRPr>
          </a:p>
        </p:txBody>
      </p:sp>
      <p:sp>
        <p:nvSpPr>
          <p:cNvPr id="48" name="Text 46"/>
          <p:cNvSpPr/>
          <p:nvPr/>
        </p:nvSpPr>
        <p:spPr>
          <a:xfrm>
            <a:off x="5743575" y="6623000"/>
            <a:ext cx="2542032" cy="731341"/>
          </a:xfrm>
          <a:prstGeom prst="rect">
            <a:avLst/>
          </a:prstGeom>
          <a:noFill/>
          <a:ln/>
        </p:spPr>
        <p:txBody>
          <a:bodyPr wrap="square" lIns="25400" tIns="25400" rIns="25400" bIns="25400" anchor="t">
            <a:normAutofit/>
          </a:bodyPr>
          <a:lstStyle/>
          <a:p>
            <a:pPr marL="0" indent="0" algn="l">
              <a:lnSpc>
                <a:spcPct val="117419"/>
              </a:lnSpc>
              <a:buNone/>
              <a:defRPr/>
            </a:pPr>
            <a:r>
              <a:rPr lang="en-US" sz="1800">
                <a:solidFill>
                  <a:srgbClr val="7a7a7d"/>
                </a:solidFill>
                <a:latin typeface="고양덕양 EB"/>
                <a:ea typeface="고양덕양 EB"/>
                <a:cs typeface="Arial"/>
              </a:rPr>
              <a:t>앱 가입 </a:t>
            </a:r>
            <a:br>
              <a:rPr lang="ko-KR" altLang="en-US" sz="1800">
                <a:solidFill>
                  <a:srgbClr val="7a7a7d"/>
                </a:solidFill>
                <a:latin typeface="고양덕양 EB"/>
                <a:ea typeface="고양덕양 EB"/>
                <a:cs typeface="Arial"/>
              </a:rPr>
            </a:br>
            <a:r>
              <a:rPr lang="en-US" sz="1800">
                <a:solidFill>
                  <a:srgbClr val="7a7a7d"/>
                </a:solidFill>
                <a:latin typeface="고양덕양 EB"/>
                <a:ea typeface="고양덕양 EB"/>
                <a:cs typeface="Arial"/>
              </a:rPr>
              <a:t>(오프라인 등록도 가능)</a:t>
            </a:r>
            <a:endParaRPr lang="en-US" sz="1800">
              <a:solidFill>
                <a:srgbClr val="7a7a7d"/>
              </a:solidFill>
              <a:latin typeface="고양덕양 EB"/>
              <a:ea typeface="고양덕양 EB"/>
              <a:cs typeface="Arial"/>
            </a:endParaRPr>
          </a:p>
        </p:txBody>
      </p:sp>
      <p:sp>
        <p:nvSpPr>
          <p:cNvPr id="49" name="Shape 47"/>
          <p:cNvSpPr/>
          <p:nvPr/>
        </p:nvSpPr>
        <p:spPr>
          <a:xfrm>
            <a:off x="8515350" y="7706767"/>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0" name="Shape 48"/>
          <p:cNvSpPr/>
          <p:nvPr/>
        </p:nvSpPr>
        <p:spPr>
          <a:xfrm>
            <a:off x="8515350" y="6222950"/>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1" name="Shape 49"/>
          <p:cNvSpPr/>
          <p:nvPr/>
        </p:nvSpPr>
        <p:spPr>
          <a:xfrm>
            <a:off x="8515350" y="6422975"/>
            <a:ext cx="2819400" cy="1093291"/>
          </a:xfrm>
          <a:prstGeom prst="rect">
            <a:avLst/>
          </a:prstGeom>
          <a:solidFill>
            <a:srgbClr val="d6ebff"/>
          </a:solidFill>
          <a:ln w="9525">
            <a:solidFill>
              <a:srgbClr val="749dc4"/>
            </a:solidFill>
            <a:prstDash val="solid"/>
          </a:ln>
        </p:spPr>
        <p:txBody>
          <a:bodyPr anchor="ctr"/>
          <a:p>
            <a:pPr algn="ctr">
              <a:defRPr/>
            </a:pPr>
            <a:endParaRPr lang="ko-KR" altLang="en-US">
              <a:latin typeface="고양덕양 EB"/>
            </a:endParaRPr>
          </a:p>
        </p:txBody>
      </p:sp>
      <p:sp>
        <p:nvSpPr>
          <p:cNvPr id="52" name="Text 50"/>
          <p:cNvSpPr/>
          <p:nvPr/>
        </p:nvSpPr>
        <p:spPr>
          <a:xfrm>
            <a:off x="8696325" y="6623000"/>
            <a:ext cx="2542032" cy="731341"/>
          </a:xfrm>
          <a:prstGeom prst="rect">
            <a:avLst/>
          </a:prstGeom>
          <a:noFill/>
          <a:ln/>
        </p:spPr>
        <p:txBody>
          <a:bodyPr wrap="square" lIns="25400" tIns="25400" rIns="25400" bIns="25400" anchor="t">
            <a:normAutofit/>
          </a:bodyPr>
          <a:lstStyle/>
          <a:p>
            <a:pPr marL="0" indent="0" algn="l">
              <a:lnSpc>
                <a:spcPct val="117419"/>
              </a:lnSpc>
              <a:buNone/>
              <a:defRPr/>
            </a:pPr>
            <a:r>
              <a:rPr lang="en-US" sz="1800">
                <a:solidFill>
                  <a:srgbClr val="1d1f20"/>
                </a:solidFill>
                <a:latin typeface="고양덕양 EB"/>
                <a:ea typeface="고양덕양 EB"/>
                <a:cs typeface="Arial"/>
              </a:rPr>
              <a:t>프로그램 </a:t>
            </a:r>
            <a:br>
              <a:rPr lang="ko-KR" altLang="en-US" sz="1800">
                <a:solidFill>
                  <a:srgbClr val="1d1f20"/>
                </a:solidFill>
                <a:latin typeface="고양덕양 EB"/>
                <a:ea typeface="고양덕양 EB"/>
                <a:cs typeface="Arial"/>
              </a:rPr>
            </a:br>
            <a:r>
              <a:rPr lang="en-US" sz="1800">
                <a:solidFill>
                  <a:srgbClr val="1d1f20"/>
                </a:solidFill>
                <a:latin typeface="고양덕양 EB"/>
                <a:ea typeface="고양덕양 EB"/>
                <a:cs typeface="Arial"/>
              </a:rPr>
              <a:t>예약 결제 · PT 세션 차감</a:t>
            </a:r>
            <a:endParaRPr lang="en-US" sz="1800">
              <a:solidFill>
                <a:srgbClr val="1d1f20"/>
              </a:solidFill>
              <a:latin typeface="고양덕양 EB"/>
              <a:ea typeface="고양덕양 EB"/>
              <a:cs typeface="Arial"/>
            </a:endParaRPr>
          </a:p>
        </p:txBody>
      </p:sp>
      <p:sp>
        <p:nvSpPr>
          <p:cNvPr id="53" name="Shape 51"/>
          <p:cNvSpPr/>
          <p:nvPr/>
        </p:nvSpPr>
        <p:spPr>
          <a:xfrm>
            <a:off x="11468100" y="7706767"/>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4" name="Shape 52"/>
          <p:cNvSpPr/>
          <p:nvPr/>
        </p:nvSpPr>
        <p:spPr>
          <a:xfrm>
            <a:off x="11468100" y="6222950"/>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5" name="Shape 53"/>
          <p:cNvSpPr/>
          <p:nvPr/>
        </p:nvSpPr>
        <p:spPr>
          <a:xfrm>
            <a:off x="11468100" y="6422975"/>
            <a:ext cx="2819400" cy="1093291"/>
          </a:xfrm>
          <a:prstGeom prst="rect">
            <a:avLst/>
          </a:prstGeom>
          <a:solidFill>
            <a:srgbClr val="d6ebff"/>
          </a:solidFill>
          <a:ln w="9525">
            <a:solidFill>
              <a:srgbClr val="749dc4"/>
            </a:solidFill>
            <a:prstDash val="solid"/>
          </a:ln>
        </p:spPr>
        <p:txBody>
          <a:bodyPr anchor="ctr"/>
          <a:p>
            <a:pPr algn="ctr">
              <a:defRPr/>
            </a:pPr>
            <a:endParaRPr lang="ko-KR" altLang="en-US" sz="1700">
              <a:latin typeface="고양덕양 EB"/>
            </a:endParaRPr>
          </a:p>
        </p:txBody>
      </p:sp>
      <p:sp>
        <p:nvSpPr>
          <p:cNvPr id="56" name="Text 54"/>
          <p:cNvSpPr/>
          <p:nvPr/>
        </p:nvSpPr>
        <p:spPr>
          <a:xfrm>
            <a:off x="11649075" y="6623000"/>
            <a:ext cx="2542032" cy="731341"/>
          </a:xfrm>
          <a:prstGeom prst="rect">
            <a:avLst/>
          </a:prstGeom>
          <a:noFill/>
          <a:ln/>
        </p:spPr>
        <p:txBody>
          <a:bodyPr wrap="square" lIns="25400" tIns="25400" rIns="25400" bIns="25400" anchor="t">
            <a:normAutofit/>
          </a:bodyPr>
          <a:lstStyle/>
          <a:p>
            <a:pPr marL="0" indent="0" algn="l">
              <a:lnSpc>
                <a:spcPct val="117419"/>
              </a:lnSpc>
              <a:buNone/>
              <a:defRPr/>
            </a:pPr>
            <a:r>
              <a:rPr lang="en-US" sz="1950">
                <a:solidFill>
                  <a:srgbClr val="1d1f20"/>
                </a:solidFill>
                <a:latin typeface="고양덕양 EB"/>
                <a:ea typeface="고양덕양 EB"/>
                <a:cs typeface="Arial"/>
              </a:rPr>
              <a:t>QR 체크인 체크아웃</a:t>
            </a:r>
            <a:endParaRPr lang="en-US" sz="1950">
              <a:latin typeface="고양덕양 EB"/>
            </a:endParaRPr>
          </a:p>
        </p:txBody>
      </p:sp>
      <p:sp>
        <p:nvSpPr>
          <p:cNvPr id="57" name="Shape 55"/>
          <p:cNvSpPr/>
          <p:nvPr/>
        </p:nvSpPr>
        <p:spPr>
          <a:xfrm>
            <a:off x="14420850" y="7706767"/>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8" name="Shape 56"/>
          <p:cNvSpPr/>
          <p:nvPr/>
        </p:nvSpPr>
        <p:spPr>
          <a:xfrm>
            <a:off x="14420850" y="6222950"/>
            <a:ext cx="2819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9" name="Shape 57"/>
          <p:cNvSpPr/>
          <p:nvPr/>
        </p:nvSpPr>
        <p:spPr>
          <a:xfrm>
            <a:off x="14420850" y="6422975"/>
            <a:ext cx="2819400" cy="1093291"/>
          </a:xfrm>
          <a:prstGeom prst="rect">
            <a:avLst/>
          </a:prstGeom>
          <a:ln w="9525">
            <a:solidFill>
              <a:srgbClr val="b7b7ba"/>
            </a:solidFill>
            <a:prstDash val="solid"/>
          </a:ln>
        </p:spPr>
        <p:txBody>
          <a:bodyPr anchor="ctr"/>
          <a:p>
            <a:pPr algn="ctr">
              <a:defRPr/>
            </a:pPr>
            <a:endParaRPr lang="ko-KR" altLang="en-US">
              <a:latin typeface="고양덕양 EB"/>
            </a:endParaRPr>
          </a:p>
        </p:txBody>
      </p:sp>
      <p:sp>
        <p:nvSpPr>
          <p:cNvPr id="60" name="Text 58"/>
          <p:cNvSpPr/>
          <p:nvPr/>
        </p:nvSpPr>
        <p:spPr>
          <a:xfrm>
            <a:off x="14601825" y="6623000"/>
            <a:ext cx="2542032" cy="731341"/>
          </a:xfrm>
          <a:prstGeom prst="rect">
            <a:avLst/>
          </a:prstGeom>
          <a:noFill/>
          <a:ln/>
        </p:spPr>
        <p:txBody>
          <a:bodyPr wrap="square" lIns="25400" tIns="25400" rIns="25400" bIns="25400" anchor="t">
            <a:normAutofit/>
          </a:bodyPr>
          <a:lstStyle/>
          <a:p>
            <a:pPr marL="0" indent="0" algn="l">
              <a:lnSpc>
                <a:spcPct val="117419"/>
              </a:lnSpc>
              <a:buNone/>
              <a:defRPr/>
            </a:pPr>
            <a:r>
              <a:rPr lang="en-US" sz="1800">
                <a:solidFill>
                  <a:srgbClr val="1d1f20"/>
                </a:solidFill>
                <a:latin typeface="고양덕양 EB"/>
                <a:ea typeface="고양덕양 EB"/>
                <a:cs typeface="Arial"/>
              </a:rPr>
              <a:t>시설 혼잡도 조회 </a:t>
            </a:r>
            <a:br>
              <a:rPr lang="ko-KR" altLang="en-US" sz="1800">
                <a:solidFill>
                  <a:srgbClr val="1d1f20"/>
                </a:solidFill>
                <a:latin typeface="고양덕양 EB"/>
                <a:ea typeface="고양덕양 EB"/>
                <a:cs typeface="Arial"/>
              </a:rPr>
            </a:br>
            <a:r>
              <a:rPr lang="en-US" sz="1800">
                <a:solidFill>
                  <a:srgbClr val="1d1f20"/>
                </a:solidFill>
                <a:latin typeface="고양덕양 EB"/>
                <a:ea typeface="고양덕양 EB"/>
                <a:cs typeface="Arial"/>
              </a:rPr>
              <a:t>5단계 표시</a:t>
            </a:r>
            <a:endParaRPr lang="en-US" sz="1800">
              <a:solidFill>
                <a:srgbClr val="1d1f20"/>
              </a:solidFill>
              <a:latin typeface="고양덕양 EB"/>
              <a:ea typeface="고양덕양 EB"/>
              <a:cs typeface="Arial"/>
            </a:endParaRPr>
          </a:p>
        </p:txBody>
      </p:sp>
      <p:sp>
        <p:nvSpPr>
          <p:cNvPr id="61" name="Text 59"/>
          <p:cNvSpPr/>
          <p:nvPr/>
        </p:nvSpPr>
        <p:spPr>
          <a:xfrm>
            <a:off x="2609850" y="7887742"/>
            <a:ext cx="323850" cy="421928"/>
          </a:xfrm>
          <a:prstGeom prst="rect">
            <a:avLst/>
          </a:prstGeom>
          <a:noFill/>
          <a:ln/>
        </p:spPr>
        <p:txBody>
          <a:bodyPr wrap="square" lIns="25400" tIns="25400" rIns="25400" bIns="25400" anchor="t">
            <a:normAutofit/>
          </a:bodyPr>
          <a:lstStyle/>
          <a:p>
            <a:pPr marL="0" indent="0" algn="l">
              <a:lnSpc>
                <a:spcPct val="130000"/>
              </a:lnSpc>
              <a:buNone/>
              <a:defRPr/>
            </a:pPr>
            <a:r>
              <a:rPr lang="en-US" sz="1950">
                <a:solidFill>
                  <a:srgbClr val="5980a6"/>
                </a:solidFill>
                <a:latin typeface="고양덕양 EB"/>
                <a:ea typeface="고양덕양 EB"/>
                <a:cs typeface="Arial"/>
              </a:rPr>
              <a:t>◀</a:t>
            </a:r>
            <a:endParaRPr lang="en-US" sz="1950">
              <a:latin typeface="고양덕양 EB"/>
            </a:endParaRPr>
          </a:p>
        </p:txBody>
      </p:sp>
      <p:sp>
        <p:nvSpPr>
          <p:cNvPr id="62" name="Shape 60"/>
          <p:cNvSpPr/>
          <p:nvPr/>
        </p:nvSpPr>
        <p:spPr>
          <a:xfrm>
            <a:off x="3009900" y="8074819"/>
            <a:ext cx="9048750" cy="9525"/>
          </a:xfrm>
          <a:prstGeom prst="rect">
            <a:avLst/>
          </a:prstGeom>
          <a:solidFill>
            <a:srgbClr val="749dc4"/>
          </a:solidFill>
          <a:ln/>
        </p:spPr>
        <p:txBody>
          <a:bodyPr anchor="ctr"/>
          <a:p>
            <a:pPr algn="ctr">
              <a:defRPr/>
            </a:pPr>
            <a:endParaRPr lang="ko-KR" altLang="en-US">
              <a:latin typeface="고양덕양 EB"/>
            </a:endParaRPr>
          </a:p>
        </p:txBody>
      </p:sp>
      <p:sp>
        <p:nvSpPr>
          <p:cNvPr id="63" name="Text 61"/>
          <p:cNvSpPr/>
          <p:nvPr/>
        </p:nvSpPr>
        <p:spPr>
          <a:xfrm>
            <a:off x="12211050" y="7902476"/>
            <a:ext cx="5532120" cy="392311"/>
          </a:xfrm>
          <a:prstGeom prst="rect">
            <a:avLst/>
          </a:prstGeom>
          <a:noFill/>
          <a:ln/>
        </p:spPr>
        <p:txBody>
          <a:bodyPr wrap="none" lIns="25400" tIns="25400" rIns="25400" bIns="25400" anchor="t">
            <a:normAutofit/>
          </a:bodyPr>
          <a:lstStyle/>
          <a:p>
            <a:pPr marL="0" indent="0" algn="l">
              <a:lnSpc>
                <a:spcPct val="137778"/>
              </a:lnSpc>
              <a:buNone/>
              <a:defRPr/>
            </a:pPr>
            <a:r>
              <a:rPr lang="en-US" sz="1800">
                <a:solidFill>
                  <a:srgbClr val="2c455d"/>
                </a:solidFill>
                <a:latin typeface="고양덕양 EB"/>
                <a:ea typeface="고양덕양 EB"/>
                <a:cs typeface="Courier New"/>
              </a:rPr>
              <a:t>이용 기록이 지점·본사 화면으로 되돌아오는 방향</a:t>
            </a:r>
            <a:endParaRPr lang="en-US" sz="1800">
              <a:latin typeface="고양덕양 EB"/>
            </a:endParaRPr>
          </a:p>
        </p:txBody>
      </p:sp>
      <p:sp>
        <p:nvSpPr>
          <p:cNvPr id="64" name="Text 62"/>
          <p:cNvSpPr/>
          <p:nvPr/>
        </p:nvSpPr>
        <p:spPr>
          <a:xfrm>
            <a:off x="1047750" y="8462070"/>
            <a:ext cx="16678275" cy="746522"/>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5d5d60"/>
                </a:solidFill>
                <a:latin typeface="고양덕양 EB"/>
                <a:ea typeface="고양덕양 EB"/>
                <a:cs typeface="Courier New"/>
              </a:rPr>
              <a:t>④의 체크인 기록이 ⑤의 혼잡도·근태 집계로 되돌아오는 순환 구조 </a:t>
            </a:r>
            <a:r>
              <a:rPr lang="en-US" sz="1800">
                <a:solidFill>
                  <a:srgbClr val="5d5d60"/>
                </a:solidFill>
                <a:ea typeface="고양덕양 EB"/>
                <a:cs typeface="Courier New"/>
              </a:rPr>
              <a:t>—</a:t>
            </a:r>
            <a:r>
              <a:rPr lang="en-US" sz="1800">
                <a:solidFill>
                  <a:srgbClr val="5d5d60"/>
                </a:solidFill>
                <a:latin typeface="고양덕양 EB"/>
                <a:ea typeface="고양덕양 EB"/>
                <a:cs typeface="Courier New"/>
              </a:rPr>
              <a:t> 별도 계측 장비 없이 데이터를 재사용하는 방향으로 잡았습니다. </a:t>
            </a:r>
            <a:br>
              <a:rPr lang="ko-KR" altLang="en-US" sz="1800">
                <a:solidFill>
                  <a:srgbClr val="5d5d60"/>
                </a:solidFill>
                <a:latin typeface="고양덕양 EB"/>
                <a:ea typeface="고양덕양 EB"/>
                <a:cs typeface="Courier New"/>
              </a:rPr>
            </a:br>
            <a:r>
              <a:rPr lang="en-US" sz="1800">
                <a:solidFill>
                  <a:srgbClr val="5d5d60"/>
                </a:solidFill>
                <a:latin typeface="고양덕양 EB"/>
                <a:ea typeface="고양덕양 EB"/>
                <a:cs typeface="Courier New"/>
              </a:rPr>
              <a:t>단계 구분은 현재 설계 기준이며 구현 중 조정될 수 있습니다.</a:t>
            </a:r>
            <a:endParaRPr lang="en-US" sz="1800">
              <a:solidFill>
                <a:srgbClr val="5d5d60"/>
              </a:solidFill>
              <a:latin typeface="고양덕양 EB"/>
              <a:ea typeface="고양덕양 EB"/>
              <a:cs typeface="Courier New"/>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7">
    <p:bg>
      <p:bgPr shadeToTitle="0">
        <a:solidFill>
          <a:srgbClr val="f2f2f3"/>
        </a:solidFill>
      </p:bgPr>
    </p:bg>
    <p:spTree>
      <p:nvGrpSpPr>
        <p:cNvPr id="1" name=""/>
        <p:cNvGrpSpPr/>
        <p:nvPr/>
      </p:nvGrpSpPr>
      <p:grpSpPr>
        <a:xfrm>
          <a:off x="0" y="0"/>
          <a:ext cx="0" cy="0"/>
          <a:chOff x="0" y="0"/>
          <a:chExt cx="0" cy="0"/>
        </a:xfrm>
      </p:grpSpPr>
      <p:sp>
        <p:nvSpPr>
          <p:cNvPr id="2" name="Text 0"/>
          <p:cNvSpPr/>
          <p:nvPr/>
        </p:nvSpPr>
        <p:spPr>
          <a:xfrm>
            <a:off x="1047750" y="876300"/>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24">
                <a:solidFill>
                  <a:srgbClr val="416180"/>
                </a:solidFill>
                <a:latin typeface="고양덕양 EB"/>
                <a:ea typeface="고양덕양 EB"/>
                <a:cs typeface="Courier New"/>
              </a:rPr>
              <a:t>Ⅰ </a:t>
            </a:r>
            <a:r>
              <a:rPr lang="en-US" sz="1800" b="0" kern="0" spc="324">
                <a:solidFill>
                  <a:srgbClr val="416180"/>
                </a:solidFill>
                <a:ea typeface="고양덕양 EB"/>
                <a:cs typeface="Courier New"/>
              </a:rPr>
              <a:t>—</a:t>
            </a:r>
            <a:r>
              <a:rPr lang="en-US" sz="1800" b="0" kern="0" spc="324">
                <a:solidFill>
                  <a:srgbClr val="416180"/>
                </a:solidFill>
                <a:latin typeface="고양덕양 EB"/>
                <a:ea typeface="고양덕양 EB"/>
                <a:cs typeface="Courier New"/>
              </a:rPr>
              <a:t> 03</a:t>
            </a:r>
            <a:endParaRPr lang="en-US" sz="1800">
              <a:latin typeface="고양덕양 EB"/>
            </a:endParaRPr>
          </a:p>
        </p:txBody>
      </p:sp>
      <p:sp>
        <p:nvSpPr>
          <p:cNvPr id="3" name="Text 1"/>
          <p:cNvSpPr/>
          <p:nvPr/>
        </p:nvSpPr>
        <p:spPr>
          <a:xfrm>
            <a:off x="1047750" y="1440061"/>
            <a:ext cx="17811750" cy="708571"/>
          </a:xfrm>
          <a:prstGeom prst="rect">
            <a:avLst/>
          </a:prstGeom>
          <a:noFill/>
          <a:ln/>
        </p:spPr>
        <p:txBody>
          <a:bodyPr wrap="square" lIns="25400" tIns="25400" rIns="25400" bIns="25400" anchor="t">
            <a:normAutofit/>
          </a:bodyPr>
          <a:lstStyle/>
          <a:p>
            <a:pPr marL="0" indent="0" algn="l">
              <a:lnSpc>
                <a:spcPct val="95135"/>
              </a:lnSpc>
              <a:buNone/>
              <a:defRPr/>
            </a:pPr>
            <a:r>
              <a:rPr lang="en-US" sz="4800" b="1" kern="0" spc="-72">
                <a:solidFill>
                  <a:srgbClr val="1d1f20"/>
                </a:solidFill>
                <a:latin typeface="고양덕양 EB"/>
                <a:ea typeface="고양덕양 EB"/>
                <a:cs typeface="Arial"/>
              </a:rPr>
              <a:t>권한 계층과 지점 격리</a:t>
            </a:r>
            <a:endParaRPr lang="en-US" sz="4800">
              <a:latin typeface="고양덕양 EB"/>
            </a:endParaRPr>
          </a:p>
        </p:txBody>
      </p:sp>
      <p:sp>
        <p:nvSpPr>
          <p:cNvPr id="4" name="Shape 2"/>
          <p:cNvSpPr/>
          <p:nvPr/>
        </p:nvSpPr>
        <p:spPr>
          <a:xfrm>
            <a:off x="1047750" y="2415332"/>
            <a:ext cx="16192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 name="Shape 3"/>
          <p:cNvSpPr/>
          <p:nvPr/>
        </p:nvSpPr>
        <p:spPr>
          <a:xfrm>
            <a:off x="1047750" y="2843957"/>
            <a:ext cx="3848100" cy="2648694"/>
          </a:xfrm>
          <a:prstGeom prst="rect">
            <a:avLst/>
          </a:prstGeom>
          <a:ln w="9525">
            <a:solidFill>
              <a:srgbClr val="1f1f1f">
                <a:alpha val="16000"/>
              </a:srgbClr>
            </a:solidFill>
            <a:prstDash val="solid"/>
          </a:ln>
        </p:spPr>
        <p:txBody>
          <a:bodyPr anchor="ctr"/>
          <a:p>
            <a:pPr algn="ctr">
              <a:defRPr/>
            </a:pPr>
            <a:endParaRPr lang="ko-KR" altLang="en-US">
              <a:latin typeface="고양덕양 EB"/>
            </a:endParaRPr>
          </a:p>
        </p:txBody>
      </p:sp>
      <p:sp>
        <p:nvSpPr>
          <p:cNvPr id="6" name="Text 4"/>
          <p:cNvSpPr/>
          <p:nvPr/>
        </p:nvSpPr>
        <p:spPr>
          <a:xfrm>
            <a:off x="1343025" y="3196382"/>
            <a:ext cx="3583305"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SUPER_ADMIN</a:t>
            </a:r>
            <a:endParaRPr lang="en-US" sz="1800">
              <a:latin typeface="고양덕양 EB"/>
            </a:endParaRPr>
          </a:p>
        </p:txBody>
      </p:sp>
      <p:sp>
        <p:nvSpPr>
          <p:cNvPr id="7" name="Text 5"/>
          <p:cNvSpPr/>
          <p:nvPr/>
        </p:nvSpPr>
        <p:spPr>
          <a:xfrm>
            <a:off x="1343025" y="3683943"/>
            <a:ext cx="3583305" cy="599033"/>
          </a:xfrm>
          <a:prstGeom prst="rect">
            <a:avLst/>
          </a:prstGeom>
          <a:noFill/>
          <a:ln/>
        </p:spPr>
        <p:txBody>
          <a:bodyPr wrap="square" lIns="25400" tIns="25400" rIns="25400" bIns="25400" anchor="t">
            <a:normAutofit/>
          </a:bodyPr>
          <a:lstStyle/>
          <a:p>
            <a:pPr marL="0" indent="0" algn="l">
              <a:lnSpc>
                <a:spcPct val="136977"/>
              </a:lnSpc>
              <a:buNone/>
              <a:defRPr/>
            </a:pPr>
            <a:r>
              <a:rPr lang="en-US" sz="2850">
                <a:solidFill>
                  <a:srgbClr val="1d1f20"/>
                </a:solidFill>
                <a:latin typeface="고양덕양 EB"/>
                <a:ea typeface="고양덕양 EB"/>
                <a:cs typeface="Arial"/>
              </a:rPr>
              <a:t>본사 관리자</a:t>
            </a:r>
            <a:endParaRPr lang="en-US" sz="2850">
              <a:latin typeface="고양덕양 EB"/>
            </a:endParaRPr>
          </a:p>
        </p:txBody>
      </p:sp>
      <p:sp>
        <p:nvSpPr>
          <p:cNvPr id="8" name="Text 6"/>
          <p:cNvSpPr/>
          <p:nvPr/>
        </p:nvSpPr>
        <p:spPr>
          <a:xfrm>
            <a:off x="1343025" y="4397276"/>
            <a:ext cx="3355277" cy="781050"/>
          </a:xfrm>
          <a:prstGeom prst="rect">
            <a:avLst/>
          </a:prstGeom>
          <a:noFill/>
          <a:ln/>
        </p:spPr>
        <p:txBody>
          <a:bodyPr wrap="square" lIns="25400" tIns="25400" rIns="25400" bIns="25400" anchor="t">
            <a:normAutofit/>
          </a:bodyPr>
          <a:lstStyle/>
          <a:p>
            <a:pPr marL="0" indent="0" algn="l">
              <a:lnSpc>
                <a:spcPct val="125806"/>
              </a:lnSpc>
              <a:buNone/>
              <a:defRPr/>
            </a:pPr>
            <a:r>
              <a:rPr lang="en-US" sz="1950">
                <a:solidFill>
                  <a:srgbClr val="424244"/>
                </a:solidFill>
                <a:latin typeface="고양덕양 EB"/>
                <a:ea typeface="고양덕양 EB"/>
                <a:cs typeface="Arial"/>
              </a:rPr>
              <a:t>전 지점 조회, 계정 발급, </a:t>
            </a:r>
            <a:br>
              <a:rPr lang="ko-KR" altLang="en-US" sz="1950">
                <a:solidFill>
                  <a:srgbClr val="424244"/>
                </a:solidFill>
                <a:latin typeface="고양덕양 EB"/>
                <a:ea typeface="고양덕양 EB"/>
                <a:cs typeface="Arial"/>
              </a:rPr>
            </a:br>
            <a:r>
              <a:rPr lang="en-US" sz="1950">
                <a:solidFill>
                  <a:srgbClr val="424244"/>
                </a:solidFill>
                <a:latin typeface="고양덕양 EB"/>
                <a:ea typeface="고양덕양 EB"/>
                <a:cs typeface="Arial"/>
              </a:rPr>
              <a:t>직원 권한 전환</a:t>
            </a:r>
            <a:endParaRPr lang="en-US" sz="1950">
              <a:solidFill>
                <a:srgbClr val="424244"/>
              </a:solidFill>
              <a:latin typeface="고양덕양 EB"/>
              <a:ea typeface="고양덕양 EB"/>
              <a:cs typeface="Arial"/>
            </a:endParaRPr>
          </a:p>
        </p:txBody>
      </p:sp>
      <p:sp>
        <p:nvSpPr>
          <p:cNvPr id="9" name="Shape 7"/>
          <p:cNvSpPr/>
          <p:nvPr/>
        </p:nvSpPr>
        <p:spPr>
          <a:xfrm>
            <a:off x="5162550" y="2843957"/>
            <a:ext cx="3848100" cy="2648694"/>
          </a:xfrm>
          <a:prstGeom prst="rect">
            <a:avLst/>
          </a:prstGeom>
          <a:ln w="9525">
            <a:solidFill>
              <a:srgbClr val="1f1f1f">
                <a:alpha val="16000"/>
              </a:srgbClr>
            </a:solidFill>
            <a:prstDash val="solid"/>
          </a:ln>
        </p:spPr>
        <p:txBody>
          <a:bodyPr anchor="ctr"/>
          <a:p>
            <a:pPr algn="ctr">
              <a:defRPr/>
            </a:pPr>
            <a:endParaRPr lang="ko-KR" altLang="en-US">
              <a:latin typeface="고양덕양 EB"/>
            </a:endParaRPr>
          </a:p>
        </p:txBody>
      </p:sp>
      <p:sp>
        <p:nvSpPr>
          <p:cNvPr id="10" name="Text 8"/>
          <p:cNvSpPr/>
          <p:nvPr/>
        </p:nvSpPr>
        <p:spPr>
          <a:xfrm>
            <a:off x="5457825" y="3196382"/>
            <a:ext cx="3583305"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BRANCH_ADMIN</a:t>
            </a:r>
            <a:endParaRPr lang="en-US" sz="1800">
              <a:latin typeface="고양덕양 EB"/>
            </a:endParaRPr>
          </a:p>
        </p:txBody>
      </p:sp>
      <p:sp>
        <p:nvSpPr>
          <p:cNvPr id="11" name="Text 9"/>
          <p:cNvSpPr/>
          <p:nvPr/>
        </p:nvSpPr>
        <p:spPr>
          <a:xfrm>
            <a:off x="5457825" y="3683943"/>
            <a:ext cx="3583305" cy="599033"/>
          </a:xfrm>
          <a:prstGeom prst="rect">
            <a:avLst/>
          </a:prstGeom>
          <a:noFill/>
          <a:ln/>
        </p:spPr>
        <p:txBody>
          <a:bodyPr wrap="square" lIns="25400" tIns="25400" rIns="25400" bIns="25400" anchor="t">
            <a:normAutofit/>
          </a:bodyPr>
          <a:lstStyle/>
          <a:p>
            <a:pPr marL="0" indent="0" algn="l">
              <a:lnSpc>
                <a:spcPct val="136977"/>
              </a:lnSpc>
              <a:buNone/>
              <a:defRPr/>
            </a:pPr>
            <a:r>
              <a:rPr lang="en-US" sz="2850">
                <a:solidFill>
                  <a:srgbClr val="1d1f20"/>
                </a:solidFill>
                <a:latin typeface="고양덕양 EB"/>
                <a:ea typeface="고양덕양 EB"/>
                <a:cs typeface="Arial"/>
              </a:rPr>
              <a:t>지점 관리자</a:t>
            </a:r>
            <a:endParaRPr lang="en-US" sz="2850">
              <a:latin typeface="고양덕양 EB"/>
            </a:endParaRPr>
          </a:p>
        </p:txBody>
      </p:sp>
      <p:sp>
        <p:nvSpPr>
          <p:cNvPr id="12" name="Text 10"/>
          <p:cNvSpPr/>
          <p:nvPr/>
        </p:nvSpPr>
        <p:spPr>
          <a:xfrm>
            <a:off x="5457825" y="4397276"/>
            <a:ext cx="3355277" cy="781050"/>
          </a:xfrm>
          <a:prstGeom prst="rect">
            <a:avLst/>
          </a:prstGeom>
          <a:noFill/>
          <a:ln/>
        </p:spPr>
        <p:txBody>
          <a:bodyPr wrap="square" lIns="25400" tIns="25400" rIns="25400" bIns="25400" anchor="t">
            <a:normAutofit/>
          </a:bodyPr>
          <a:lstStyle/>
          <a:p>
            <a:pPr marL="0" indent="0" algn="l">
              <a:lnSpc>
                <a:spcPct val="125806"/>
              </a:lnSpc>
              <a:buNone/>
              <a:defRPr/>
            </a:pPr>
            <a:r>
              <a:rPr lang="en-US" sz="1950">
                <a:solidFill>
                  <a:srgbClr val="424244"/>
                </a:solidFill>
                <a:latin typeface="고양덕양 EB"/>
                <a:ea typeface="고양덕양 EB"/>
                <a:cs typeface="Arial"/>
              </a:rPr>
              <a:t>본인 지점의 </a:t>
            </a:r>
            <a:br>
              <a:rPr lang="ko-KR" altLang="en-US" sz="1950">
                <a:solidFill>
                  <a:srgbClr val="424244"/>
                </a:solidFill>
                <a:latin typeface="고양덕양 EB"/>
                <a:ea typeface="고양덕양 EB"/>
                <a:cs typeface="Arial"/>
              </a:rPr>
            </a:br>
            <a:r>
              <a:rPr lang="en-US" sz="1950">
                <a:solidFill>
                  <a:srgbClr val="424244"/>
                </a:solidFill>
                <a:latin typeface="고양덕양 EB"/>
                <a:ea typeface="고양덕양 EB"/>
                <a:cs typeface="Arial"/>
              </a:rPr>
              <a:t>직원·회원·프로그램 관리</a:t>
            </a:r>
            <a:endParaRPr lang="en-US" sz="1950">
              <a:solidFill>
                <a:srgbClr val="424244"/>
              </a:solidFill>
              <a:latin typeface="고양덕양 EB"/>
              <a:ea typeface="고양덕양 EB"/>
              <a:cs typeface="Arial"/>
            </a:endParaRPr>
          </a:p>
        </p:txBody>
      </p:sp>
      <p:sp>
        <p:nvSpPr>
          <p:cNvPr id="13" name="Shape 11"/>
          <p:cNvSpPr/>
          <p:nvPr/>
        </p:nvSpPr>
        <p:spPr>
          <a:xfrm>
            <a:off x="9277350" y="2843957"/>
            <a:ext cx="3848100" cy="2648694"/>
          </a:xfrm>
          <a:prstGeom prst="rect">
            <a:avLst/>
          </a:prstGeom>
          <a:ln w="9525">
            <a:solidFill>
              <a:srgbClr val="1f1f1f">
                <a:alpha val="16000"/>
              </a:srgbClr>
            </a:solidFill>
            <a:prstDash val="solid"/>
          </a:ln>
        </p:spPr>
        <p:txBody>
          <a:bodyPr anchor="ctr"/>
          <a:p>
            <a:pPr algn="ctr">
              <a:defRPr/>
            </a:pPr>
            <a:endParaRPr lang="ko-KR" altLang="en-US">
              <a:latin typeface="고양덕양 EB"/>
            </a:endParaRPr>
          </a:p>
        </p:txBody>
      </p:sp>
      <p:sp>
        <p:nvSpPr>
          <p:cNvPr id="14" name="Text 12"/>
          <p:cNvSpPr/>
          <p:nvPr/>
        </p:nvSpPr>
        <p:spPr>
          <a:xfrm>
            <a:off x="9572625" y="3196382"/>
            <a:ext cx="3583305"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STAFF</a:t>
            </a:r>
            <a:endParaRPr lang="en-US" sz="1800">
              <a:latin typeface="고양덕양 EB"/>
            </a:endParaRPr>
          </a:p>
        </p:txBody>
      </p:sp>
      <p:sp>
        <p:nvSpPr>
          <p:cNvPr id="15" name="Text 13"/>
          <p:cNvSpPr/>
          <p:nvPr/>
        </p:nvSpPr>
        <p:spPr>
          <a:xfrm>
            <a:off x="9572625" y="3683943"/>
            <a:ext cx="3583305" cy="599033"/>
          </a:xfrm>
          <a:prstGeom prst="rect">
            <a:avLst/>
          </a:prstGeom>
          <a:noFill/>
          <a:ln/>
        </p:spPr>
        <p:txBody>
          <a:bodyPr wrap="square" lIns="25400" tIns="25400" rIns="25400" bIns="25400" anchor="t">
            <a:normAutofit/>
          </a:bodyPr>
          <a:lstStyle/>
          <a:p>
            <a:pPr marL="0" indent="0" algn="l">
              <a:lnSpc>
                <a:spcPct val="136977"/>
              </a:lnSpc>
              <a:buNone/>
              <a:defRPr/>
            </a:pPr>
            <a:r>
              <a:rPr lang="en-US" sz="2850">
                <a:solidFill>
                  <a:srgbClr val="1d1f20"/>
                </a:solidFill>
                <a:latin typeface="고양덕양 EB"/>
                <a:ea typeface="고양덕양 EB"/>
                <a:cs typeface="Arial"/>
              </a:rPr>
              <a:t>일반 직원</a:t>
            </a:r>
            <a:endParaRPr lang="en-US" sz="2850">
              <a:latin typeface="고양덕양 EB"/>
            </a:endParaRPr>
          </a:p>
        </p:txBody>
      </p:sp>
      <p:sp>
        <p:nvSpPr>
          <p:cNvPr id="16" name="Text 14"/>
          <p:cNvSpPr/>
          <p:nvPr/>
        </p:nvSpPr>
        <p:spPr>
          <a:xfrm>
            <a:off x="9572625" y="4397276"/>
            <a:ext cx="3355277" cy="781050"/>
          </a:xfrm>
          <a:prstGeom prst="rect">
            <a:avLst/>
          </a:prstGeom>
          <a:noFill/>
          <a:ln/>
        </p:spPr>
        <p:txBody>
          <a:bodyPr wrap="square" lIns="25400" tIns="25400" rIns="25400" bIns="25400" anchor="t">
            <a:normAutofit/>
          </a:bodyPr>
          <a:lstStyle/>
          <a:p>
            <a:pPr marL="0" indent="0" algn="l">
              <a:lnSpc>
                <a:spcPct val="125806"/>
              </a:lnSpc>
              <a:buNone/>
              <a:defRPr/>
            </a:pPr>
            <a:r>
              <a:rPr lang="en-US" sz="1950">
                <a:solidFill>
                  <a:srgbClr val="424244"/>
                </a:solidFill>
                <a:latin typeface="고양덕양 EB"/>
                <a:ea typeface="고양덕양 EB"/>
                <a:cs typeface="Arial"/>
              </a:rPr>
              <a:t>본인 근태·업무일지, </a:t>
            </a:r>
            <a:br>
              <a:rPr lang="ko-KR" altLang="en-US" sz="1950">
                <a:solidFill>
                  <a:srgbClr val="424244"/>
                </a:solidFill>
                <a:latin typeface="고양덕양 EB"/>
                <a:ea typeface="고양덕양 EB"/>
                <a:cs typeface="Arial"/>
              </a:rPr>
            </a:br>
            <a:r>
              <a:rPr lang="en-US" sz="1950">
                <a:solidFill>
                  <a:srgbClr val="424244"/>
                </a:solidFill>
                <a:latin typeface="고양덕양 EB"/>
                <a:ea typeface="고양덕양 EB"/>
                <a:cs typeface="Arial"/>
              </a:rPr>
              <a:t>담당 회원만 열람</a:t>
            </a:r>
            <a:endParaRPr lang="en-US" sz="1950">
              <a:solidFill>
                <a:srgbClr val="424244"/>
              </a:solidFill>
              <a:latin typeface="고양덕양 EB"/>
              <a:ea typeface="고양덕양 EB"/>
              <a:cs typeface="Arial"/>
            </a:endParaRPr>
          </a:p>
        </p:txBody>
      </p:sp>
      <p:sp>
        <p:nvSpPr>
          <p:cNvPr id="17" name="Shape 15"/>
          <p:cNvSpPr/>
          <p:nvPr/>
        </p:nvSpPr>
        <p:spPr>
          <a:xfrm>
            <a:off x="13392150" y="2843957"/>
            <a:ext cx="3848100" cy="2648694"/>
          </a:xfrm>
          <a:prstGeom prst="rect">
            <a:avLst/>
          </a:prstGeom>
          <a:ln w="9525">
            <a:solidFill>
              <a:srgbClr val="1f1f1f">
                <a:alpha val="16000"/>
              </a:srgbClr>
            </a:solidFill>
            <a:prstDash val="solid"/>
          </a:ln>
        </p:spPr>
        <p:txBody>
          <a:bodyPr anchor="ctr"/>
          <a:p>
            <a:pPr algn="ctr">
              <a:defRPr/>
            </a:pPr>
            <a:endParaRPr lang="ko-KR" altLang="en-US">
              <a:latin typeface="고양덕양 EB"/>
            </a:endParaRPr>
          </a:p>
        </p:txBody>
      </p:sp>
      <p:sp>
        <p:nvSpPr>
          <p:cNvPr id="18" name="Text 16"/>
          <p:cNvSpPr/>
          <p:nvPr/>
        </p:nvSpPr>
        <p:spPr>
          <a:xfrm>
            <a:off x="13687425" y="3196382"/>
            <a:ext cx="3583305"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MEMBER</a:t>
            </a:r>
            <a:endParaRPr lang="en-US" sz="1800">
              <a:latin typeface="고양덕양 EB"/>
            </a:endParaRPr>
          </a:p>
        </p:txBody>
      </p:sp>
      <p:sp>
        <p:nvSpPr>
          <p:cNvPr id="19" name="Text 17"/>
          <p:cNvSpPr/>
          <p:nvPr/>
        </p:nvSpPr>
        <p:spPr>
          <a:xfrm>
            <a:off x="13687425" y="3683943"/>
            <a:ext cx="3583305" cy="599033"/>
          </a:xfrm>
          <a:prstGeom prst="rect">
            <a:avLst/>
          </a:prstGeom>
          <a:noFill/>
          <a:ln/>
        </p:spPr>
        <p:txBody>
          <a:bodyPr wrap="square" lIns="25400" tIns="25400" rIns="25400" bIns="25400" anchor="t">
            <a:normAutofit/>
          </a:bodyPr>
          <a:lstStyle/>
          <a:p>
            <a:pPr marL="0" indent="0" algn="l">
              <a:lnSpc>
                <a:spcPct val="136977"/>
              </a:lnSpc>
              <a:buNone/>
              <a:defRPr/>
            </a:pPr>
            <a:r>
              <a:rPr lang="en-US" sz="2850">
                <a:solidFill>
                  <a:srgbClr val="1d1f20"/>
                </a:solidFill>
                <a:latin typeface="고양덕양 EB"/>
                <a:ea typeface="고양덕양 EB"/>
                <a:cs typeface="Arial"/>
              </a:rPr>
              <a:t>회원</a:t>
            </a:r>
            <a:endParaRPr lang="en-US" sz="2850">
              <a:latin typeface="고양덕양 EB"/>
            </a:endParaRPr>
          </a:p>
        </p:txBody>
      </p:sp>
      <p:sp>
        <p:nvSpPr>
          <p:cNvPr id="20" name="Text 18"/>
          <p:cNvSpPr/>
          <p:nvPr/>
        </p:nvSpPr>
        <p:spPr>
          <a:xfrm>
            <a:off x="13687425" y="4397276"/>
            <a:ext cx="3355277" cy="781050"/>
          </a:xfrm>
          <a:prstGeom prst="rect">
            <a:avLst/>
          </a:prstGeom>
          <a:noFill/>
          <a:ln/>
        </p:spPr>
        <p:txBody>
          <a:bodyPr wrap="square" lIns="25400" tIns="25400" rIns="25400" bIns="25400" anchor="t">
            <a:normAutofit/>
          </a:bodyPr>
          <a:lstStyle/>
          <a:p>
            <a:pPr marL="0" indent="0" algn="l">
              <a:lnSpc>
                <a:spcPct val="125806"/>
              </a:lnSpc>
              <a:buNone/>
              <a:defRPr/>
            </a:pPr>
            <a:r>
              <a:rPr lang="en-US" sz="1950">
                <a:solidFill>
                  <a:srgbClr val="424244"/>
                </a:solidFill>
                <a:latin typeface="고양덕양 EB"/>
                <a:ea typeface="고양덕양 EB"/>
                <a:cs typeface="Arial"/>
              </a:rPr>
              <a:t>본인 예약·결제·PT </a:t>
            </a:r>
            <a:br>
              <a:rPr lang="ko-KR" altLang="en-US" sz="1950">
                <a:solidFill>
                  <a:srgbClr val="424244"/>
                </a:solidFill>
                <a:latin typeface="고양덕양 EB"/>
                <a:ea typeface="고양덕양 EB"/>
                <a:cs typeface="Arial"/>
              </a:rPr>
            </a:br>
            <a:r>
              <a:rPr lang="en-US" sz="1950">
                <a:solidFill>
                  <a:srgbClr val="424244"/>
                </a:solidFill>
                <a:latin typeface="고양덕양 EB"/>
                <a:ea typeface="고양덕양 EB"/>
                <a:cs typeface="Arial"/>
              </a:rPr>
              <a:t>잔여 세션 조회</a:t>
            </a:r>
            <a:endParaRPr lang="en-US" sz="1950">
              <a:solidFill>
                <a:srgbClr val="424244"/>
              </a:solidFill>
              <a:latin typeface="고양덕양 EB"/>
              <a:ea typeface="고양덕양 EB"/>
              <a:cs typeface="Arial"/>
            </a:endParaRPr>
          </a:p>
        </p:txBody>
      </p:sp>
      <p:sp>
        <p:nvSpPr>
          <p:cNvPr id="21" name="Shape 19"/>
          <p:cNvSpPr/>
          <p:nvPr/>
        </p:nvSpPr>
        <p:spPr>
          <a:xfrm>
            <a:off x="1047750" y="5987951"/>
            <a:ext cx="16192500" cy="2782044"/>
          </a:xfrm>
          <a:prstGeom prst="rect">
            <a:avLst/>
          </a:prstGeom>
          <a:solidFill>
            <a:srgbClr val="eef6ff"/>
          </a:solidFill>
          <a:ln/>
        </p:spPr>
        <p:txBody>
          <a:bodyPr anchor="ctr"/>
          <a:p>
            <a:pPr algn="ctr">
              <a:defRPr/>
            </a:pPr>
            <a:endParaRPr lang="ko-KR" altLang="en-US">
              <a:latin typeface="고양덕양 EB"/>
            </a:endParaRPr>
          </a:p>
        </p:txBody>
      </p:sp>
      <p:sp>
        <p:nvSpPr>
          <p:cNvPr id="22" name="Shape 20"/>
          <p:cNvSpPr/>
          <p:nvPr/>
        </p:nvSpPr>
        <p:spPr>
          <a:xfrm>
            <a:off x="1047750" y="5987951"/>
            <a:ext cx="28575" cy="2782044"/>
          </a:xfrm>
          <a:prstGeom prst="rect">
            <a:avLst/>
          </a:prstGeom>
          <a:solidFill>
            <a:srgbClr val="5980a6"/>
          </a:solidFill>
          <a:ln/>
        </p:spPr>
        <p:txBody>
          <a:bodyPr anchor="ctr"/>
          <a:p>
            <a:pPr algn="ctr">
              <a:defRPr/>
            </a:pPr>
            <a:endParaRPr lang="ko-KR" altLang="en-US">
              <a:latin typeface="고양덕양 EB"/>
            </a:endParaRPr>
          </a:p>
        </p:txBody>
      </p:sp>
      <p:sp>
        <p:nvSpPr>
          <p:cNvPr id="23" name="Text 21"/>
          <p:cNvSpPr/>
          <p:nvPr/>
        </p:nvSpPr>
        <p:spPr>
          <a:xfrm>
            <a:off x="1457325" y="6330851"/>
            <a:ext cx="16942118" cy="599033"/>
          </a:xfrm>
          <a:prstGeom prst="rect">
            <a:avLst/>
          </a:prstGeom>
          <a:noFill/>
          <a:ln/>
        </p:spPr>
        <p:txBody>
          <a:bodyPr wrap="square" lIns="25400" tIns="25400" rIns="25400" bIns="25400" anchor="t">
            <a:normAutofit/>
          </a:bodyPr>
          <a:lstStyle/>
          <a:p>
            <a:pPr marL="0" indent="0" algn="l">
              <a:lnSpc>
                <a:spcPct val="136977"/>
              </a:lnSpc>
              <a:buNone/>
              <a:defRPr/>
            </a:pPr>
            <a:r>
              <a:rPr lang="en-US" sz="2850">
                <a:solidFill>
                  <a:srgbClr val="1d1f20"/>
                </a:solidFill>
                <a:latin typeface="고양덕양 EB"/>
                <a:ea typeface="고양덕양 EB"/>
                <a:cs typeface="Arial"/>
              </a:rPr>
              <a:t>설계 원칙 </a:t>
            </a:r>
            <a:r>
              <a:rPr lang="en-US" sz="2850">
                <a:solidFill>
                  <a:srgbClr val="1d1f20"/>
                </a:solidFill>
                <a:ea typeface="고양덕양 EB"/>
                <a:cs typeface="Arial"/>
              </a:rPr>
              <a:t>—</a:t>
            </a:r>
            <a:r>
              <a:rPr lang="en-US" sz="2850">
                <a:solidFill>
                  <a:srgbClr val="1d1f20"/>
                </a:solidFill>
                <a:latin typeface="고양덕양 EB"/>
                <a:ea typeface="고양덕양 EB"/>
                <a:cs typeface="Arial"/>
              </a:rPr>
              <a:t> 지점 격리는 선택이 아니라 항상 강제되는 동작</a:t>
            </a:r>
            <a:endParaRPr lang="en-US" sz="2850">
              <a:latin typeface="고양덕양 EB"/>
            </a:endParaRPr>
          </a:p>
        </p:txBody>
      </p:sp>
      <p:sp>
        <p:nvSpPr>
          <p:cNvPr id="24" name="Text 22"/>
          <p:cNvSpPr/>
          <p:nvPr/>
        </p:nvSpPr>
        <p:spPr>
          <a:xfrm>
            <a:off x="1457325" y="7025134"/>
            <a:ext cx="16942118"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2c455d"/>
                </a:solidFill>
                <a:latin typeface="고양덕양 EB"/>
                <a:ea typeface="고양덕양 EB"/>
                <a:cs typeface="Courier New"/>
              </a:rPr>
              <a:t>권한 단계 수와 이름은 현재 안이며, 실제 운영 시나리오를 더 검토하면서 조정될 수 있습니다.</a:t>
            </a:r>
            <a:endParaRPr lang="en-US" sz="1800">
              <a:latin typeface="고양덕양 EB"/>
            </a:endParaRPr>
          </a:p>
        </p:txBody>
      </p:sp>
      <p:sp>
        <p:nvSpPr>
          <p:cNvPr id="25" name="Text 23"/>
          <p:cNvSpPr/>
          <p:nvPr/>
        </p:nvSpPr>
        <p:spPr>
          <a:xfrm>
            <a:off x="1457325" y="7512695"/>
            <a:ext cx="15863983" cy="952500"/>
          </a:xfrm>
          <a:prstGeom prst="rect">
            <a:avLst/>
          </a:prstGeom>
          <a:noFill/>
          <a:ln/>
        </p:spPr>
        <p:txBody>
          <a:bodyPr wrap="square" lIns="25400" tIns="25400" rIns="25400" bIns="25400" anchor="t">
            <a:normAutofit/>
          </a:bodyPr>
          <a:lstStyle/>
          <a:p>
            <a:pPr marL="0" indent="0" algn="l">
              <a:lnSpc>
                <a:spcPct val="129729"/>
              </a:lnSpc>
              <a:buNone/>
              <a:defRPr/>
            </a:pPr>
            <a:r>
              <a:rPr lang="en-US" sz="2400">
                <a:solidFill>
                  <a:srgbClr val="424244"/>
                </a:solidFill>
                <a:latin typeface="고양덕양 EB"/>
                <a:ea typeface="고양덕양 EB"/>
                <a:cs typeface="Arial"/>
              </a:rPr>
              <a:t>모든 데이터에 소속 지점을 표시해두고, 요청이 들어올 때마다 서버가 본인 지점 여부를 확인하도록 설계했습니다. </a:t>
            </a:r>
            <a:br>
              <a:rPr lang="ko-KR" altLang="en-US" sz="2400">
                <a:solidFill>
                  <a:srgbClr val="424244"/>
                </a:solidFill>
                <a:latin typeface="고양덕양 EB"/>
                <a:ea typeface="고양덕양 EB"/>
                <a:cs typeface="Arial"/>
              </a:rPr>
            </a:br>
            <a:r>
              <a:rPr lang="en-US" sz="2400">
                <a:solidFill>
                  <a:srgbClr val="424244"/>
                </a:solidFill>
                <a:latin typeface="고양덕양 EB"/>
                <a:ea typeface="고양덕양 EB"/>
                <a:cs typeface="Arial"/>
              </a:rPr>
              <a:t>편의점 본사 시스템에서 A매장 점주가 B매장 매출을 볼 수 없는 것과 같은 구조입니다.</a:t>
            </a:r>
            <a:endParaRPr lang="en-US" sz="2400">
              <a:solidFill>
                <a:srgbClr val="424244"/>
              </a:solidFill>
              <a:latin typeface="고양덕양 EB"/>
              <a:ea typeface="고양덕양 EB"/>
              <a:cs typeface="Arial"/>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8">
    <p:bg>
      <p:bgPr shadeToTitle="0">
        <a:solidFill>
          <a:srgbClr val="1d2d3d"/>
        </a:solidFill>
      </p:bgPr>
    </p:bg>
    <p:spTree>
      <p:nvGrpSpPr>
        <p:cNvPr id="1" name=""/>
        <p:cNvGrpSpPr/>
        <p:nvPr/>
      </p:nvGrpSpPr>
      <p:grpSpPr>
        <a:xfrm>
          <a:off x="0" y="0"/>
          <a:ext cx="0" cy="0"/>
          <a:chOff x="0" y="0"/>
          <a:chExt cx="0" cy="0"/>
        </a:xfrm>
      </p:grpSpPr>
      <p:sp>
        <p:nvSpPr>
          <p:cNvPr id="2" name="Text 0"/>
          <p:cNvSpPr/>
          <p:nvPr/>
        </p:nvSpPr>
        <p:spPr>
          <a:xfrm>
            <a:off x="1047750" y="4146054"/>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60">
                <a:solidFill>
                  <a:srgbClr val="b5d9fd"/>
                </a:solidFill>
                <a:latin typeface="고양덕양 EB"/>
                <a:ea typeface="고양덕양 EB"/>
                <a:cs typeface="Courier New"/>
              </a:rPr>
              <a:t>SECTION Ⅱ</a:t>
            </a:r>
            <a:endParaRPr lang="en-US" sz="1800">
              <a:latin typeface="고양덕양 EB"/>
            </a:endParaRPr>
          </a:p>
        </p:txBody>
      </p:sp>
      <p:sp>
        <p:nvSpPr>
          <p:cNvPr id="3" name="Text 1"/>
          <p:cNvSpPr/>
          <p:nvPr/>
        </p:nvSpPr>
        <p:spPr>
          <a:xfrm>
            <a:off x="1047750" y="4766965"/>
            <a:ext cx="17811750" cy="1126182"/>
          </a:xfrm>
          <a:prstGeom prst="rect">
            <a:avLst/>
          </a:prstGeom>
          <a:noFill/>
          <a:ln/>
        </p:spPr>
        <p:txBody>
          <a:bodyPr wrap="square" lIns="25400" tIns="25400" rIns="25400" bIns="25400" anchor="t">
            <a:normAutofit/>
          </a:bodyPr>
          <a:lstStyle/>
          <a:p>
            <a:pPr marL="0" indent="0" algn="l">
              <a:lnSpc>
                <a:spcPct val="88558"/>
              </a:lnSpc>
              <a:buNone/>
              <a:defRPr/>
            </a:pPr>
            <a:r>
              <a:rPr lang="en-US" sz="8400" b="0" kern="0" spc="-168">
                <a:solidFill>
                  <a:srgbClr val="f2f2f3"/>
                </a:solidFill>
                <a:latin typeface="고양덕양 EB"/>
                <a:ea typeface="고양덕양 EB"/>
                <a:cs typeface="Arial"/>
              </a:rPr>
              <a:t>제안요청서에서 프로젝트로</a:t>
            </a:r>
            <a:endParaRPr lang="en-US" sz="8400">
              <a:latin typeface="고양덕양 EB"/>
            </a:endParaRPr>
          </a:p>
        </p:txBody>
      </p:sp>
      <p:sp>
        <p:nvSpPr>
          <p:cNvPr id="4" name="Shape 2"/>
          <p:cNvSpPr/>
          <p:nvPr/>
        </p:nvSpPr>
        <p:spPr>
          <a:xfrm>
            <a:off x="1047750" y="6274147"/>
            <a:ext cx="2095500" cy="19050"/>
          </a:xfrm>
          <a:prstGeom prst="rect">
            <a:avLst/>
          </a:prstGeom>
          <a:solidFill>
            <a:srgbClr val="94bce3"/>
          </a:solidFill>
          <a:ln/>
        </p:spPr>
        <p:txBody>
          <a:bodyPr anchor="ctr"/>
          <a:p>
            <a:pPr algn="ctr">
              <a:defRPr/>
            </a:pPr>
            <a:endParaRPr lang="ko-KR" altLang="en-US">
              <a:latin typeface="고양덕양 EB"/>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9">
    <p:bg>
      <p:bgPr shadeToTitle="0">
        <a:solidFill>
          <a:srgbClr val="f2f2f3"/>
        </a:solidFill>
      </p:bgPr>
    </p:bg>
    <p:spTree>
      <p:nvGrpSpPr>
        <p:cNvPr id="1" name=""/>
        <p:cNvGrpSpPr/>
        <p:nvPr/>
      </p:nvGrpSpPr>
      <p:grpSpPr>
        <a:xfrm>
          <a:off x="0" y="0"/>
          <a:ext cx="0" cy="0"/>
          <a:chOff x="0" y="0"/>
          <a:chExt cx="0" cy="0"/>
        </a:xfrm>
      </p:grpSpPr>
      <p:sp>
        <p:nvSpPr>
          <p:cNvPr id="2" name="Text 0"/>
          <p:cNvSpPr/>
          <p:nvPr/>
        </p:nvSpPr>
        <p:spPr>
          <a:xfrm>
            <a:off x="1047750" y="876300"/>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24">
                <a:solidFill>
                  <a:srgbClr val="416180"/>
                </a:solidFill>
                <a:latin typeface="고양덕양 EB"/>
                <a:ea typeface="고양덕양 EB"/>
                <a:cs typeface="Courier New"/>
              </a:rPr>
              <a:t>Ⅱ </a:t>
            </a:r>
            <a:r>
              <a:rPr lang="en-US" sz="1800" b="0" kern="0" spc="324">
                <a:solidFill>
                  <a:srgbClr val="416180"/>
                </a:solidFill>
                <a:ea typeface="고양덕양 EB"/>
                <a:cs typeface="Courier New"/>
              </a:rPr>
              <a:t>—</a:t>
            </a:r>
            <a:r>
              <a:rPr lang="en-US" sz="1800" b="0" kern="0" spc="324">
                <a:solidFill>
                  <a:srgbClr val="416180"/>
                </a:solidFill>
                <a:latin typeface="고양덕양 EB"/>
                <a:ea typeface="고양덕양 EB"/>
                <a:cs typeface="Courier New"/>
              </a:rPr>
              <a:t> 01</a:t>
            </a:r>
            <a:endParaRPr lang="en-US" sz="1800">
              <a:latin typeface="고양덕양 EB"/>
            </a:endParaRPr>
          </a:p>
        </p:txBody>
      </p:sp>
      <p:sp>
        <p:nvSpPr>
          <p:cNvPr id="3" name="Text 1"/>
          <p:cNvSpPr/>
          <p:nvPr/>
        </p:nvSpPr>
        <p:spPr>
          <a:xfrm>
            <a:off x="1047750" y="1440061"/>
            <a:ext cx="17811750" cy="708571"/>
          </a:xfrm>
          <a:prstGeom prst="rect">
            <a:avLst/>
          </a:prstGeom>
          <a:noFill/>
          <a:ln/>
        </p:spPr>
        <p:txBody>
          <a:bodyPr wrap="square" lIns="25400" tIns="25400" rIns="25400" bIns="25400" anchor="t">
            <a:normAutofit/>
          </a:bodyPr>
          <a:lstStyle/>
          <a:p>
            <a:pPr marL="0" indent="0" algn="l">
              <a:lnSpc>
                <a:spcPct val="95135"/>
              </a:lnSpc>
              <a:buNone/>
              <a:defRPr/>
            </a:pPr>
            <a:r>
              <a:rPr lang="en-US" sz="4800" b="1" kern="0" spc="-72">
                <a:solidFill>
                  <a:srgbClr val="1d1f20"/>
                </a:solidFill>
                <a:latin typeface="고양덕양 EB"/>
                <a:ea typeface="고양덕양 EB"/>
                <a:cs typeface="Arial"/>
              </a:rPr>
              <a:t>요구사항 추적표</a:t>
            </a:r>
            <a:endParaRPr lang="en-US" sz="4800">
              <a:latin typeface="고양덕양 EB"/>
            </a:endParaRPr>
          </a:p>
        </p:txBody>
      </p:sp>
      <p:sp>
        <p:nvSpPr>
          <p:cNvPr id="4" name="Shape 2"/>
          <p:cNvSpPr/>
          <p:nvPr/>
        </p:nvSpPr>
        <p:spPr>
          <a:xfrm>
            <a:off x="1047750" y="2358182"/>
            <a:ext cx="16192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 name="Shape 3"/>
          <p:cNvSpPr/>
          <p:nvPr/>
        </p:nvSpPr>
        <p:spPr>
          <a:xfrm>
            <a:off x="1047750" y="3141018"/>
            <a:ext cx="800100" cy="9525"/>
          </a:xfrm>
          <a:prstGeom prst="rect">
            <a:avLst/>
          </a:prstGeom>
          <a:solidFill>
            <a:srgbClr val="1d1f20"/>
          </a:solidFill>
          <a:ln/>
        </p:spPr>
        <p:txBody>
          <a:bodyPr anchor="ctr"/>
          <a:p>
            <a:pPr algn="ctr">
              <a:defRPr/>
            </a:pPr>
            <a:endParaRPr lang="ko-KR" altLang="en-US">
              <a:latin typeface="고양덕양 EB"/>
            </a:endParaRPr>
          </a:p>
        </p:txBody>
      </p:sp>
      <p:sp>
        <p:nvSpPr>
          <p:cNvPr id="6" name="Text 4"/>
          <p:cNvSpPr/>
          <p:nvPr/>
        </p:nvSpPr>
        <p:spPr>
          <a:xfrm>
            <a:off x="1047750" y="2615357"/>
            <a:ext cx="87630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a:t>
            </a:r>
            <a:endParaRPr lang="en-US" sz="1800">
              <a:latin typeface="고양덕양 EB"/>
            </a:endParaRPr>
          </a:p>
        </p:txBody>
      </p:sp>
      <p:sp>
        <p:nvSpPr>
          <p:cNvPr id="7" name="Shape 5"/>
          <p:cNvSpPr/>
          <p:nvPr/>
        </p:nvSpPr>
        <p:spPr>
          <a:xfrm>
            <a:off x="2190750" y="3141018"/>
            <a:ext cx="2667000" cy="9525"/>
          </a:xfrm>
          <a:prstGeom prst="rect">
            <a:avLst/>
          </a:prstGeom>
          <a:solidFill>
            <a:srgbClr val="1d1f20"/>
          </a:solidFill>
          <a:ln/>
        </p:spPr>
        <p:txBody>
          <a:bodyPr anchor="ctr"/>
          <a:p>
            <a:pPr algn="ctr">
              <a:defRPr/>
            </a:pPr>
            <a:endParaRPr lang="ko-KR" altLang="en-US">
              <a:latin typeface="고양덕양 EB"/>
            </a:endParaRPr>
          </a:p>
        </p:txBody>
      </p:sp>
      <p:sp>
        <p:nvSpPr>
          <p:cNvPr id="8" name="Text 6"/>
          <p:cNvSpPr/>
          <p:nvPr/>
        </p:nvSpPr>
        <p:spPr>
          <a:xfrm>
            <a:off x="2190750" y="2615357"/>
            <a:ext cx="274701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요구사항명</a:t>
            </a:r>
            <a:endParaRPr lang="en-US" sz="1800">
              <a:latin typeface="고양덕양 EB"/>
            </a:endParaRPr>
          </a:p>
        </p:txBody>
      </p:sp>
      <p:sp>
        <p:nvSpPr>
          <p:cNvPr id="9" name="Shape 7"/>
          <p:cNvSpPr/>
          <p:nvPr/>
        </p:nvSpPr>
        <p:spPr>
          <a:xfrm>
            <a:off x="5200650" y="3141018"/>
            <a:ext cx="5848350" cy="9525"/>
          </a:xfrm>
          <a:prstGeom prst="rect">
            <a:avLst/>
          </a:prstGeom>
          <a:solidFill>
            <a:srgbClr val="1d1f20"/>
          </a:solidFill>
          <a:ln/>
        </p:spPr>
        <p:txBody>
          <a:bodyPr anchor="ctr"/>
          <a:p>
            <a:pPr algn="ctr">
              <a:defRPr/>
            </a:pPr>
            <a:endParaRPr lang="ko-KR" altLang="en-US">
              <a:latin typeface="고양덕양 EB"/>
            </a:endParaRPr>
          </a:p>
        </p:txBody>
      </p:sp>
      <p:sp>
        <p:nvSpPr>
          <p:cNvPr id="10" name="Text 8"/>
          <p:cNvSpPr/>
          <p:nvPr/>
        </p:nvSpPr>
        <p:spPr>
          <a:xfrm>
            <a:off x="5200650" y="2615357"/>
            <a:ext cx="602380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원문 내용</a:t>
            </a:r>
            <a:endParaRPr lang="en-US" sz="1800">
              <a:latin typeface="고양덕양 EB"/>
            </a:endParaRPr>
          </a:p>
        </p:txBody>
      </p:sp>
      <p:sp>
        <p:nvSpPr>
          <p:cNvPr id="11" name="Shape 9"/>
          <p:cNvSpPr/>
          <p:nvPr/>
        </p:nvSpPr>
        <p:spPr>
          <a:xfrm>
            <a:off x="11391900" y="3141018"/>
            <a:ext cx="5848350" cy="9525"/>
          </a:xfrm>
          <a:prstGeom prst="rect">
            <a:avLst/>
          </a:prstGeom>
          <a:solidFill>
            <a:srgbClr val="1d1f20"/>
          </a:solidFill>
          <a:ln/>
        </p:spPr>
        <p:txBody>
          <a:bodyPr anchor="ctr"/>
          <a:p>
            <a:pPr algn="ctr">
              <a:defRPr/>
            </a:pPr>
            <a:endParaRPr lang="ko-KR" altLang="en-US">
              <a:latin typeface="고양덕양 EB"/>
            </a:endParaRPr>
          </a:p>
        </p:txBody>
      </p:sp>
      <p:sp>
        <p:nvSpPr>
          <p:cNvPr id="12" name="Text 10"/>
          <p:cNvSpPr/>
          <p:nvPr/>
        </p:nvSpPr>
        <p:spPr>
          <a:xfrm>
            <a:off x="11391900" y="2615357"/>
            <a:ext cx="602380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프로젝트 반영</a:t>
            </a:r>
            <a:endParaRPr lang="en-US" sz="1800">
              <a:latin typeface="고양덕양 EB"/>
            </a:endParaRPr>
          </a:p>
        </p:txBody>
      </p:sp>
      <p:sp>
        <p:nvSpPr>
          <p:cNvPr id="13" name="Shape 11"/>
          <p:cNvSpPr/>
          <p:nvPr/>
        </p:nvSpPr>
        <p:spPr>
          <a:xfrm>
            <a:off x="1047750" y="3773388"/>
            <a:ext cx="8001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4" name="Text 12"/>
          <p:cNvSpPr/>
          <p:nvPr/>
        </p:nvSpPr>
        <p:spPr>
          <a:xfrm>
            <a:off x="1047750" y="3255318"/>
            <a:ext cx="876300" cy="451396"/>
          </a:xfrm>
          <a:prstGeom prst="rect">
            <a:avLst/>
          </a:prstGeom>
          <a:noFill/>
          <a:ln/>
        </p:spPr>
        <p:txBody>
          <a:bodyPr wrap="square" lIns="25400" tIns="25400" rIns="25400" bIns="25400" anchor="t">
            <a:normAutofit/>
          </a:bodyPr>
          <a:lstStyle/>
          <a:p>
            <a:pPr marL="0" indent="0" algn="l">
              <a:lnSpc>
                <a:spcPct val="140000"/>
              </a:lnSpc>
              <a:buNone/>
              <a:defRPr/>
            </a:pPr>
            <a:r>
              <a:rPr lang="en-US" sz="2100">
                <a:solidFill>
                  <a:srgbClr val="1d1f20"/>
                </a:solidFill>
                <a:latin typeface="고양덕양 EB"/>
                <a:ea typeface="고양덕양 EB"/>
                <a:cs typeface="Courier New"/>
              </a:rPr>
              <a:t>1</a:t>
            </a:r>
            <a:endParaRPr lang="en-US" sz="2100">
              <a:latin typeface="고양덕양 EB"/>
            </a:endParaRPr>
          </a:p>
        </p:txBody>
      </p:sp>
      <p:sp>
        <p:nvSpPr>
          <p:cNvPr id="15" name="Shape 13"/>
          <p:cNvSpPr/>
          <p:nvPr/>
        </p:nvSpPr>
        <p:spPr>
          <a:xfrm>
            <a:off x="2190750" y="3773388"/>
            <a:ext cx="26670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6" name="Text 14"/>
          <p:cNvSpPr/>
          <p:nvPr/>
        </p:nvSpPr>
        <p:spPr>
          <a:xfrm>
            <a:off x="2190750" y="3255318"/>
            <a:ext cx="274701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1d1f20"/>
                </a:solidFill>
                <a:latin typeface="고양덕양 EB"/>
                <a:ea typeface="고양덕양 EB"/>
                <a:cs typeface="Arial"/>
              </a:rPr>
              <a:t>권한관리</a:t>
            </a:r>
            <a:endParaRPr lang="en-US" sz="2100">
              <a:latin typeface="고양덕양 EB"/>
            </a:endParaRPr>
          </a:p>
        </p:txBody>
      </p:sp>
      <p:sp>
        <p:nvSpPr>
          <p:cNvPr id="17" name="Shape 15"/>
          <p:cNvSpPr/>
          <p:nvPr/>
        </p:nvSpPr>
        <p:spPr>
          <a:xfrm>
            <a:off x="5200650" y="3773388"/>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8" name="Text 16"/>
          <p:cNvSpPr/>
          <p:nvPr/>
        </p:nvSpPr>
        <p:spPr>
          <a:xfrm>
            <a:off x="5200650" y="3255318"/>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5d5d60"/>
                </a:solidFill>
                <a:latin typeface="고양덕양 EB"/>
                <a:ea typeface="고양덕양 EB"/>
                <a:cs typeface="Arial"/>
              </a:rPr>
              <a:t>사용자별 세부 권한, 퇴사 후 접근통제</a:t>
            </a:r>
            <a:endParaRPr lang="en-US" sz="2100">
              <a:latin typeface="고양덕양 EB"/>
            </a:endParaRPr>
          </a:p>
        </p:txBody>
      </p:sp>
      <p:sp>
        <p:nvSpPr>
          <p:cNvPr id="19" name="Shape 17"/>
          <p:cNvSpPr/>
          <p:nvPr/>
        </p:nvSpPr>
        <p:spPr>
          <a:xfrm>
            <a:off x="11391900" y="3773388"/>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0" name="Text 18"/>
          <p:cNvSpPr/>
          <p:nvPr/>
        </p:nvSpPr>
        <p:spPr>
          <a:xfrm>
            <a:off x="11391900" y="3255318"/>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1d1f20"/>
                </a:solidFill>
                <a:latin typeface="고양덕양 EB"/>
                <a:ea typeface="고양덕양 EB"/>
                <a:cs typeface="Arial"/>
              </a:rPr>
              <a:t>4단계 고정 권한으로 단순화</a:t>
            </a:r>
            <a:endParaRPr lang="en-US" sz="2100">
              <a:latin typeface="고양덕양 EB"/>
            </a:endParaRPr>
          </a:p>
        </p:txBody>
      </p:sp>
      <p:sp>
        <p:nvSpPr>
          <p:cNvPr id="21" name="Shape 19"/>
          <p:cNvSpPr/>
          <p:nvPr/>
        </p:nvSpPr>
        <p:spPr>
          <a:xfrm>
            <a:off x="1047750" y="4405759"/>
            <a:ext cx="8001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2" name="Text 20"/>
          <p:cNvSpPr/>
          <p:nvPr/>
        </p:nvSpPr>
        <p:spPr>
          <a:xfrm>
            <a:off x="1047750" y="3887688"/>
            <a:ext cx="876300" cy="451396"/>
          </a:xfrm>
          <a:prstGeom prst="rect">
            <a:avLst/>
          </a:prstGeom>
          <a:noFill/>
          <a:ln/>
        </p:spPr>
        <p:txBody>
          <a:bodyPr wrap="square" lIns="25400" tIns="25400" rIns="25400" bIns="25400" anchor="t">
            <a:normAutofit/>
          </a:bodyPr>
          <a:lstStyle/>
          <a:p>
            <a:pPr marL="0" indent="0" algn="l">
              <a:lnSpc>
                <a:spcPct val="140000"/>
              </a:lnSpc>
              <a:buNone/>
              <a:defRPr/>
            </a:pPr>
            <a:r>
              <a:rPr lang="en-US" sz="2100">
                <a:solidFill>
                  <a:srgbClr val="1d1f20"/>
                </a:solidFill>
                <a:latin typeface="고양덕양 EB"/>
                <a:ea typeface="고양덕양 EB"/>
                <a:cs typeface="Courier New"/>
              </a:rPr>
              <a:t>2</a:t>
            </a:r>
            <a:endParaRPr lang="en-US" sz="2100">
              <a:latin typeface="고양덕양 EB"/>
            </a:endParaRPr>
          </a:p>
        </p:txBody>
      </p:sp>
      <p:sp>
        <p:nvSpPr>
          <p:cNvPr id="23" name="Shape 21"/>
          <p:cNvSpPr/>
          <p:nvPr/>
        </p:nvSpPr>
        <p:spPr>
          <a:xfrm>
            <a:off x="2190750" y="4405759"/>
            <a:ext cx="26670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4" name="Text 22"/>
          <p:cNvSpPr/>
          <p:nvPr/>
        </p:nvSpPr>
        <p:spPr>
          <a:xfrm>
            <a:off x="2190750" y="3887688"/>
            <a:ext cx="274701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1d1f20"/>
                </a:solidFill>
                <a:latin typeface="고양덕양 EB"/>
                <a:ea typeface="고양덕양 EB"/>
                <a:cs typeface="Arial"/>
              </a:rPr>
              <a:t>인사정보관리</a:t>
            </a:r>
            <a:endParaRPr lang="en-US" sz="2100">
              <a:latin typeface="고양덕양 EB"/>
            </a:endParaRPr>
          </a:p>
        </p:txBody>
      </p:sp>
      <p:sp>
        <p:nvSpPr>
          <p:cNvPr id="25" name="Shape 23"/>
          <p:cNvSpPr/>
          <p:nvPr/>
        </p:nvSpPr>
        <p:spPr>
          <a:xfrm>
            <a:off x="5200650" y="4405759"/>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6" name="Text 24"/>
          <p:cNvSpPr/>
          <p:nvPr/>
        </p:nvSpPr>
        <p:spPr>
          <a:xfrm>
            <a:off x="5200650" y="3887688"/>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5d5d60"/>
                </a:solidFill>
                <a:latin typeface="고양덕양 EB"/>
                <a:ea typeface="고양덕양 EB"/>
                <a:cs typeface="Arial"/>
              </a:rPr>
              <a:t>현장별 인사탭, 승인 시 수정</a:t>
            </a:r>
            <a:endParaRPr lang="en-US" sz="2100">
              <a:latin typeface="고양덕양 EB"/>
            </a:endParaRPr>
          </a:p>
        </p:txBody>
      </p:sp>
      <p:sp>
        <p:nvSpPr>
          <p:cNvPr id="27" name="Shape 25"/>
          <p:cNvSpPr/>
          <p:nvPr/>
        </p:nvSpPr>
        <p:spPr>
          <a:xfrm>
            <a:off x="11391900" y="4405759"/>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8" name="Text 26"/>
          <p:cNvSpPr/>
          <p:nvPr/>
        </p:nvSpPr>
        <p:spPr>
          <a:xfrm>
            <a:off x="11391900" y="3887688"/>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1d1f20"/>
                </a:solidFill>
                <a:latin typeface="고양덕양 EB"/>
                <a:ea typeface="고양덕양 EB"/>
                <a:cs typeface="Arial"/>
              </a:rPr>
              <a:t>신청 + 1단계 승인으로 단순화</a:t>
            </a:r>
            <a:endParaRPr lang="en-US" sz="2100">
              <a:latin typeface="고양덕양 EB"/>
            </a:endParaRPr>
          </a:p>
        </p:txBody>
      </p:sp>
      <p:sp>
        <p:nvSpPr>
          <p:cNvPr id="29" name="Shape 27"/>
          <p:cNvSpPr/>
          <p:nvPr/>
        </p:nvSpPr>
        <p:spPr>
          <a:xfrm>
            <a:off x="1047750" y="5038130"/>
            <a:ext cx="8001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30" name="Text 28"/>
          <p:cNvSpPr/>
          <p:nvPr/>
        </p:nvSpPr>
        <p:spPr>
          <a:xfrm>
            <a:off x="1047750" y="4520059"/>
            <a:ext cx="876300" cy="451396"/>
          </a:xfrm>
          <a:prstGeom prst="rect">
            <a:avLst/>
          </a:prstGeom>
          <a:noFill/>
          <a:ln/>
        </p:spPr>
        <p:txBody>
          <a:bodyPr wrap="square" lIns="25400" tIns="25400" rIns="25400" bIns="25400" anchor="t">
            <a:normAutofit/>
          </a:bodyPr>
          <a:lstStyle/>
          <a:p>
            <a:pPr marL="0" indent="0" algn="l">
              <a:lnSpc>
                <a:spcPct val="140000"/>
              </a:lnSpc>
              <a:buNone/>
              <a:defRPr/>
            </a:pPr>
            <a:r>
              <a:rPr lang="en-US" sz="2100">
                <a:solidFill>
                  <a:srgbClr val="1d1f20"/>
                </a:solidFill>
                <a:latin typeface="고양덕양 EB"/>
                <a:ea typeface="고양덕양 EB"/>
                <a:cs typeface="Courier New"/>
              </a:rPr>
              <a:t>3</a:t>
            </a:r>
            <a:endParaRPr lang="en-US" sz="2100">
              <a:latin typeface="고양덕양 EB"/>
            </a:endParaRPr>
          </a:p>
        </p:txBody>
      </p:sp>
      <p:sp>
        <p:nvSpPr>
          <p:cNvPr id="31" name="Shape 29"/>
          <p:cNvSpPr/>
          <p:nvPr/>
        </p:nvSpPr>
        <p:spPr>
          <a:xfrm>
            <a:off x="2190750" y="5038130"/>
            <a:ext cx="26670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32" name="Text 30"/>
          <p:cNvSpPr/>
          <p:nvPr/>
        </p:nvSpPr>
        <p:spPr>
          <a:xfrm>
            <a:off x="2190750" y="4520059"/>
            <a:ext cx="274701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1d1f20"/>
                </a:solidFill>
                <a:latin typeface="고양덕양 EB"/>
                <a:ea typeface="고양덕양 EB"/>
                <a:cs typeface="Arial"/>
              </a:rPr>
              <a:t>근태관리</a:t>
            </a:r>
            <a:endParaRPr lang="en-US" sz="2100">
              <a:latin typeface="고양덕양 EB"/>
            </a:endParaRPr>
          </a:p>
        </p:txBody>
      </p:sp>
      <p:sp>
        <p:nvSpPr>
          <p:cNvPr id="33" name="Shape 31"/>
          <p:cNvSpPr/>
          <p:nvPr/>
        </p:nvSpPr>
        <p:spPr>
          <a:xfrm>
            <a:off x="5200650" y="5038130"/>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34" name="Text 32"/>
          <p:cNvSpPr/>
          <p:nvPr/>
        </p:nvSpPr>
        <p:spPr>
          <a:xfrm>
            <a:off x="5200650" y="4520059"/>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5d5d60"/>
                </a:solidFill>
                <a:latin typeface="고양덕양 EB"/>
                <a:ea typeface="고양덕양 EB"/>
                <a:cs typeface="Arial"/>
              </a:rPr>
              <a:t>근태등록, 연차·병가 일수관리, 업무일지</a:t>
            </a:r>
            <a:endParaRPr lang="en-US" sz="2100">
              <a:latin typeface="고양덕양 EB"/>
            </a:endParaRPr>
          </a:p>
        </p:txBody>
      </p:sp>
      <p:sp>
        <p:nvSpPr>
          <p:cNvPr id="35" name="Shape 33"/>
          <p:cNvSpPr/>
          <p:nvPr/>
        </p:nvSpPr>
        <p:spPr>
          <a:xfrm>
            <a:off x="11391900" y="5038130"/>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36" name="Text 34"/>
          <p:cNvSpPr/>
          <p:nvPr/>
        </p:nvSpPr>
        <p:spPr>
          <a:xfrm>
            <a:off x="11391900" y="4520059"/>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1d1f20"/>
                </a:solidFill>
                <a:latin typeface="고양덕양 EB"/>
                <a:ea typeface="고양덕양 EB"/>
                <a:cs typeface="Arial"/>
              </a:rPr>
              <a:t>수동 체크인으로 대체</a:t>
            </a:r>
            <a:endParaRPr lang="en-US" sz="2100">
              <a:latin typeface="고양덕양 EB"/>
            </a:endParaRPr>
          </a:p>
        </p:txBody>
      </p:sp>
      <p:sp>
        <p:nvSpPr>
          <p:cNvPr id="37" name="Shape 35"/>
          <p:cNvSpPr/>
          <p:nvPr/>
        </p:nvSpPr>
        <p:spPr>
          <a:xfrm>
            <a:off x="1047750" y="5670500"/>
            <a:ext cx="8001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38" name="Text 36"/>
          <p:cNvSpPr/>
          <p:nvPr/>
        </p:nvSpPr>
        <p:spPr>
          <a:xfrm>
            <a:off x="1047750" y="5152430"/>
            <a:ext cx="876300" cy="451396"/>
          </a:xfrm>
          <a:prstGeom prst="rect">
            <a:avLst/>
          </a:prstGeom>
          <a:noFill/>
          <a:ln/>
        </p:spPr>
        <p:txBody>
          <a:bodyPr wrap="square" lIns="25400" tIns="25400" rIns="25400" bIns="25400" anchor="t">
            <a:normAutofit/>
          </a:bodyPr>
          <a:lstStyle/>
          <a:p>
            <a:pPr marL="0" indent="0" algn="l">
              <a:lnSpc>
                <a:spcPct val="140000"/>
              </a:lnSpc>
              <a:buNone/>
              <a:defRPr/>
            </a:pPr>
            <a:r>
              <a:rPr lang="en-US" sz="2100">
                <a:solidFill>
                  <a:srgbClr val="1d1f20"/>
                </a:solidFill>
                <a:latin typeface="고양덕양 EB"/>
                <a:ea typeface="고양덕양 EB"/>
                <a:cs typeface="Courier New"/>
              </a:rPr>
              <a:t>4</a:t>
            </a:r>
            <a:endParaRPr lang="en-US" sz="2100">
              <a:latin typeface="고양덕양 EB"/>
            </a:endParaRPr>
          </a:p>
        </p:txBody>
      </p:sp>
      <p:sp>
        <p:nvSpPr>
          <p:cNvPr id="39" name="Shape 37"/>
          <p:cNvSpPr/>
          <p:nvPr/>
        </p:nvSpPr>
        <p:spPr>
          <a:xfrm>
            <a:off x="2190750" y="5670500"/>
            <a:ext cx="26670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40" name="Text 38"/>
          <p:cNvSpPr/>
          <p:nvPr/>
        </p:nvSpPr>
        <p:spPr>
          <a:xfrm>
            <a:off x="2190750" y="5152430"/>
            <a:ext cx="274701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1d1f20"/>
                </a:solidFill>
                <a:latin typeface="고양덕양 EB"/>
                <a:ea typeface="고양덕양 EB"/>
                <a:cs typeface="Arial"/>
              </a:rPr>
              <a:t>게시판(공지사항)</a:t>
            </a:r>
            <a:endParaRPr lang="en-US" sz="2100">
              <a:latin typeface="고양덕양 EB"/>
            </a:endParaRPr>
          </a:p>
        </p:txBody>
      </p:sp>
      <p:sp>
        <p:nvSpPr>
          <p:cNvPr id="41" name="Shape 39"/>
          <p:cNvSpPr/>
          <p:nvPr/>
        </p:nvSpPr>
        <p:spPr>
          <a:xfrm>
            <a:off x="5200650" y="5670500"/>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42" name="Text 40"/>
          <p:cNvSpPr/>
          <p:nvPr/>
        </p:nvSpPr>
        <p:spPr>
          <a:xfrm>
            <a:off x="5200650" y="5152430"/>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5d5d60"/>
                </a:solidFill>
                <a:latin typeface="고양덕양 EB"/>
                <a:ea typeface="고양덕양 EB"/>
                <a:cs typeface="Arial"/>
              </a:rPr>
              <a:t>본사→현장 / 현장→이용자 별도 게시판</a:t>
            </a:r>
            <a:endParaRPr lang="en-US" sz="2100">
              <a:latin typeface="고양덕양 EB"/>
            </a:endParaRPr>
          </a:p>
        </p:txBody>
      </p:sp>
      <p:sp>
        <p:nvSpPr>
          <p:cNvPr id="43" name="Shape 41"/>
          <p:cNvSpPr/>
          <p:nvPr/>
        </p:nvSpPr>
        <p:spPr>
          <a:xfrm>
            <a:off x="11391900" y="5670500"/>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44" name="Text 42"/>
          <p:cNvSpPr/>
          <p:nvPr/>
        </p:nvSpPr>
        <p:spPr>
          <a:xfrm>
            <a:off x="11391900" y="5152430"/>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b="1">
                <a:solidFill>
                  <a:srgbClr val="2c455d"/>
                </a:solidFill>
                <a:latin typeface="고양덕양 EB"/>
                <a:ea typeface="고양덕양 EB"/>
                <a:cs typeface="Arial"/>
              </a:rPr>
              <a:t>조정 없음</a:t>
            </a:r>
            <a:endParaRPr lang="en-US" sz="2100">
              <a:latin typeface="고양덕양 EB"/>
            </a:endParaRPr>
          </a:p>
        </p:txBody>
      </p:sp>
      <p:sp>
        <p:nvSpPr>
          <p:cNvPr id="45" name="Shape 43"/>
          <p:cNvSpPr/>
          <p:nvPr/>
        </p:nvSpPr>
        <p:spPr>
          <a:xfrm>
            <a:off x="1047750" y="6302871"/>
            <a:ext cx="8001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46" name="Text 44"/>
          <p:cNvSpPr/>
          <p:nvPr/>
        </p:nvSpPr>
        <p:spPr>
          <a:xfrm>
            <a:off x="1047750" y="5784800"/>
            <a:ext cx="876300" cy="451396"/>
          </a:xfrm>
          <a:prstGeom prst="rect">
            <a:avLst/>
          </a:prstGeom>
          <a:noFill/>
          <a:ln/>
        </p:spPr>
        <p:txBody>
          <a:bodyPr wrap="square" lIns="25400" tIns="25400" rIns="25400" bIns="25400" anchor="t">
            <a:normAutofit/>
          </a:bodyPr>
          <a:lstStyle/>
          <a:p>
            <a:pPr marL="0" indent="0" algn="l">
              <a:lnSpc>
                <a:spcPct val="140000"/>
              </a:lnSpc>
              <a:buNone/>
              <a:defRPr/>
            </a:pPr>
            <a:r>
              <a:rPr lang="en-US" sz="2100">
                <a:solidFill>
                  <a:srgbClr val="1d1f20"/>
                </a:solidFill>
                <a:latin typeface="고양덕양 EB"/>
                <a:ea typeface="고양덕양 EB"/>
                <a:cs typeface="Courier New"/>
              </a:rPr>
              <a:t>5</a:t>
            </a:r>
            <a:endParaRPr lang="en-US" sz="2100">
              <a:latin typeface="고양덕양 EB"/>
            </a:endParaRPr>
          </a:p>
        </p:txBody>
      </p:sp>
      <p:sp>
        <p:nvSpPr>
          <p:cNvPr id="47" name="Shape 45"/>
          <p:cNvSpPr/>
          <p:nvPr/>
        </p:nvSpPr>
        <p:spPr>
          <a:xfrm>
            <a:off x="2190750" y="6302871"/>
            <a:ext cx="26670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48" name="Text 46"/>
          <p:cNvSpPr/>
          <p:nvPr/>
        </p:nvSpPr>
        <p:spPr>
          <a:xfrm>
            <a:off x="2190750" y="5784800"/>
            <a:ext cx="274701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1d1f20"/>
                </a:solidFill>
                <a:latin typeface="고양덕양 EB"/>
                <a:ea typeface="고양덕양 EB"/>
                <a:cs typeface="Arial"/>
              </a:rPr>
              <a:t>회원관리</a:t>
            </a:r>
            <a:endParaRPr lang="en-US" sz="2100">
              <a:latin typeface="고양덕양 EB"/>
            </a:endParaRPr>
          </a:p>
        </p:txBody>
      </p:sp>
      <p:sp>
        <p:nvSpPr>
          <p:cNvPr id="49" name="Shape 47"/>
          <p:cNvSpPr/>
          <p:nvPr/>
        </p:nvSpPr>
        <p:spPr>
          <a:xfrm>
            <a:off x="5200650" y="6302871"/>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0" name="Text 48"/>
          <p:cNvSpPr/>
          <p:nvPr/>
        </p:nvSpPr>
        <p:spPr>
          <a:xfrm>
            <a:off x="5200650" y="5784800"/>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5d5d60"/>
                </a:solidFill>
                <a:latin typeface="고양덕양 EB"/>
                <a:ea typeface="고양덕양 EB"/>
                <a:cs typeface="Arial"/>
              </a:rPr>
              <a:t>지점별 회원 이력, 타현장 정보 조회불가</a:t>
            </a:r>
            <a:endParaRPr lang="en-US" sz="2100">
              <a:latin typeface="고양덕양 EB"/>
            </a:endParaRPr>
          </a:p>
        </p:txBody>
      </p:sp>
      <p:sp>
        <p:nvSpPr>
          <p:cNvPr id="51" name="Shape 49"/>
          <p:cNvSpPr/>
          <p:nvPr/>
        </p:nvSpPr>
        <p:spPr>
          <a:xfrm>
            <a:off x="11391900" y="6302871"/>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2" name="Text 50"/>
          <p:cNvSpPr/>
          <p:nvPr/>
        </p:nvSpPr>
        <p:spPr>
          <a:xfrm>
            <a:off x="11391900" y="5784800"/>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b="1">
                <a:solidFill>
                  <a:srgbClr val="2c455d"/>
                </a:solidFill>
                <a:latin typeface="고양덕양 EB"/>
                <a:ea typeface="고양덕양 EB"/>
                <a:cs typeface="Arial"/>
              </a:rPr>
              <a:t>조정 없음 </a:t>
            </a:r>
            <a:r>
              <a:rPr lang="en-US" sz="2100" b="1">
                <a:solidFill>
                  <a:srgbClr val="2c455d"/>
                </a:solidFill>
                <a:ea typeface="고양덕양 EB"/>
                <a:cs typeface="Arial"/>
              </a:rPr>
              <a:t>—</a:t>
            </a:r>
            <a:r>
              <a:rPr lang="en-US" sz="2100" b="1">
                <a:solidFill>
                  <a:srgbClr val="2c455d"/>
                </a:solidFill>
                <a:latin typeface="고양덕양 EB"/>
                <a:ea typeface="고양덕양 EB"/>
                <a:cs typeface="Arial"/>
              </a:rPr>
              <a:t> 핵심 기능</a:t>
            </a:r>
            <a:endParaRPr lang="en-US" sz="2100">
              <a:latin typeface="고양덕양 EB"/>
            </a:endParaRPr>
          </a:p>
        </p:txBody>
      </p:sp>
      <p:sp>
        <p:nvSpPr>
          <p:cNvPr id="53" name="Shape 51"/>
          <p:cNvSpPr/>
          <p:nvPr/>
        </p:nvSpPr>
        <p:spPr>
          <a:xfrm>
            <a:off x="1047750" y="6935242"/>
            <a:ext cx="8001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4" name="Text 52"/>
          <p:cNvSpPr/>
          <p:nvPr/>
        </p:nvSpPr>
        <p:spPr>
          <a:xfrm>
            <a:off x="1047750" y="6417171"/>
            <a:ext cx="876300" cy="451396"/>
          </a:xfrm>
          <a:prstGeom prst="rect">
            <a:avLst/>
          </a:prstGeom>
          <a:noFill/>
          <a:ln/>
        </p:spPr>
        <p:txBody>
          <a:bodyPr wrap="square" lIns="25400" tIns="25400" rIns="25400" bIns="25400" anchor="t">
            <a:normAutofit/>
          </a:bodyPr>
          <a:lstStyle/>
          <a:p>
            <a:pPr marL="0" indent="0" algn="l">
              <a:lnSpc>
                <a:spcPct val="140000"/>
              </a:lnSpc>
              <a:buNone/>
              <a:defRPr/>
            </a:pPr>
            <a:r>
              <a:rPr lang="en-US" sz="2100">
                <a:solidFill>
                  <a:srgbClr val="1d1f20"/>
                </a:solidFill>
                <a:latin typeface="고양덕양 EB"/>
                <a:ea typeface="고양덕양 EB"/>
                <a:cs typeface="Courier New"/>
              </a:rPr>
              <a:t>6</a:t>
            </a:r>
            <a:endParaRPr lang="en-US" sz="2100">
              <a:latin typeface="고양덕양 EB"/>
            </a:endParaRPr>
          </a:p>
        </p:txBody>
      </p:sp>
      <p:sp>
        <p:nvSpPr>
          <p:cNvPr id="55" name="Shape 53"/>
          <p:cNvSpPr/>
          <p:nvPr/>
        </p:nvSpPr>
        <p:spPr>
          <a:xfrm>
            <a:off x="2190750" y="6935242"/>
            <a:ext cx="26670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6" name="Text 54"/>
          <p:cNvSpPr/>
          <p:nvPr/>
        </p:nvSpPr>
        <p:spPr>
          <a:xfrm>
            <a:off x="2190750" y="6417171"/>
            <a:ext cx="274701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1d1f20"/>
                </a:solidFill>
                <a:latin typeface="고양덕양 EB"/>
                <a:ea typeface="고양덕양 EB"/>
                <a:cs typeface="Arial"/>
              </a:rPr>
              <a:t>예약및결제</a:t>
            </a:r>
            <a:endParaRPr lang="en-US" sz="2100">
              <a:latin typeface="고양덕양 EB"/>
            </a:endParaRPr>
          </a:p>
        </p:txBody>
      </p:sp>
      <p:sp>
        <p:nvSpPr>
          <p:cNvPr id="57" name="Shape 55"/>
          <p:cNvSpPr/>
          <p:nvPr/>
        </p:nvSpPr>
        <p:spPr>
          <a:xfrm>
            <a:off x="5200650" y="6935242"/>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8" name="Text 56"/>
          <p:cNvSpPr/>
          <p:nvPr/>
        </p:nvSpPr>
        <p:spPr>
          <a:xfrm>
            <a:off x="5200650" y="6417171"/>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5d5d60"/>
                </a:solidFill>
                <a:latin typeface="고양덕양 EB"/>
                <a:ea typeface="고양덕양 EB"/>
                <a:cs typeface="Arial"/>
              </a:rPr>
              <a:t>프로그램 예약·모바일 결제</a:t>
            </a:r>
            <a:endParaRPr lang="en-US" sz="2100">
              <a:latin typeface="고양덕양 EB"/>
            </a:endParaRPr>
          </a:p>
        </p:txBody>
      </p:sp>
      <p:sp>
        <p:nvSpPr>
          <p:cNvPr id="59" name="Shape 57"/>
          <p:cNvSpPr/>
          <p:nvPr/>
        </p:nvSpPr>
        <p:spPr>
          <a:xfrm>
            <a:off x="11391900" y="6935242"/>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60" name="Text 58"/>
          <p:cNvSpPr/>
          <p:nvPr/>
        </p:nvSpPr>
        <p:spPr>
          <a:xfrm>
            <a:off x="11391900" y="6417171"/>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1d1f20"/>
                </a:solidFill>
                <a:latin typeface="고양덕양 EB"/>
                <a:ea typeface="고양덕양 EB"/>
                <a:cs typeface="Arial"/>
              </a:rPr>
              <a:t>모의 결제로 대체</a:t>
            </a:r>
            <a:endParaRPr lang="en-US" sz="2100">
              <a:latin typeface="고양덕양 EB"/>
            </a:endParaRPr>
          </a:p>
        </p:txBody>
      </p:sp>
      <p:sp>
        <p:nvSpPr>
          <p:cNvPr id="61" name="Shape 59"/>
          <p:cNvSpPr/>
          <p:nvPr/>
        </p:nvSpPr>
        <p:spPr>
          <a:xfrm>
            <a:off x="1047750" y="7567612"/>
            <a:ext cx="8001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62" name="Text 60"/>
          <p:cNvSpPr/>
          <p:nvPr/>
        </p:nvSpPr>
        <p:spPr>
          <a:xfrm>
            <a:off x="1047750" y="7049542"/>
            <a:ext cx="876300" cy="451396"/>
          </a:xfrm>
          <a:prstGeom prst="rect">
            <a:avLst/>
          </a:prstGeom>
          <a:noFill/>
          <a:ln/>
        </p:spPr>
        <p:txBody>
          <a:bodyPr wrap="square" lIns="25400" tIns="25400" rIns="25400" bIns="25400" anchor="t">
            <a:normAutofit/>
          </a:bodyPr>
          <a:lstStyle/>
          <a:p>
            <a:pPr marL="0" indent="0" algn="l">
              <a:lnSpc>
                <a:spcPct val="140000"/>
              </a:lnSpc>
              <a:buNone/>
              <a:defRPr/>
            </a:pPr>
            <a:r>
              <a:rPr lang="en-US" sz="2100">
                <a:solidFill>
                  <a:srgbClr val="1d1f20"/>
                </a:solidFill>
                <a:latin typeface="고양덕양 EB"/>
                <a:ea typeface="고양덕양 EB"/>
                <a:cs typeface="Courier New"/>
              </a:rPr>
              <a:t>7</a:t>
            </a:r>
            <a:endParaRPr lang="en-US" sz="2100">
              <a:latin typeface="고양덕양 EB"/>
            </a:endParaRPr>
          </a:p>
        </p:txBody>
      </p:sp>
      <p:sp>
        <p:nvSpPr>
          <p:cNvPr id="63" name="Shape 61"/>
          <p:cNvSpPr/>
          <p:nvPr/>
        </p:nvSpPr>
        <p:spPr>
          <a:xfrm>
            <a:off x="2190750" y="7567612"/>
            <a:ext cx="26670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64" name="Text 62"/>
          <p:cNvSpPr/>
          <p:nvPr/>
        </p:nvSpPr>
        <p:spPr>
          <a:xfrm>
            <a:off x="2190750" y="7049542"/>
            <a:ext cx="274701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1d1f20"/>
                </a:solidFill>
                <a:latin typeface="고양덕양 EB"/>
                <a:ea typeface="고양덕양 EB"/>
                <a:cs typeface="Arial"/>
              </a:rPr>
              <a:t>강사·프로그램게시</a:t>
            </a:r>
            <a:endParaRPr lang="en-US" sz="2100">
              <a:latin typeface="고양덕양 EB"/>
            </a:endParaRPr>
          </a:p>
        </p:txBody>
      </p:sp>
      <p:sp>
        <p:nvSpPr>
          <p:cNvPr id="65" name="Shape 63"/>
          <p:cNvSpPr/>
          <p:nvPr/>
        </p:nvSpPr>
        <p:spPr>
          <a:xfrm>
            <a:off x="5200650" y="7567612"/>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66" name="Text 64"/>
          <p:cNvSpPr/>
          <p:nvPr/>
        </p:nvSpPr>
        <p:spPr>
          <a:xfrm>
            <a:off x="5200650" y="7049542"/>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5d5d60"/>
                </a:solidFill>
                <a:latin typeface="고양덕양 EB"/>
                <a:ea typeface="고양덕양 EB"/>
                <a:cs typeface="Arial"/>
              </a:rPr>
              <a:t>종목·시간대·연령대별 강사·프로그램 목록</a:t>
            </a:r>
            <a:endParaRPr lang="en-US" sz="2100">
              <a:latin typeface="고양덕양 EB"/>
            </a:endParaRPr>
          </a:p>
        </p:txBody>
      </p:sp>
      <p:sp>
        <p:nvSpPr>
          <p:cNvPr id="67" name="Shape 65"/>
          <p:cNvSpPr/>
          <p:nvPr/>
        </p:nvSpPr>
        <p:spPr>
          <a:xfrm>
            <a:off x="11391900" y="7567612"/>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68" name="Text 66"/>
          <p:cNvSpPr/>
          <p:nvPr/>
        </p:nvSpPr>
        <p:spPr>
          <a:xfrm>
            <a:off x="11391900" y="7049542"/>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b="1">
                <a:solidFill>
                  <a:srgbClr val="2c455d"/>
                </a:solidFill>
                <a:latin typeface="고양덕양 EB"/>
                <a:ea typeface="고양덕양 EB"/>
                <a:cs typeface="Arial"/>
              </a:rPr>
              <a:t>조정 없음</a:t>
            </a:r>
            <a:endParaRPr lang="en-US" sz="2100">
              <a:latin typeface="고양덕양 EB"/>
            </a:endParaRPr>
          </a:p>
        </p:txBody>
      </p:sp>
      <p:sp>
        <p:nvSpPr>
          <p:cNvPr id="69" name="Shape 67"/>
          <p:cNvSpPr/>
          <p:nvPr/>
        </p:nvSpPr>
        <p:spPr>
          <a:xfrm>
            <a:off x="1047750" y="8199983"/>
            <a:ext cx="8001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70" name="Text 68"/>
          <p:cNvSpPr/>
          <p:nvPr/>
        </p:nvSpPr>
        <p:spPr>
          <a:xfrm>
            <a:off x="1047750" y="7681913"/>
            <a:ext cx="876300" cy="451396"/>
          </a:xfrm>
          <a:prstGeom prst="rect">
            <a:avLst/>
          </a:prstGeom>
          <a:noFill/>
          <a:ln/>
        </p:spPr>
        <p:txBody>
          <a:bodyPr wrap="square" lIns="25400" tIns="25400" rIns="25400" bIns="25400" anchor="t">
            <a:normAutofit/>
          </a:bodyPr>
          <a:lstStyle/>
          <a:p>
            <a:pPr marL="0" indent="0" algn="l">
              <a:lnSpc>
                <a:spcPct val="140000"/>
              </a:lnSpc>
              <a:buNone/>
              <a:defRPr/>
            </a:pPr>
            <a:r>
              <a:rPr lang="en-US" sz="2100">
                <a:solidFill>
                  <a:srgbClr val="1d1f20"/>
                </a:solidFill>
                <a:latin typeface="고양덕양 EB"/>
                <a:ea typeface="고양덕양 EB"/>
                <a:cs typeface="Courier New"/>
              </a:rPr>
              <a:t>8</a:t>
            </a:r>
            <a:endParaRPr lang="en-US" sz="2100">
              <a:latin typeface="고양덕양 EB"/>
            </a:endParaRPr>
          </a:p>
        </p:txBody>
      </p:sp>
      <p:sp>
        <p:nvSpPr>
          <p:cNvPr id="71" name="Shape 69"/>
          <p:cNvSpPr/>
          <p:nvPr/>
        </p:nvSpPr>
        <p:spPr>
          <a:xfrm>
            <a:off x="2190750" y="8199983"/>
            <a:ext cx="26670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72" name="Text 70"/>
          <p:cNvSpPr/>
          <p:nvPr/>
        </p:nvSpPr>
        <p:spPr>
          <a:xfrm>
            <a:off x="2190750" y="7681913"/>
            <a:ext cx="274701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1d1f20"/>
                </a:solidFill>
                <a:latin typeface="고양덕양 EB"/>
                <a:ea typeface="고양덕양 EB"/>
                <a:cs typeface="Arial"/>
              </a:rPr>
              <a:t>혼잡도관리</a:t>
            </a:r>
            <a:endParaRPr lang="en-US" sz="2100">
              <a:latin typeface="고양덕양 EB"/>
            </a:endParaRPr>
          </a:p>
        </p:txBody>
      </p:sp>
      <p:sp>
        <p:nvSpPr>
          <p:cNvPr id="73" name="Shape 71"/>
          <p:cNvSpPr/>
          <p:nvPr/>
        </p:nvSpPr>
        <p:spPr>
          <a:xfrm>
            <a:off x="5200650" y="8199983"/>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74" name="Text 72"/>
          <p:cNvSpPr/>
          <p:nvPr/>
        </p:nvSpPr>
        <p:spPr>
          <a:xfrm>
            <a:off x="5200650" y="7681913"/>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5d5d60"/>
                </a:solidFill>
                <a:latin typeface="고양덕양 EB"/>
                <a:ea typeface="고양덕양 EB"/>
                <a:cs typeface="Arial"/>
              </a:rPr>
              <a:t>시설별 혼잡도 5단계, 30분 이내 반영</a:t>
            </a:r>
            <a:endParaRPr lang="en-US" sz="2100">
              <a:latin typeface="고양덕양 EB"/>
            </a:endParaRPr>
          </a:p>
        </p:txBody>
      </p:sp>
      <p:sp>
        <p:nvSpPr>
          <p:cNvPr id="75" name="Shape 73"/>
          <p:cNvSpPr/>
          <p:nvPr/>
        </p:nvSpPr>
        <p:spPr>
          <a:xfrm>
            <a:off x="11391900" y="8199983"/>
            <a:ext cx="584835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76" name="Text 74"/>
          <p:cNvSpPr/>
          <p:nvPr/>
        </p:nvSpPr>
        <p:spPr>
          <a:xfrm>
            <a:off x="11391900" y="7681913"/>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1d1f20"/>
                </a:solidFill>
                <a:latin typeface="고양덕양 EB"/>
                <a:ea typeface="고양덕양 EB"/>
                <a:cs typeface="Arial"/>
              </a:rPr>
              <a:t>체크인 기록으로 자동 계산</a:t>
            </a:r>
            <a:endParaRPr lang="en-US" sz="2100">
              <a:latin typeface="고양덕양 EB"/>
            </a:endParaRPr>
          </a:p>
        </p:txBody>
      </p:sp>
      <p:sp>
        <p:nvSpPr>
          <p:cNvPr id="77" name="Text 75"/>
          <p:cNvSpPr/>
          <p:nvPr/>
        </p:nvSpPr>
        <p:spPr>
          <a:xfrm>
            <a:off x="1047750" y="8314283"/>
            <a:ext cx="876300" cy="451396"/>
          </a:xfrm>
          <a:prstGeom prst="rect">
            <a:avLst/>
          </a:prstGeom>
          <a:noFill/>
          <a:ln/>
        </p:spPr>
        <p:txBody>
          <a:bodyPr wrap="square" lIns="25400" tIns="25400" rIns="25400" bIns="25400" anchor="t">
            <a:normAutofit/>
          </a:bodyPr>
          <a:lstStyle/>
          <a:p>
            <a:pPr marL="0" indent="0" algn="l">
              <a:lnSpc>
                <a:spcPct val="140000"/>
              </a:lnSpc>
              <a:buNone/>
              <a:defRPr/>
            </a:pPr>
            <a:r>
              <a:rPr lang="en-US" sz="2100">
                <a:solidFill>
                  <a:srgbClr val="1d1f20"/>
                </a:solidFill>
                <a:latin typeface="고양덕양 EB"/>
                <a:ea typeface="고양덕양 EB"/>
                <a:cs typeface="Courier New"/>
              </a:rPr>
              <a:t>10·11</a:t>
            </a:r>
            <a:endParaRPr lang="en-US" sz="2100">
              <a:latin typeface="고양덕양 EB"/>
            </a:endParaRPr>
          </a:p>
        </p:txBody>
      </p:sp>
      <p:sp>
        <p:nvSpPr>
          <p:cNvPr id="78" name="Text 76"/>
          <p:cNvSpPr/>
          <p:nvPr/>
        </p:nvSpPr>
        <p:spPr>
          <a:xfrm>
            <a:off x="2190750" y="8314283"/>
            <a:ext cx="274701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1d1f20"/>
                </a:solidFill>
                <a:latin typeface="고양덕양 EB"/>
                <a:ea typeface="고양덕양 EB"/>
                <a:cs typeface="Arial"/>
              </a:rPr>
              <a:t>가용성·성능</a:t>
            </a:r>
            <a:endParaRPr lang="en-US" sz="2100">
              <a:latin typeface="고양덕양 EB"/>
            </a:endParaRPr>
          </a:p>
        </p:txBody>
      </p:sp>
      <p:sp>
        <p:nvSpPr>
          <p:cNvPr id="79" name="Text 77"/>
          <p:cNvSpPr/>
          <p:nvPr/>
        </p:nvSpPr>
        <p:spPr>
          <a:xfrm>
            <a:off x="5200650" y="8314283"/>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5d5d60"/>
                </a:solidFill>
                <a:latin typeface="고양덕양 EB"/>
                <a:ea typeface="고양덕양 EB"/>
                <a:cs typeface="Arial"/>
              </a:rPr>
              <a:t>CPU 90% 이하, 메모리 85% 이하 등 실측 수치</a:t>
            </a:r>
            <a:endParaRPr lang="en-US" sz="2100">
              <a:latin typeface="고양덕양 EB"/>
            </a:endParaRPr>
          </a:p>
        </p:txBody>
      </p:sp>
      <p:sp>
        <p:nvSpPr>
          <p:cNvPr id="80" name="Text 78"/>
          <p:cNvSpPr/>
          <p:nvPr/>
        </p:nvSpPr>
        <p:spPr>
          <a:xfrm>
            <a:off x="11391900" y="8314283"/>
            <a:ext cx="6023800" cy="451396"/>
          </a:xfrm>
          <a:prstGeom prst="rect">
            <a:avLst/>
          </a:prstGeom>
          <a:noFill/>
          <a:ln/>
        </p:spPr>
        <p:txBody>
          <a:bodyPr wrap="square" lIns="25400" tIns="25400" rIns="25400" bIns="25400" anchor="t">
            <a:normAutofit/>
          </a:bodyPr>
          <a:lstStyle/>
          <a:p>
            <a:pPr marL="0" indent="0" algn="l">
              <a:lnSpc>
                <a:spcPct val="135625"/>
              </a:lnSpc>
              <a:buNone/>
              <a:defRPr/>
            </a:pPr>
            <a:r>
              <a:rPr lang="en-US" sz="2100">
                <a:solidFill>
                  <a:srgbClr val="1d1f20"/>
                </a:solidFill>
                <a:latin typeface="고양덕양 EB"/>
                <a:ea typeface="고양덕양 EB"/>
                <a:cs typeface="Arial"/>
              </a:rPr>
              <a:t>설계 원칙으로 대체</a:t>
            </a:r>
            <a:endParaRPr lang="en-US" sz="2100">
              <a:latin typeface="고양덕양 EB"/>
            </a:endParaRPr>
          </a:p>
        </p:txBody>
      </p:sp>
      <p:sp>
        <p:nvSpPr>
          <p:cNvPr id="81" name="Text 79"/>
          <p:cNvSpPr/>
          <p:nvPr/>
        </p:nvSpPr>
        <p:spPr>
          <a:xfrm>
            <a:off x="1047750" y="9080004"/>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5d5d60"/>
                </a:solidFill>
                <a:latin typeface="고양덕양 EB"/>
                <a:ea typeface="고양덕양 EB"/>
                <a:cs typeface="Courier New"/>
              </a:rPr>
              <a:t>출처: 제안요청서 원본(㈜유니비즈컨설팅, 2022.06) Ⅳ.과업내용 2.세부 과업 내용 </a:t>
            </a:r>
            <a:r>
              <a:rPr lang="en-US" sz="1800">
                <a:solidFill>
                  <a:srgbClr val="5d5d60"/>
                </a:solidFill>
                <a:ea typeface="고양덕양 EB"/>
                <a:cs typeface="Courier New"/>
              </a:rPr>
              <a:t>—</a:t>
            </a:r>
            <a:r>
              <a:rPr lang="en-US" sz="1800">
                <a:solidFill>
                  <a:srgbClr val="5d5d60"/>
                </a:solidFill>
                <a:latin typeface="고양덕양 EB"/>
                <a:ea typeface="고양덕양 EB"/>
                <a:cs typeface="Courier New"/>
              </a:rPr>
              <a:t> 원문에 9번은 결번</a:t>
            </a:r>
            <a:endParaRPr lang="en-US" sz="1800">
              <a:latin typeface="고양덕양 EB"/>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0">
    <p:bg>
      <p:bgPr shadeToTitle="0">
        <a:solidFill>
          <a:srgbClr val="f2f2f3"/>
        </a:solidFill>
      </p:bgPr>
    </p:bg>
    <p:spTree>
      <p:nvGrpSpPr>
        <p:cNvPr id="1" name=""/>
        <p:cNvGrpSpPr/>
        <p:nvPr/>
      </p:nvGrpSpPr>
      <p:grpSpPr>
        <a:xfrm>
          <a:off x="0" y="0"/>
          <a:ext cx="0" cy="0"/>
          <a:chOff x="0" y="0"/>
          <a:chExt cx="0" cy="0"/>
        </a:xfrm>
      </p:grpSpPr>
      <p:sp>
        <p:nvSpPr>
          <p:cNvPr id="2" name="Text 0"/>
          <p:cNvSpPr/>
          <p:nvPr/>
        </p:nvSpPr>
        <p:spPr>
          <a:xfrm>
            <a:off x="1047750" y="876300"/>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24">
                <a:solidFill>
                  <a:srgbClr val="416180"/>
                </a:solidFill>
                <a:latin typeface="고양덕양 EB"/>
                <a:ea typeface="고양덕양 EB"/>
                <a:cs typeface="Courier New"/>
              </a:rPr>
              <a:t>Ⅱ </a:t>
            </a:r>
            <a:r>
              <a:rPr lang="en-US" sz="1800" b="0" kern="0" spc="324">
                <a:solidFill>
                  <a:srgbClr val="416180"/>
                </a:solidFill>
                <a:ea typeface="고양덕양 EB"/>
                <a:cs typeface="Courier New"/>
              </a:rPr>
              <a:t>—</a:t>
            </a:r>
            <a:r>
              <a:rPr lang="en-US" sz="1800" b="0" kern="0" spc="324">
                <a:solidFill>
                  <a:srgbClr val="416180"/>
                </a:solidFill>
                <a:latin typeface="고양덕양 EB"/>
                <a:ea typeface="고양덕양 EB"/>
                <a:cs typeface="Courier New"/>
              </a:rPr>
              <a:t> 02</a:t>
            </a:r>
            <a:endParaRPr lang="en-US" sz="1800">
              <a:latin typeface="고양덕양 EB"/>
            </a:endParaRPr>
          </a:p>
        </p:txBody>
      </p:sp>
      <p:sp>
        <p:nvSpPr>
          <p:cNvPr id="3" name="Text 1"/>
          <p:cNvSpPr/>
          <p:nvPr/>
        </p:nvSpPr>
        <p:spPr>
          <a:xfrm>
            <a:off x="1047750" y="1440061"/>
            <a:ext cx="17811750" cy="708571"/>
          </a:xfrm>
          <a:prstGeom prst="rect">
            <a:avLst/>
          </a:prstGeom>
          <a:noFill/>
          <a:ln/>
        </p:spPr>
        <p:txBody>
          <a:bodyPr wrap="square" lIns="25400" tIns="25400" rIns="25400" bIns="25400" anchor="t">
            <a:normAutofit/>
          </a:bodyPr>
          <a:lstStyle/>
          <a:p>
            <a:pPr marL="0" indent="0" algn="l">
              <a:lnSpc>
                <a:spcPct val="95135"/>
              </a:lnSpc>
              <a:buNone/>
              <a:defRPr/>
            </a:pPr>
            <a:r>
              <a:rPr lang="en-US" sz="4800" b="1" kern="0" spc="-72">
                <a:solidFill>
                  <a:srgbClr val="1d1f20"/>
                </a:solidFill>
                <a:latin typeface="고양덕양 EB"/>
                <a:ea typeface="고양덕양 EB"/>
                <a:cs typeface="Arial"/>
              </a:rPr>
              <a:t>범위 조정의 원칙</a:t>
            </a:r>
            <a:endParaRPr lang="en-US" sz="4800">
              <a:latin typeface="고양덕양 EB"/>
            </a:endParaRPr>
          </a:p>
        </p:txBody>
      </p:sp>
      <p:sp>
        <p:nvSpPr>
          <p:cNvPr id="4" name="Text 2"/>
          <p:cNvSpPr/>
          <p:nvPr/>
        </p:nvSpPr>
        <p:spPr>
          <a:xfrm>
            <a:off x="1047750" y="2320082"/>
            <a:ext cx="15304770" cy="891480"/>
          </a:xfrm>
          <a:prstGeom prst="rect">
            <a:avLst/>
          </a:prstGeom>
          <a:noFill/>
          <a:ln/>
        </p:spPr>
        <p:txBody>
          <a:bodyPr wrap="square" lIns="25400" tIns="25400" rIns="25400" bIns="25400" anchor="t">
            <a:normAutofit/>
          </a:bodyPr>
          <a:lstStyle/>
          <a:p>
            <a:pPr marL="0" indent="0" algn="l">
              <a:lnSpc>
                <a:spcPct val="121081"/>
              </a:lnSpc>
              <a:buNone/>
              <a:defRPr/>
            </a:pPr>
            <a:r>
              <a:rPr lang="en-US" sz="2400">
                <a:solidFill>
                  <a:srgbClr val="2c455d"/>
                </a:solidFill>
                <a:latin typeface="고양덕양 EB"/>
                <a:ea typeface="고양덕양 EB"/>
                <a:cs typeface="Arial"/>
              </a:rPr>
              <a:t>요구사항의 표면적 형태가 아니라 실질적 의도를 파악해, 1인 개발이 가능한 범위에서 그 의도를 살리는 방식을 택했습니다. 아래 조정안은 현재 판단이며, 구현하면서 더 나은 방식이 보이면 다시 조정할 수 있습니다.</a:t>
            </a:r>
            <a:endParaRPr lang="en-US" sz="2400">
              <a:latin typeface="고양덕양 EB"/>
            </a:endParaRPr>
          </a:p>
        </p:txBody>
      </p:sp>
      <p:sp>
        <p:nvSpPr>
          <p:cNvPr id="5" name="Shape 3"/>
          <p:cNvSpPr/>
          <p:nvPr/>
        </p:nvSpPr>
        <p:spPr>
          <a:xfrm>
            <a:off x="1047750" y="3459212"/>
            <a:ext cx="16192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6" name="Text 4"/>
          <p:cNvSpPr/>
          <p:nvPr/>
        </p:nvSpPr>
        <p:spPr>
          <a:xfrm>
            <a:off x="1047750" y="3716387"/>
            <a:ext cx="2943225"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항목</a:t>
            </a:r>
            <a:endParaRPr lang="en-US" sz="1800">
              <a:latin typeface="고양덕양 EB"/>
            </a:endParaRPr>
          </a:p>
        </p:txBody>
      </p:sp>
      <p:sp>
        <p:nvSpPr>
          <p:cNvPr id="7" name="Text 5"/>
          <p:cNvSpPr/>
          <p:nvPr/>
        </p:nvSpPr>
        <p:spPr>
          <a:xfrm>
            <a:off x="4286250" y="3716387"/>
            <a:ext cx="6475095"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무엇을 줄였는가</a:t>
            </a:r>
            <a:endParaRPr lang="en-US" sz="1800">
              <a:latin typeface="고양덕양 EB"/>
            </a:endParaRPr>
          </a:p>
        </p:txBody>
      </p:sp>
      <p:sp>
        <p:nvSpPr>
          <p:cNvPr id="8" name="Text 6"/>
          <p:cNvSpPr/>
          <p:nvPr/>
        </p:nvSpPr>
        <p:spPr>
          <a:xfrm>
            <a:off x="10953750" y="3716387"/>
            <a:ext cx="6475095"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무엇을 지켰는가</a:t>
            </a:r>
            <a:endParaRPr lang="en-US" sz="1800">
              <a:latin typeface="고양덕양 EB"/>
            </a:endParaRPr>
          </a:p>
        </p:txBody>
      </p:sp>
      <p:sp>
        <p:nvSpPr>
          <p:cNvPr id="9" name="Shape 7"/>
          <p:cNvSpPr/>
          <p:nvPr/>
        </p:nvSpPr>
        <p:spPr>
          <a:xfrm>
            <a:off x="1047750" y="4203948"/>
            <a:ext cx="2857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0" name="Text 8"/>
          <p:cNvSpPr/>
          <p:nvPr/>
        </p:nvSpPr>
        <p:spPr>
          <a:xfrm>
            <a:off x="1047750" y="4403973"/>
            <a:ext cx="2943225" cy="921841"/>
          </a:xfrm>
          <a:prstGeom prst="rect">
            <a:avLst/>
          </a:prstGeom>
          <a:noFill/>
          <a:ln/>
        </p:spPr>
        <p:txBody>
          <a:bodyPr wrap="square" lIns="25400" tIns="25400" rIns="25400" bIns="25400" anchor="t">
            <a:normAutofit/>
          </a:bodyPr>
          <a:lstStyle/>
          <a:p>
            <a:pPr marL="0" indent="0" algn="l">
              <a:lnSpc>
                <a:spcPct val="136977"/>
              </a:lnSpc>
              <a:buNone/>
              <a:defRPr/>
            </a:pPr>
            <a:r>
              <a:rPr lang="en-US" sz="2850">
                <a:solidFill>
                  <a:srgbClr val="1d1f20"/>
                </a:solidFill>
                <a:latin typeface="고양덕양 EB"/>
                <a:ea typeface="고양덕양 EB"/>
                <a:cs typeface="Arial"/>
              </a:rPr>
              <a:t>권한 관리</a:t>
            </a:r>
            <a:endParaRPr lang="en-US" sz="2850">
              <a:latin typeface="고양덕양 EB"/>
            </a:endParaRPr>
          </a:p>
        </p:txBody>
      </p:sp>
      <p:sp>
        <p:nvSpPr>
          <p:cNvPr id="11" name="Shape 9"/>
          <p:cNvSpPr/>
          <p:nvPr/>
        </p:nvSpPr>
        <p:spPr>
          <a:xfrm>
            <a:off x="4286250" y="4203948"/>
            <a:ext cx="6286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2" name="Text 10"/>
          <p:cNvSpPr/>
          <p:nvPr/>
        </p:nvSpPr>
        <p:spPr>
          <a:xfrm>
            <a:off x="4286250" y="4403973"/>
            <a:ext cx="6475095" cy="921841"/>
          </a:xfrm>
          <a:prstGeom prst="rect">
            <a:avLst/>
          </a:prstGeom>
          <a:noFill/>
          <a:ln/>
        </p:spPr>
        <p:txBody>
          <a:bodyPr wrap="square" lIns="25400" tIns="25400" rIns="25400" bIns="25400" anchor="t">
            <a:normAutofit/>
          </a:bodyPr>
          <a:lstStyle/>
          <a:p>
            <a:pPr marL="0" indent="0" algn="l">
              <a:lnSpc>
                <a:spcPct val="125405"/>
              </a:lnSpc>
              <a:buNone/>
              <a:defRPr/>
            </a:pPr>
            <a:r>
              <a:rPr lang="en-US" sz="2400">
                <a:solidFill>
                  <a:srgbClr val="5d5d60"/>
                </a:solidFill>
                <a:latin typeface="고양덕양 EB"/>
                <a:ea typeface="고양덕양 EB"/>
                <a:cs typeface="Arial"/>
              </a:rPr>
              <a:t>개인별 세부 권한 설정 화면</a:t>
            </a:r>
            <a:endParaRPr lang="en-US" sz="2400">
              <a:latin typeface="고양덕양 EB"/>
            </a:endParaRPr>
          </a:p>
        </p:txBody>
      </p:sp>
      <p:sp>
        <p:nvSpPr>
          <p:cNvPr id="13" name="Shape 11"/>
          <p:cNvSpPr/>
          <p:nvPr/>
        </p:nvSpPr>
        <p:spPr>
          <a:xfrm>
            <a:off x="10953750" y="4203948"/>
            <a:ext cx="6286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4" name="Text 12"/>
          <p:cNvSpPr/>
          <p:nvPr/>
        </p:nvSpPr>
        <p:spPr>
          <a:xfrm>
            <a:off x="10953750" y="4403973"/>
            <a:ext cx="6475095" cy="921841"/>
          </a:xfrm>
          <a:prstGeom prst="rect">
            <a:avLst/>
          </a:prstGeom>
          <a:noFill/>
          <a:ln/>
        </p:spPr>
        <p:txBody>
          <a:bodyPr wrap="square" lIns="25400" tIns="25400" rIns="25400" bIns="25400" anchor="t">
            <a:normAutofit/>
          </a:bodyPr>
          <a:lstStyle/>
          <a:p>
            <a:pPr marL="0" indent="0" algn="l">
              <a:lnSpc>
                <a:spcPct val="125405"/>
              </a:lnSpc>
              <a:buNone/>
              <a:defRPr/>
            </a:pPr>
            <a:r>
              <a:rPr lang="en-US" sz="2400">
                <a:solidFill>
                  <a:srgbClr val="1d1f20"/>
                </a:solidFill>
                <a:latin typeface="고양덕양 EB"/>
                <a:ea typeface="고양덕양 EB"/>
                <a:cs typeface="Arial"/>
              </a:rPr>
              <a:t>지점 간 격리, 퇴사 즉시 차단, </a:t>
            </a:r>
            <a:br>
              <a:rPr lang="ko-KR" altLang="en-US" sz="2400">
                <a:solidFill>
                  <a:srgbClr val="1d1f20"/>
                </a:solidFill>
                <a:latin typeface="고양덕양 EB"/>
                <a:ea typeface="고양덕양 EB"/>
                <a:cs typeface="Arial"/>
              </a:rPr>
            </a:br>
            <a:r>
              <a:rPr lang="en-US" sz="2400">
                <a:solidFill>
                  <a:srgbClr val="1d1f20"/>
                </a:solidFill>
                <a:latin typeface="고양덕양 EB"/>
                <a:ea typeface="고양덕양 EB"/>
                <a:cs typeface="Arial"/>
              </a:rPr>
              <a:t>관리자와 일반 직원 분리</a:t>
            </a:r>
            <a:endParaRPr lang="en-US" sz="2400">
              <a:solidFill>
                <a:srgbClr val="1d1f20"/>
              </a:solidFill>
              <a:latin typeface="고양덕양 EB"/>
              <a:ea typeface="고양덕양 EB"/>
              <a:cs typeface="Arial"/>
            </a:endParaRPr>
          </a:p>
        </p:txBody>
      </p:sp>
      <p:sp>
        <p:nvSpPr>
          <p:cNvPr id="15" name="Shape 13"/>
          <p:cNvSpPr/>
          <p:nvPr/>
        </p:nvSpPr>
        <p:spPr>
          <a:xfrm>
            <a:off x="1047750" y="5478214"/>
            <a:ext cx="2857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6" name="Text 14"/>
          <p:cNvSpPr/>
          <p:nvPr/>
        </p:nvSpPr>
        <p:spPr>
          <a:xfrm>
            <a:off x="1047750" y="5678239"/>
            <a:ext cx="2943225" cy="599033"/>
          </a:xfrm>
          <a:prstGeom prst="rect">
            <a:avLst/>
          </a:prstGeom>
          <a:noFill/>
          <a:ln/>
        </p:spPr>
        <p:txBody>
          <a:bodyPr wrap="square" lIns="25400" tIns="25400" rIns="25400" bIns="25400" anchor="t">
            <a:normAutofit/>
          </a:bodyPr>
          <a:lstStyle/>
          <a:p>
            <a:pPr marL="0" indent="0" algn="l">
              <a:lnSpc>
                <a:spcPct val="136977"/>
              </a:lnSpc>
              <a:buNone/>
              <a:defRPr/>
            </a:pPr>
            <a:r>
              <a:rPr lang="en-US" sz="2850">
                <a:solidFill>
                  <a:srgbClr val="1d1f20"/>
                </a:solidFill>
                <a:latin typeface="고양덕양 EB"/>
                <a:ea typeface="고양덕양 EB"/>
                <a:cs typeface="Arial"/>
              </a:rPr>
              <a:t>결제</a:t>
            </a:r>
            <a:endParaRPr lang="en-US" sz="2850">
              <a:latin typeface="고양덕양 EB"/>
            </a:endParaRPr>
          </a:p>
        </p:txBody>
      </p:sp>
      <p:sp>
        <p:nvSpPr>
          <p:cNvPr id="17" name="Shape 15"/>
          <p:cNvSpPr/>
          <p:nvPr/>
        </p:nvSpPr>
        <p:spPr>
          <a:xfrm>
            <a:off x="4286250" y="5478214"/>
            <a:ext cx="6286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8" name="Text 16"/>
          <p:cNvSpPr/>
          <p:nvPr/>
        </p:nvSpPr>
        <p:spPr>
          <a:xfrm>
            <a:off x="4286250" y="5678239"/>
            <a:ext cx="6475095" cy="599033"/>
          </a:xfrm>
          <a:prstGeom prst="rect">
            <a:avLst/>
          </a:prstGeom>
          <a:noFill/>
          <a:ln/>
        </p:spPr>
        <p:txBody>
          <a:bodyPr wrap="square" lIns="25400" tIns="25400" rIns="25400" bIns="25400" anchor="t">
            <a:normAutofit/>
          </a:bodyPr>
          <a:lstStyle/>
          <a:p>
            <a:pPr marL="0" indent="0" algn="l">
              <a:lnSpc>
                <a:spcPct val="125405"/>
              </a:lnSpc>
              <a:buNone/>
              <a:defRPr/>
            </a:pPr>
            <a:r>
              <a:rPr lang="en-US" sz="2400">
                <a:solidFill>
                  <a:srgbClr val="5d5d60"/>
                </a:solidFill>
                <a:latin typeface="고양덕양 EB"/>
                <a:ea typeface="고양덕양 EB"/>
                <a:cs typeface="Arial"/>
              </a:rPr>
              <a:t>실제 카드사 연동 (사업자 등록 필요)</a:t>
            </a:r>
            <a:endParaRPr lang="en-US" sz="2400">
              <a:latin typeface="고양덕양 EB"/>
            </a:endParaRPr>
          </a:p>
        </p:txBody>
      </p:sp>
      <p:sp>
        <p:nvSpPr>
          <p:cNvPr id="19" name="Shape 17"/>
          <p:cNvSpPr/>
          <p:nvPr/>
        </p:nvSpPr>
        <p:spPr>
          <a:xfrm>
            <a:off x="10953750" y="5478214"/>
            <a:ext cx="6286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0" name="Text 18"/>
          <p:cNvSpPr/>
          <p:nvPr/>
        </p:nvSpPr>
        <p:spPr>
          <a:xfrm>
            <a:off x="10953750" y="5678239"/>
            <a:ext cx="6475095" cy="599033"/>
          </a:xfrm>
          <a:prstGeom prst="rect">
            <a:avLst/>
          </a:prstGeom>
          <a:noFill/>
          <a:ln/>
        </p:spPr>
        <p:txBody>
          <a:bodyPr wrap="square" lIns="25400" tIns="25400" rIns="25400" bIns="25400" anchor="t">
            <a:normAutofit/>
          </a:bodyPr>
          <a:lstStyle/>
          <a:p>
            <a:pPr marL="0" indent="0" algn="l">
              <a:lnSpc>
                <a:spcPct val="125405"/>
              </a:lnSpc>
              <a:buNone/>
              <a:defRPr/>
            </a:pPr>
            <a:r>
              <a:rPr lang="en-US" sz="2400">
                <a:solidFill>
                  <a:srgbClr val="1d1f20"/>
                </a:solidFill>
                <a:latin typeface="고양덕양 EB"/>
                <a:ea typeface="고양덕양 EB"/>
                <a:cs typeface="Arial"/>
              </a:rPr>
              <a:t>대기 → 승인 → 환불 상태 전이와 예약 연동 로직</a:t>
            </a:r>
            <a:endParaRPr lang="en-US" sz="2400">
              <a:latin typeface="고양덕양 EB"/>
            </a:endParaRPr>
          </a:p>
        </p:txBody>
      </p:sp>
      <p:sp>
        <p:nvSpPr>
          <p:cNvPr id="21" name="Shape 19"/>
          <p:cNvSpPr/>
          <p:nvPr/>
        </p:nvSpPr>
        <p:spPr>
          <a:xfrm>
            <a:off x="1047750" y="6429673"/>
            <a:ext cx="2857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2" name="Text 20"/>
          <p:cNvSpPr/>
          <p:nvPr/>
        </p:nvSpPr>
        <p:spPr>
          <a:xfrm>
            <a:off x="1047750" y="6629698"/>
            <a:ext cx="2943225" cy="921841"/>
          </a:xfrm>
          <a:prstGeom prst="rect">
            <a:avLst/>
          </a:prstGeom>
          <a:noFill/>
          <a:ln/>
        </p:spPr>
        <p:txBody>
          <a:bodyPr wrap="square" lIns="25400" tIns="25400" rIns="25400" bIns="25400" anchor="t">
            <a:normAutofit/>
          </a:bodyPr>
          <a:lstStyle/>
          <a:p>
            <a:pPr marL="0" indent="0" algn="l">
              <a:lnSpc>
                <a:spcPct val="136977"/>
              </a:lnSpc>
              <a:buNone/>
              <a:defRPr/>
            </a:pPr>
            <a:r>
              <a:rPr lang="en-US" sz="2850">
                <a:solidFill>
                  <a:srgbClr val="1d1f20"/>
                </a:solidFill>
                <a:latin typeface="고양덕양 EB"/>
                <a:ea typeface="고양덕양 EB"/>
                <a:cs typeface="Arial"/>
              </a:rPr>
              <a:t>혼잡도</a:t>
            </a:r>
            <a:endParaRPr lang="en-US" sz="2850">
              <a:latin typeface="고양덕양 EB"/>
            </a:endParaRPr>
          </a:p>
        </p:txBody>
      </p:sp>
      <p:sp>
        <p:nvSpPr>
          <p:cNvPr id="23" name="Shape 21"/>
          <p:cNvSpPr/>
          <p:nvPr/>
        </p:nvSpPr>
        <p:spPr>
          <a:xfrm>
            <a:off x="4286250" y="6429673"/>
            <a:ext cx="6286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4" name="Text 22"/>
          <p:cNvSpPr/>
          <p:nvPr/>
        </p:nvSpPr>
        <p:spPr>
          <a:xfrm>
            <a:off x="4286250" y="6629698"/>
            <a:ext cx="6475095" cy="921841"/>
          </a:xfrm>
          <a:prstGeom prst="rect">
            <a:avLst/>
          </a:prstGeom>
          <a:noFill/>
          <a:ln/>
        </p:spPr>
        <p:txBody>
          <a:bodyPr wrap="square" lIns="25400" tIns="25400" rIns="25400" bIns="25400" anchor="t">
            <a:normAutofit/>
          </a:bodyPr>
          <a:lstStyle/>
          <a:p>
            <a:pPr marL="0" indent="0" algn="l">
              <a:lnSpc>
                <a:spcPct val="125405"/>
              </a:lnSpc>
              <a:buNone/>
              <a:defRPr/>
            </a:pPr>
            <a:r>
              <a:rPr lang="en-US" sz="2400">
                <a:solidFill>
                  <a:srgbClr val="5d5d60"/>
                </a:solidFill>
                <a:latin typeface="고양덕양 EB"/>
                <a:ea typeface="고양덕양 EB"/>
                <a:cs typeface="Arial"/>
              </a:rPr>
              <a:t>IoT 인원 계측 장비</a:t>
            </a:r>
            <a:endParaRPr lang="en-US" sz="2400">
              <a:latin typeface="고양덕양 EB"/>
            </a:endParaRPr>
          </a:p>
        </p:txBody>
      </p:sp>
      <p:sp>
        <p:nvSpPr>
          <p:cNvPr id="25" name="Shape 23"/>
          <p:cNvSpPr/>
          <p:nvPr/>
        </p:nvSpPr>
        <p:spPr>
          <a:xfrm>
            <a:off x="10953750" y="6429673"/>
            <a:ext cx="6286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6" name="Text 24"/>
          <p:cNvSpPr/>
          <p:nvPr/>
        </p:nvSpPr>
        <p:spPr>
          <a:xfrm>
            <a:off x="10953750" y="6629698"/>
            <a:ext cx="6475095" cy="921841"/>
          </a:xfrm>
          <a:prstGeom prst="rect">
            <a:avLst/>
          </a:prstGeom>
          <a:noFill/>
          <a:ln/>
        </p:spPr>
        <p:txBody>
          <a:bodyPr wrap="square" lIns="25400" tIns="25400" rIns="25400" bIns="25400" anchor="t">
            <a:normAutofit/>
          </a:bodyPr>
          <a:lstStyle/>
          <a:p>
            <a:pPr marL="0" indent="0" algn="l">
              <a:lnSpc>
                <a:spcPct val="125405"/>
              </a:lnSpc>
              <a:buNone/>
              <a:defRPr/>
            </a:pPr>
            <a:r>
              <a:rPr lang="en-US" sz="2400">
                <a:solidFill>
                  <a:srgbClr val="1d1f20"/>
                </a:solidFill>
                <a:latin typeface="고양덕양 EB"/>
                <a:ea typeface="고양덕양 EB"/>
                <a:cs typeface="Arial"/>
              </a:rPr>
              <a:t>5단계 표시와 5분 주기 반영</a:t>
            </a:r>
            <a:endParaRPr lang="en-US" sz="2400">
              <a:solidFill>
                <a:srgbClr val="1d1f20"/>
              </a:solidFill>
              <a:latin typeface="고양덕양 EB"/>
              <a:ea typeface="고양덕양 EB"/>
              <a:cs typeface="Arial"/>
            </a:endParaRPr>
          </a:p>
        </p:txBody>
      </p:sp>
      <p:sp>
        <p:nvSpPr>
          <p:cNvPr id="28" name="Shape 26"/>
          <p:cNvSpPr/>
          <p:nvPr/>
        </p:nvSpPr>
        <p:spPr>
          <a:xfrm>
            <a:off x="1047750" y="7456289"/>
            <a:ext cx="2857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31" name="Shape 29"/>
          <p:cNvSpPr/>
          <p:nvPr/>
        </p:nvSpPr>
        <p:spPr>
          <a:xfrm>
            <a:off x="4286250" y="7456289"/>
            <a:ext cx="6286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34" name="Shape 32"/>
          <p:cNvSpPr/>
          <p:nvPr/>
        </p:nvSpPr>
        <p:spPr>
          <a:xfrm>
            <a:off x="10953750" y="7456289"/>
            <a:ext cx="6286500" cy="9525"/>
          </a:xfrm>
          <a:prstGeom prst="rect">
            <a:avLst/>
          </a:prstGeom>
          <a:solidFill>
            <a:srgbClr val="1f1f1f">
              <a:alpha val="16000"/>
            </a:srgbClr>
          </a:solidFill>
          <a:ln/>
        </p:spPr>
        <p:txBody>
          <a:bodyPr anchor="ctr"/>
          <a:p>
            <a:pPr algn="ctr">
              <a:defRPr/>
            </a:pPr>
            <a:endParaRPr lang="ko-KR" altLang="en-US">
              <a:latin typeface="고양덕양 EB"/>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2">
    <p:bg>
      <p:bgPr shadeToTitle="0">
        <a:solidFill>
          <a:srgbClr val="1d2d3d"/>
        </a:solidFill>
      </p:bgPr>
    </p:bg>
    <p:spTree>
      <p:nvGrpSpPr>
        <p:cNvPr id="1" name=""/>
        <p:cNvGrpSpPr/>
        <p:nvPr/>
      </p:nvGrpSpPr>
      <p:grpSpPr>
        <a:xfrm>
          <a:off x="0" y="0"/>
          <a:ext cx="0" cy="0"/>
          <a:chOff x="0" y="0"/>
          <a:chExt cx="0" cy="0"/>
        </a:xfrm>
      </p:grpSpPr>
      <p:sp>
        <p:nvSpPr>
          <p:cNvPr id="2" name="Text 0"/>
          <p:cNvSpPr/>
          <p:nvPr/>
        </p:nvSpPr>
        <p:spPr>
          <a:xfrm>
            <a:off x="1047750" y="4146054"/>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60">
                <a:solidFill>
                  <a:srgbClr val="b5d9fd"/>
                </a:solidFill>
                <a:latin typeface="고양덕양 EB"/>
                <a:ea typeface="고양덕양 EB"/>
                <a:cs typeface="Courier New"/>
              </a:rPr>
              <a:t>SECTION Ⅲ</a:t>
            </a:r>
            <a:endParaRPr lang="en-US" sz="1800">
              <a:latin typeface="고양덕양 EB"/>
            </a:endParaRPr>
          </a:p>
        </p:txBody>
      </p:sp>
      <p:sp>
        <p:nvSpPr>
          <p:cNvPr id="3" name="Text 1"/>
          <p:cNvSpPr/>
          <p:nvPr/>
        </p:nvSpPr>
        <p:spPr>
          <a:xfrm>
            <a:off x="1047750" y="4766965"/>
            <a:ext cx="17811750" cy="1126182"/>
          </a:xfrm>
          <a:prstGeom prst="rect">
            <a:avLst/>
          </a:prstGeom>
          <a:noFill/>
          <a:ln/>
        </p:spPr>
        <p:txBody>
          <a:bodyPr wrap="square" lIns="25400" tIns="25400" rIns="25400" bIns="25400" anchor="t">
            <a:normAutofit/>
          </a:bodyPr>
          <a:lstStyle/>
          <a:p>
            <a:pPr marL="0" indent="0" algn="l">
              <a:lnSpc>
                <a:spcPct val="88558"/>
              </a:lnSpc>
              <a:buNone/>
              <a:defRPr/>
            </a:pPr>
            <a:r>
              <a:rPr lang="en-US" sz="8400" b="0" kern="0" spc="-168">
                <a:solidFill>
                  <a:srgbClr val="f2f2f3"/>
                </a:solidFill>
                <a:latin typeface="고양덕양 EB"/>
                <a:ea typeface="고양덕양 EB"/>
                <a:cs typeface="Arial"/>
              </a:rPr>
              <a:t>현재 진행 상황</a:t>
            </a:r>
            <a:endParaRPr lang="en-US" sz="8400">
              <a:latin typeface="고양덕양 EB"/>
            </a:endParaRPr>
          </a:p>
        </p:txBody>
      </p:sp>
      <p:sp>
        <p:nvSpPr>
          <p:cNvPr id="4" name="Shape 2"/>
          <p:cNvSpPr/>
          <p:nvPr/>
        </p:nvSpPr>
        <p:spPr>
          <a:xfrm>
            <a:off x="1047750" y="6274147"/>
            <a:ext cx="2095500" cy="19050"/>
          </a:xfrm>
          <a:prstGeom prst="rect">
            <a:avLst/>
          </a:prstGeom>
          <a:solidFill>
            <a:srgbClr val="94bce3"/>
          </a:solidFill>
          <a:ln/>
        </p:spPr>
        <p:txBody>
          <a:bodyPr anchor="ctr"/>
          <a:p>
            <a:pPr algn="ctr">
              <a:defRPr/>
            </a:pPr>
            <a:endParaRPr lang="ko-KR" altLang="en-US">
              <a:latin typeface="고양덕양 EB"/>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3">
    <p:bg>
      <p:bgPr shadeToTitle="0">
        <a:solidFill>
          <a:srgbClr val="f2f2f3"/>
        </a:solidFill>
      </p:bgPr>
    </p:bg>
    <p:spTree>
      <p:nvGrpSpPr>
        <p:cNvPr id="1" name=""/>
        <p:cNvGrpSpPr/>
        <p:nvPr/>
      </p:nvGrpSpPr>
      <p:grpSpPr>
        <a:xfrm>
          <a:off x="0" y="0"/>
          <a:ext cx="0" cy="0"/>
          <a:chOff x="0" y="0"/>
          <a:chExt cx="0" cy="0"/>
        </a:xfrm>
      </p:grpSpPr>
      <p:sp>
        <p:nvSpPr>
          <p:cNvPr id="2" name="Text 0"/>
          <p:cNvSpPr/>
          <p:nvPr/>
        </p:nvSpPr>
        <p:spPr>
          <a:xfrm>
            <a:off x="1047750" y="876300"/>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24">
                <a:solidFill>
                  <a:srgbClr val="416180"/>
                </a:solidFill>
                <a:latin typeface="고양덕양 EB"/>
                <a:ea typeface="고양덕양 EB"/>
                <a:cs typeface="Courier New"/>
              </a:rPr>
              <a:t>Ⅲ </a:t>
            </a:r>
            <a:r>
              <a:rPr lang="en-US" sz="1800" b="0" kern="0" spc="324">
                <a:solidFill>
                  <a:srgbClr val="416180"/>
                </a:solidFill>
                <a:ea typeface="고양덕양 EB"/>
                <a:cs typeface="Courier New"/>
              </a:rPr>
              <a:t>—</a:t>
            </a:r>
            <a:r>
              <a:rPr lang="en-US" sz="1800" b="0" kern="0" spc="324">
                <a:solidFill>
                  <a:srgbClr val="416180"/>
                </a:solidFill>
                <a:latin typeface="고양덕양 EB"/>
                <a:ea typeface="고양덕양 EB"/>
                <a:cs typeface="Courier New"/>
              </a:rPr>
              <a:t> 01</a:t>
            </a:r>
            <a:endParaRPr lang="en-US" sz="1800">
              <a:latin typeface="고양덕양 EB"/>
            </a:endParaRPr>
          </a:p>
        </p:txBody>
      </p:sp>
      <p:sp>
        <p:nvSpPr>
          <p:cNvPr id="3" name="Text 1"/>
          <p:cNvSpPr/>
          <p:nvPr/>
        </p:nvSpPr>
        <p:spPr>
          <a:xfrm>
            <a:off x="1047750" y="1440061"/>
            <a:ext cx="17811750" cy="708571"/>
          </a:xfrm>
          <a:prstGeom prst="rect">
            <a:avLst/>
          </a:prstGeom>
          <a:noFill/>
          <a:ln/>
        </p:spPr>
        <p:txBody>
          <a:bodyPr wrap="square" lIns="25400" tIns="25400" rIns="25400" bIns="25400" anchor="t">
            <a:normAutofit/>
          </a:bodyPr>
          <a:lstStyle/>
          <a:p>
            <a:pPr marL="0" indent="0" algn="l">
              <a:lnSpc>
                <a:spcPct val="95135"/>
              </a:lnSpc>
              <a:buNone/>
              <a:defRPr/>
            </a:pPr>
            <a:r>
              <a:rPr lang="en-US" sz="4800" b="1" kern="0" spc="-72">
                <a:solidFill>
                  <a:srgbClr val="1d1f20"/>
                </a:solidFill>
                <a:latin typeface="고양덕양 EB"/>
                <a:ea typeface="고양덕양 EB"/>
                <a:cs typeface="Arial"/>
              </a:rPr>
              <a:t>데이터 모델 구조</a:t>
            </a:r>
            <a:endParaRPr lang="en-US" sz="4800">
              <a:latin typeface="고양덕양 EB"/>
            </a:endParaRPr>
          </a:p>
        </p:txBody>
      </p:sp>
      <p:sp>
        <p:nvSpPr>
          <p:cNvPr id="4" name="Shape 2"/>
          <p:cNvSpPr/>
          <p:nvPr/>
        </p:nvSpPr>
        <p:spPr>
          <a:xfrm>
            <a:off x="1047750" y="2358182"/>
            <a:ext cx="16192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5" name="Shape 3"/>
          <p:cNvSpPr/>
          <p:nvPr/>
        </p:nvSpPr>
        <p:spPr>
          <a:xfrm>
            <a:off x="1047750" y="2615357"/>
            <a:ext cx="16192500" cy="1115318"/>
          </a:xfrm>
          <a:prstGeom prst="rect">
            <a:avLst/>
          </a:prstGeom>
          <a:solidFill>
            <a:srgbClr val="1d2d3d"/>
          </a:solidFill>
          <a:ln/>
        </p:spPr>
        <p:txBody>
          <a:bodyPr anchor="ctr"/>
          <a:p>
            <a:pPr algn="ctr">
              <a:defRPr/>
            </a:pPr>
            <a:endParaRPr lang="ko-KR" altLang="en-US">
              <a:latin typeface="고양덕양 EB"/>
            </a:endParaRPr>
          </a:p>
        </p:txBody>
      </p:sp>
      <p:sp>
        <p:nvSpPr>
          <p:cNvPr id="6" name="Text 4"/>
          <p:cNvSpPr/>
          <p:nvPr/>
        </p:nvSpPr>
        <p:spPr>
          <a:xfrm>
            <a:off x="1371600" y="2863007"/>
            <a:ext cx="2888679" cy="658118"/>
          </a:xfrm>
          <a:prstGeom prst="rect">
            <a:avLst/>
          </a:prstGeom>
          <a:noFill/>
          <a:ln/>
        </p:spPr>
        <p:txBody>
          <a:bodyPr wrap="square" lIns="25400" tIns="25400" rIns="25400" bIns="25400" anchor="t">
            <a:normAutofit/>
          </a:bodyPr>
          <a:lstStyle/>
          <a:p>
            <a:pPr marL="0" indent="0" algn="l">
              <a:lnSpc>
                <a:spcPct val="135625"/>
              </a:lnSpc>
              <a:buNone/>
              <a:defRPr/>
            </a:pPr>
            <a:r>
              <a:rPr lang="en-US" sz="3150">
                <a:solidFill>
                  <a:srgbClr val="f2f2f3"/>
                </a:solidFill>
                <a:latin typeface="고양덕양 EB"/>
                <a:ea typeface="고양덕양 EB"/>
                <a:cs typeface="Arial"/>
              </a:rPr>
              <a:t>Branch </a:t>
            </a:r>
            <a:r>
              <a:rPr lang="en-US" sz="3150">
                <a:solidFill>
                  <a:srgbClr val="f2f2f3"/>
                </a:solidFill>
                <a:ea typeface="고양덕양 EB"/>
                <a:cs typeface="Arial"/>
              </a:rPr>
              <a:t>—</a:t>
            </a:r>
            <a:r>
              <a:rPr lang="en-US" sz="3150">
                <a:solidFill>
                  <a:srgbClr val="f2f2f3"/>
                </a:solidFill>
                <a:latin typeface="고양덕양 EB"/>
                <a:ea typeface="고양덕양 EB"/>
                <a:cs typeface="Arial"/>
              </a:rPr>
              <a:t> 지점</a:t>
            </a:r>
            <a:endParaRPr lang="en-US" sz="3150">
              <a:latin typeface="고양덕양 EB"/>
            </a:endParaRPr>
          </a:p>
        </p:txBody>
      </p:sp>
      <p:sp>
        <p:nvSpPr>
          <p:cNvPr id="7" name="Text 5"/>
          <p:cNvSpPr/>
          <p:nvPr/>
        </p:nvSpPr>
        <p:spPr>
          <a:xfrm>
            <a:off x="4264372" y="3053507"/>
            <a:ext cx="7493541"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b5d9fd"/>
                </a:solidFill>
                <a:latin typeface="고양덕양 EB"/>
                <a:ea typeface="고양덕양 EB"/>
                <a:cs typeface="Courier New"/>
              </a:rPr>
              <a:t>모든 하위 데이터를 branchId로 이 축에 매다는 구성 (현재 안)</a:t>
            </a:r>
            <a:endParaRPr lang="en-US" sz="1800">
              <a:latin typeface="고양덕양 EB"/>
            </a:endParaRPr>
          </a:p>
        </p:txBody>
      </p:sp>
      <p:sp>
        <p:nvSpPr>
          <p:cNvPr id="8" name="Shape 6"/>
          <p:cNvSpPr/>
          <p:nvPr/>
        </p:nvSpPr>
        <p:spPr>
          <a:xfrm>
            <a:off x="3495675" y="3730675"/>
            <a:ext cx="9525" cy="323850"/>
          </a:xfrm>
          <a:prstGeom prst="rect">
            <a:avLst/>
          </a:prstGeom>
          <a:solidFill>
            <a:srgbClr val="b7b7ba"/>
          </a:solidFill>
          <a:ln/>
        </p:spPr>
        <p:txBody>
          <a:bodyPr anchor="ctr"/>
          <a:p>
            <a:pPr algn="ctr">
              <a:defRPr/>
            </a:pPr>
            <a:endParaRPr lang="ko-KR" altLang="en-US">
              <a:latin typeface="고양덕양 EB"/>
            </a:endParaRPr>
          </a:p>
        </p:txBody>
      </p:sp>
      <p:sp>
        <p:nvSpPr>
          <p:cNvPr id="9" name="Shape 7"/>
          <p:cNvSpPr/>
          <p:nvPr/>
        </p:nvSpPr>
        <p:spPr>
          <a:xfrm>
            <a:off x="7258050" y="3730675"/>
            <a:ext cx="9525" cy="323850"/>
          </a:xfrm>
          <a:prstGeom prst="rect">
            <a:avLst/>
          </a:prstGeom>
          <a:solidFill>
            <a:srgbClr val="b7b7ba"/>
          </a:solidFill>
          <a:ln/>
        </p:spPr>
        <p:txBody>
          <a:bodyPr anchor="ctr"/>
          <a:p>
            <a:pPr algn="ctr">
              <a:defRPr/>
            </a:pPr>
            <a:endParaRPr lang="ko-KR" altLang="en-US">
              <a:latin typeface="고양덕양 EB"/>
            </a:endParaRPr>
          </a:p>
        </p:txBody>
      </p:sp>
      <p:sp>
        <p:nvSpPr>
          <p:cNvPr id="10" name="Shape 8"/>
          <p:cNvSpPr/>
          <p:nvPr/>
        </p:nvSpPr>
        <p:spPr>
          <a:xfrm>
            <a:off x="11020425" y="3730675"/>
            <a:ext cx="9525" cy="323850"/>
          </a:xfrm>
          <a:prstGeom prst="rect">
            <a:avLst/>
          </a:prstGeom>
          <a:solidFill>
            <a:srgbClr val="b7b7ba"/>
          </a:solidFill>
          <a:ln/>
        </p:spPr>
        <p:txBody>
          <a:bodyPr anchor="ctr"/>
          <a:p>
            <a:pPr algn="ctr">
              <a:defRPr/>
            </a:pPr>
            <a:endParaRPr lang="ko-KR" altLang="en-US">
              <a:latin typeface="고양덕양 EB"/>
            </a:endParaRPr>
          </a:p>
        </p:txBody>
      </p:sp>
      <p:sp>
        <p:nvSpPr>
          <p:cNvPr id="11" name="Shape 9"/>
          <p:cNvSpPr/>
          <p:nvPr/>
        </p:nvSpPr>
        <p:spPr>
          <a:xfrm>
            <a:off x="14782800" y="3730675"/>
            <a:ext cx="9525" cy="323850"/>
          </a:xfrm>
          <a:prstGeom prst="rect">
            <a:avLst/>
          </a:prstGeom>
          <a:solidFill>
            <a:srgbClr val="b7b7ba"/>
          </a:solidFill>
          <a:ln/>
        </p:spPr>
        <p:txBody>
          <a:bodyPr anchor="ctr"/>
          <a:p>
            <a:pPr algn="ctr">
              <a:defRPr/>
            </a:pPr>
            <a:endParaRPr lang="ko-KR" altLang="en-US">
              <a:latin typeface="고양덕양 EB"/>
            </a:endParaRPr>
          </a:p>
        </p:txBody>
      </p:sp>
      <p:sp>
        <p:nvSpPr>
          <p:cNvPr id="12" name="Shape 10"/>
          <p:cNvSpPr/>
          <p:nvPr/>
        </p:nvSpPr>
        <p:spPr>
          <a:xfrm>
            <a:off x="1047750" y="4054525"/>
            <a:ext cx="3876675" cy="2459236"/>
          </a:xfrm>
          <a:prstGeom prst="rect">
            <a:avLst/>
          </a:prstGeom>
          <a:ln w="9525">
            <a:solidFill>
              <a:srgbClr val="1f1f1f">
                <a:alpha val="16000"/>
              </a:srgbClr>
            </a:solidFill>
            <a:prstDash val="solid"/>
          </a:ln>
        </p:spPr>
        <p:txBody>
          <a:bodyPr anchor="ctr"/>
          <a:p>
            <a:pPr algn="ctr">
              <a:defRPr/>
            </a:pPr>
            <a:endParaRPr lang="ko-KR" altLang="en-US">
              <a:latin typeface="고양덕양 EB"/>
            </a:endParaRPr>
          </a:p>
        </p:txBody>
      </p:sp>
      <p:sp>
        <p:nvSpPr>
          <p:cNvPr id="13" name="Text 11"/>
          <p:cNvSpPr/>
          <p:nvPr/>
        </p:nvSpPr>
        <p:spPr>
          <a:xfrm>
            <a:off x="1304925" y="4330750"/>
            <a:ext cx="3698558"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계정 · 권한</a:t>
            </a:r>
            <a:endParaRPr lang="en-US" sz="1800">
              <a:latin typeface="고양덕양 EB"/>
            </a:endParaRPr>
          </a:p>
        </p:txBody>
      </p:sp>
      <p:sp>
        <p:nvSpPr>
          <p:cNvPr id="14" name="Text 12"/>
          <p:cNvSpPr/>
          <p:nvPr/>
        </p:nvSpPr>
        <p:spPr>
          <a:xfrm>
            <a:off x="1304925" y="4837361"/>
            <a:ext cx="3463195" cy="1438275"/>
          </a:xfrm>
          <a:prstGeom prst="rect">
            <a:avLst/>
          </a:prstGeom>
          <a:noFill/>
          <a:ln/>
        </p:spPr>
        <p:txBody>
          <a:bodyPr wrap="square" lIns="25400" tIns="25400" rIns="25400" bIns="25400" anchor="t">
            <a:normAutofit lnSpcReduction="10000"/>
          </a:bodyPr>
          <a:lstStyle/>
          <a:p>
            <a:pPr marL="0" indent="0" algn="l">
              <a:lnSpc>
                <a:spcPct val="153125"/>
              </a:lnSpc>
              <a:buNone/>
              <a:defRPr/>
            </a:pPr>
            <a:r>
              <a:rPr lang="en-US" sz="2100">
                <a:solidFill>
                  <a:srgbClr val="1d1f20"/>
                </a:solidFill>
                <a:latin typeface="고양덕양 EB"/>
                <a:ea typeface="고양덕양 EB"/>
                <a:cs typeface="Arial"/>
              </a:rPr>
              <a:t>Account </a:t>
            </a:r>
            <a:br>
              <a:rPr lang="ko-KR" altLang="en-US" sz="2100">
                <a:solidFill>
                  <a:srgbClr val="1d1f20"/>
                </a:solidFill>
                <a:latin typeface="고양덕양 EB"/>
                <a:ea typeface="고양덕양 EB"/>
                <a:cs typeface="Arial"/>
              </a:rPr>
            </a:br>
            <a:r>
              <a:rPr lang="en-US" sz="2100">
                <a:solidFill>
                  <a:srgbClr val="1d1f20"/>
                </a:solidFill>
                <a:latin typeface="고양덕양 EB"/>
                <a:ea typeface="고양덕양 EB"/>
                <a:cs typeface="Arial"/>
              </a:rPr>
              <a:t>RefreshToken </a:t>
            </a:r>
            <a:br>
              <a:rPr lang="ko-KR" altLang="en-US" sz="2100">
                <a:solidFill>
                  <a:srgbClr val="1d1f20"/>
                </a:solidFill>
                <a:latin typeface="고양덕양 EB"/>
                <a:ea typeface="고양덕양 EB"/>
                <a:cs typeface="Arial"/>
              </a:rPr>
            </a:br>
            <a:r>
              <a:rPr lang="en-US" sz="2100">
                <a:solidFill>
                  <a:srgbClr val="1d1f20"/>
                </a:solidFill>
                <a:latin typeface="고양덕양 EB"/>
                <a:ea typeface="고양덕양 EB"/>
                <a:cs typeface="Arial"/>
              </a:rPr>
              <a:t>AuditLog</a:t>
            </a:r>
            <a:endParaRPr lang="en-US" sz="2100">
              <a:solidFill>
                <a:srgbClr val="1d1f20"/>
              </a:solidFill>
              <a:latin typeface="고양덕양 EB"/>
              <a:ea typeface="고양덕양 EB"/>
              <a:cs typeface="Arial"/>
            </a:endParaRPr>
          </a:p>
        </p:txBody>
      </p:sp>
      <p:sp>
        <p:nvSpPr>
          <p:cNvPr id="15" name="Shape 13"/>
          <p:cNvSpPr/>
          <p:nvPr/>
        </p:nvSpPr>
        <p:spPr>
          <a:xfrm>
            <a:off x="5153025" y="4054525"/>
            <a:ext cx="3876675" cy="2459236"/>
          </a:xfrm>
          <a:prstGeom prst="rect">
            <a:avLst/>
          </a:prstGeom>
          <a:ln w="9525">
            <a:solidFill>
              <a:srgbClr val="1f1f1f">
                <a:alpha val="16000"/>
              </a:srgbClr>
            </a:solidFill>
            <a:prstDash val="solid"/>
          </a:ln>
        </p:spPr>
        <p:txBody>
          <a:bodyPr anchor="ctr"/>
          <a:p>
            <a:pPr algn="ctr">
              <a:defRPr/>
            </a:pPr>
            <a:endParaRPr lang="ko-KR" altLang="en-US">
              <a:latin typeface="고양덕양 EB"/>
            </a:endParaRPr>
          </a:p>
        </p:txBody>
      </p:sp>
      <p:sp>
        <p:nvSpPr>
          <p:cNvPr id="16" name="Text 14"/>
          <p:cNvSpPr/>
          <p:nvPr/>
        </p:nvSpPr>
        <p:spPr>
          <a:xfrm>
            <a:off x="5410200" y="4330750"/>
            <a:ext cx="3698558"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인사 · 근태</a:t>
            </a:r>
            <a:endParaRPr lang="en-US" sz="1800">
              <a:latin typeface="고양덕양 EB"/>
            </a:endParaRPr>
          </a:p>
        </p:txBody>
      </p:sp>
      <p:sp>
        <p:nvSpPr>
          <p:cNvPr id="17" name="Text 15"/>
          <p:cNvSpPr/>
          <p:nvPr/>
        </p:nvSpPr>
        <p:spPr>
          <a:xfrm>
            <a:off x="5410200" y="4837361"/>
            <a:ext cx="3463195" cy="1438275"/>
          </a:xfrm>
          <a:prstGeom prst="rect">
            <a:avLst/>
          </a:prstGeom>
          <a:noFill/>
          <a:ln/>
        </p:spPr>
        <p:txBody>
          <a:bodyPr wrap="square" lIns="25400" tIns="25400" rIns="25400" bIns="25400" anchor="t">
            <a:normAutofit fontScale="92500"/>
          </a:bodyPr>
          <a:lstStyle/>
          <a:p>
            <a:pPr marL="0" indent="0" algn="l">
              <a:lnSpc>
                <a:spcPct val="153125"/>
              </a:lnSpc>
              <a:buNone/>
              <a:defRPr/>
            </a:pPr>
            <a:r>
              <a:rPr lang="en-US" sz="2100">
                <a:solidFill>
                  <a:srgbClr val="1d1f20"/>
                </a:solidFill>
                <a:latin typeface="고양덕양 EB"/>
                <a:ea typeface="고양덕양 EB"/>
                <a:cs typeface="Arial"/>
              </a:rPr>
              <a:t>Staff </a:t>
            </a:r>
            <a:br>
              <a:rPr lang="ko-KR" altLang="en-US" sz="2100">
                <a:solidFill>
                  <a:srgbClr val="1d1f20"/>
                </a:solidFill>
                <a:latin typeface="고양덕양 EB"/>
                <a:ea typeface="고양덕양 EB"/>
                <a:cs typeface="Arial"/>
              </a:rPr>
            </a:br>
            <a:r>
              <a:rPr lang="en-US" sz="2100">
                <a:solidFill>
                  <a:srgbClr val="1d1f20"/>
                </a:solidFill>
                <a:latin typeface="고양덕양 EB"/>
                <a:ea typeface="고양덕양 EB"/>
                <a:cs typeface="Arial"/>
              </a:rPr>
              <a:t>AttendanceRecord LeaveRequest / WorkLog</a:t>
            </a:r>
            <a:endParaRPr lang="en-US" sz="2100">
              <a:solidFill>
                <a:srgbClr val="1d1f20"/>
              </a:solidFill>
              <a:latin typeface="고양덕양 EB"/>
              <a:ea typeface="고양덕양 EB"/>
              <a:cs typeface="Arial"/>
            </a:endParaRPr>
          </a:p>
        </p:txBody>
      </p:sp>
      <p:sp>
        <p:nvSpPr>
          <p:cNvPr id="18" name="Shape 16"/>
          <p:cNvSpPr/>
          <p:nvPr/>
        </p:nvSpPr>
        <p:spPr>
          <a:xfrm>
            <a:off x="9258300" y="4054525"/>
            <a:ext cx="3876675" cy="2459236"/>
          </a:xfrm>
          <a:prstGeom prst="rect">
            <a:avLst/>
          </a:prstGeom>
          <a:ln w="9525">
            <a:solidFill>
              <a:srgbClr val="1f1f1f">
                <a:alpha val="16000"/>
              </a:srgbClr>
            </a:solidFill>
            <a:prstDash val="solid"/>
          </a:ln>
        </p:spPr>
        <p:txBody>
          <a:bodyPr anchor="ctr"/>
          <a:p>
            <a:pPr algn="ctr">
              <a:defRPr/>
            </a:pPr>
            <a:endParaRPr lang="ko-KR" altLang="en-US">
              <a:latin typeface="고양덕양 EB"/>
            </a:endParaRPr>
          </a:p>
        </p:txBody>
      </p:sp>
      <p:sp>
        <p:nvSpPr>
          <p:cNvPr id="19" name="Text 17"/>
          <p:cNvSpPr/>
          <p:nvPr/>
        </p:nvSpPr>
        <p:spPr>
          <a:xfrm>
            <a:off x="9515475" y="4330750"/>
            <a:ext cx="3698558"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회원 · 예약 · 결제</a:t>
            </a:r>
            <a:endParaRPr lang="en-US" sz="1800">
              <a:latin typeface="고양덕양 EB"/>
            </a:endParaRPr>
          </a:p>
        </p:txBody>
      </p:sp>
      <p:sp>
        <p:nvSpPr>
          <p:cNvPr id="20" name="Text 18"/>
          <p:cNvSpPr/>
          <p:nvPr/>
        </p:nvSpPr>
        <p:spPr>
          <a:xfrm>
            <a:off x="9515475" y="4837361"/>
            <a:ext cx="3463195" cy="1438275"/>
          </a:xfrm>
          <a:prstGeom prst="rect">
            <a:avLst/>
          </a:prstGeom>
          <a:noFill/>
          <a:ln/>
        </p:spPr>
        <p:txBody>
          <a:bodyPr wrap="square" lIns="25400" tIns="25400" rIns="25400" bIns="25400" anchor="t">
            <a:normAutofit/>
          </a:bodyPr>
          <a:lstStyle/>
          <a:p>
            <a:pPr marL="0" indent="0" algn="l">
              <a:lnSpc>
                <a:spcPct val="153125"/>
              </a:lnSpc>
              <a:buNone/>
              <a:defRPr/>
            </a:pPr>
            <a:r>
              <a:rPr lang="en-US" sz="2100">
                <a:solidFill>
                  <a:srgbClr val="1d1f20"/>
                </a:solidFill>
                <a:latin typeface="고양덕양 EB"/>
                <a:ea typeface="고양덕양 EB"/>
                <a:cs typeface="Arial"/>
              </a:rPr>
              <a:t>Member </a:t>
            </a:r>
            <a:br>
              <a:rPr lang="ko-KR" altLang="en-US" sz="2100">
                <a:solidFill>
                  <a:srgbClr val="1d1f20"/>
                </a:solidFill>
                <a:latin typeface="고양덕양 EB"/>
                <a:ea typeface="고양덕양 EB"/>
                <a:cs typeface="Arial"/>
              </a:rPr>
            </a:br>
            <a:r>
              <a:rPr lang="en-US" sz="2100">
                <a:solidFill>
                  <a:srgbClr val="1d1f20"/>
                </a:solidFill>
                <a:latin typeface="고양덕양 EB"/>
                <a:ea typeface="고양덕양 EB"/>
                <a:cs typeface="Arial"/>
              </a:rPr>
              <a:t>Program / ScheduleSlot Reservation / Payment</a:t>
            </a:r>
            <a:endParaRPr lang="en-US" sz="2100">
              <a:solidFill>
                <a:srgbClr val="1d1f20"/>
              </a:solidFill>
              <a:latin typeface="고양덕양 EB"/>
              <a:ea typeface="고양덕양 EB"/>
              <a:cs typeface="Arial"/>
            </a:endParaRPr>
          </a:p>
        </p:txBody>
      </p:sp>
      <p:sp>
        <p:nvSpPr>
          <p:cNvPr id="21" name="Shape 19"/>
          <p:cNvSpPr/>
          <p:nvPr/>
        </p:nvSpPr>
        <p:spPr>
          <a:xfrm>
            <a:off x="13363575" y="4054525"/>
            <a:ext cx="3876675" cy="2459236"/>
          </a:xfrm>
          <a:prstGeom prst="rect">
            <a:avLst/>
          </a:prstGeom>
          <a:ln w="9525">
            <a:solidFill>
              <a:srgbClr val="1f1f1f">
                <a:alpha val="16000"/>
              </a:srgbClr>
            </a:solidFill>
            <a:prstDash val="solid"/>
          </a:ln>
        </p:spPr>
        <p:txBody>
          <a:bodyPr anchor="ctr"/>
          <a:p>
            <a:pPr algn="ctr">
              <a:defRPr/>
            </a:pPr>
            <a:endParaRPr lang="ko-KR" altLang="en-US">
              <a:latin typeface="고양덕양 EB"/>
            </a:endParaRPr>
          </a:p>
        </p:txBody>
      </p:sp>
      <p:sp>
        <p:nvSpPr>
          <p:cNvPr id="22" name="Text 20"/>
          <p:cNvSpPr/>
          <p:nvPr/>
        </p:nvSpPr>
        <p:spPr>
          <a:xfrm>
            <a:off x="13620750" y="4330750"/>
            <a:ext cx="3698558"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시설 · 게시판</a:t>
            </a:r>
            <a:endParaRPr lang="en-US" sz="1800">
              <a:latin typeface="고양덕양 EB"/>
            </a:endParaRPr>
          </a:p>
        </p:txBody>
      </p:sp>
      <p:sp>
        <p:nvSpPr>
          <p:cNvPr id="23" name="Text 21"/>
          <p:cNvSpPr/>
          <p:nvPr/>
        </p:nvSpPr>
        <p:spPr>
          <a:xfrm>
            <a:off x="13620750" y="4837361"/>
            <a:ext cx="3463195" cy="1438275"/>
          </a:xfrm>
          <a:prstGeom prst="rect">
            <a:avLst/>
          </a:prstGeom>
          <a:noFill/>
          <a:ln/>
        </p:spPr>
        <p:txBody>
          <a:bodyPr wrap="square" lIns="25400" tIns="25400" rIns="25400" bIns="25400" anchor="t">
            <a:normAutofit fontScale="92500"/>
          </a:bodyPr>
          <a:lstStyle/>
          <a:p>
            <a:pPr marL="0" indent="0" algn="l">
              <a:lnSpc>
                <a:spcPct val="153125"/>
              </a:lnSpc>
              <a:buNone/>
              <a:defRPr/>
            </a:pPr>
            <a:r>
              <a:rPr lang="en-US" sz="2100">
                <a:solidFill>
                  <a:srgbClr val="1d1f20"/>
                </a:solidFill>
                <a:latin typeface="고양덕양 EB"/>
                <a:ea typeface="고양덕양 EB"/>
                <a:cs typeface="Arial"/>
              </a:rPr>
              <a:t>Facility / FacilityCheckIn CongestionSnapshot </a:t>
            </a:r>
            <a:br>
              <a:rPr lang="ko-KR" altLang="en-US" sz="2100">
                <a:solidFill>
                  <a:srgbClr val="1d1f20"/>
                </a:solidFill>
                <a:latin typeface="고양덕양 EB"/>
                <a:ea typeface="고양덕양 EB"/>
                <a:cs typeface="Arial"/>
              </a:rPr>
            </a:br>
            <a:r>
              <a:rPr lang="en-US" sz="2100">
                <a:solidFill>
                  <a:srgbClr val="1d1f20"/>
                </a:solidFill>
                <a:latin typeface="고양덕양 EB"/>
                <a:ea typeface="고양덕양 EB"/>
                <a:cs typeface="Arial"/>
              </a:rPr>
              <a:t>Post</a:t>
            </a:r>
            <a:endParaRPr lang="en-US" sz="2100">
              <a:solidFill>
                <a:srgbClr val="1d1f20"/>
              </a:solidFill>
              <a:latin typeface="고양덕양 EB"/>
              <a:ea typeface="고양덕양 EB"/>
              <a:cs typeface="Arial"/>
            </a:endParaRPr>
          </a:p>
        </p:txBody>
      </p:sp>
      <p:sp>
        <p:nvSpPr>
          <p:cNvPr id="24" name="Shape 22"/>
          <p:cNvSpPr/>
          <p:nvPr/>
        </p:nvSpPr>
        <p:spPr>
          <a:xfrm>
            <a:off x="1047750" y="8250734"/>
            <a:ext cx="16192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5" name="Text 23"/>
          <p:cNvSpPr/>
          <p:nvPr/>
        </p:nvSpPr>
        <p:spPr>
          <a:xfrm>
            <a:off x="1047750" y="8765084"/>
            <a:ext cx="1265039" cy="392311"/>
          </a:xfrm>
          <a:prstGeom prst="rect">
            <a:avLst/>
          </a:prstGeom>
          <a:noFill/>
          <a:ln/>
        </p:spPr>
        <p:txBody>
          <a:bodyPr wrap="non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유지할 원칙</a:t>
            </a:r>
            <a:endParaRPr lang="en-US" sz="1800">
              <a:latin typeface="고양덕양 EB"/>
            </a:endParaRPr>
          </a:p>
        </p:txBody>
      </p:sp>
      <p:sp>
        <p:nvSpPr>
          <p:cNvPr id="26" name="Text 24"/>
          <p:cNvSpPr/>
          <p:nvPr/>
        </p:nvSpPr>
        <p:spPr>
          <a:xfrm>
            <a:off x="2617589" y="8679359"/>
            <a:ext cx="15061341" cy="921841"/>
          </a:xfrm>
          <a:prstGeom prst="rect">
            <a:avLst/>
          </a:prstGeom>
          <a:noFill/>
          <a:ln/>
        </p:spPr>
        <p:txBody>
          <a:bodyPr wrap="square" lIns="25400" tIns="25400" rIns="25400" bIns="25400" anchor="t">
            <a:normAutofit/>
          </a:bodyPr>
          <a:lstStyle/>
          <a:p>
            <a:pPr marL="0" indent="0" algn="l">
              <a:lnSpc>
                <a:spcPct val="125405"/>
              </a:lnSpc>
              <a:buNone/>
              <a:defRPr/>
            </a:pPr>
            <a:r>
              <a:rPr lang="en-US" sz="2400">
                <a:solidFill>
                  <a:srgbClr val="1d1f20"/>
                </a:solidFill>
                <a:latin typeface="고양덕양 EB"/>
                <a:ea typeface="고양덕양 EB"/>
                <a:cs typeface="Arial"/>
              </a:rPr>
              <a:t>데이터는 지우지 않고 비활성화만 하고, 암묵적인 규칙은 상태 값으로 드러냅니다. </a:t>
            </a:r>
            <a:br>
              <a:rPr lang="ko-KR" altLang="en-US" sz="2400">
                <a:solidFill>
                  <a:srgbClr val="1d1f20"/>
                </a:solidFill>
                <a:latin typeface="고양덕양 EB"/>
                <a:ea typeface="고양덕양 EB"/>
                <a:cs typeface="Arial"/>
              </a:rPr>
            </a:br>
            <a:r>
              <a:rPr lang="en-US" sz="2400">
                <a:solidFill>
                  <a:srgbClr val="1d1f20"/>
                </a:solidFill>
                <a:latin typeface="고양덕양 EB"/>
                <a:ea typeface="고양덕양 EB"/>
                <a:cs typeface="Arial"/>
              </a:rPr>
              <a:t>모델 구성은 아직 바뀌는 중이지만 이 원칙은 유지하려 합니다.</a:t>
            </a:r>
            <a:endParaRPr lang="en-US" sz="2400">
              <a:solidFill>
                <a:srgbClr val="1d1f20"/>
              </a:solidFill>
              <a:latin typeface="고양덕양 EB"/>
              <a:ea typeface="고양덕양 EB"/>
              <a:cs typeface="Arial"/>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4">
    <p:bg>
      <p:bgPr shadeToTitle="0">
        <a:solidFill>
          <a:srgbClr val="f2f2f3"/>
        </a:solidFill>
      </p:bgPr>
    </p:bg>
    <p:spTree>
      <p:nvGrpSpPr>
        <p:cNvPr id="1" name=""/>
        <p:cNvGrpSpPr/>
        <p:nvPr/>
      </p:nvGrpSpPr>
      <p:grpSpPr>
        <a:xfrm>
          <a:off x="0" y="0"/>
          <a:ext cx="0" cy="0"/>
          <a:chOff x="0" y="0"/>
          <a:chExt cx="0" cy="0"/>
        </a:xfrm>
      </p:grpSpPr>
      <p:sp>
        <p:nvSpPr>
          <p:cNvPr id="2" name="Text 0"/>
          <p:cNvSpPr/>
          <p:nvPr/>
        </p:nvSpPr>
        <p:spPr>
          <a:xfrm>
            <a:off x="1047750" y="876300"/>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24">
                <a:solidFill>
                  <a:srgbClr val="416180"/>
                </a:solidFill>
                <a:latin typeface="고양덕양 EB"/>
                <a:ea typeface="고양덕양 EB"/>
                <a:cs typeface="Courier New"/>
              </a:rPr>
              <a:t>Ⅲ </a:t>
            </a:r>
            <a:r>
              <a:rPr lang="en-US" sz="1800" b="0" kern="0" spc="324">
                <a:solidFill>
                  <a:srgbClr val="416180"/>
                </a:solidFill>
                <a:ea typeface="고양덕양 EB"/>
                <a:cs typeface="Courier New"/>
              </a:rPr>
              <a:t>—</a:t>
            </a:r>
            <a:r>
              <a:rPr lang="en-US" sz="1800" b="0" kern="0" spc="324">
                <a:solidFill>
                  <a:srgbClr val="416180"/>
                </a:solidFill>
                <a:latin typeface="고양덕양 EB"/>
                <a:ea typeface="고양덕양 EB"/>
                <a:cs typeface="Courier New"/>
              </a:rPr>
              <a:t> 02</a:t>
            </a:r>
            <a:endParaRPr lang="en-US" sz="1800">
              <a:latin typeface="고양덕양 EB"/>
            </a:endParaRPr>
          </a:p>
        </p:txBody>
      </p:sp>
      <p:sp>
        <p:nvSpPr>
          <p:cNvPr id="3" name="Text 1"/>
          <p:cNvSpPr/>
          <p:nvPr/>
        </p:nvSpPr>
        <p:spPr>
          <a:xfrm>
            <a:off x="1047750" y="1440061"/>
            <a:ext cx="17811750" cy="708571"/>
          </a:xfrm>
          <a:prstGeom prst="rect">
            <a:avLst/>
          </a:prstGeom>
          <a:noFill/>
          <a:ln/>
        </p:spPr>
        <p:txBody>
          <a:bodyPr wrap="square" lIns="25400" tIns="25400" rIns="25400" bIns="25400" anchor="t">
            <a:normAutofit/>
          </a:bodyPr>
          <a:lstStyle/>
          <a:p>
            <a:pPr marL="0" indent="0" algn="l">
              <a:lnSpc>
                <a:spcPct val="95135"/>
              </a:lnSpc>
              <a:buNone/>
              <a:defRPr/>
            </a:pPr>
            <a:r>
              <a:rPr lang="en-US" sz="4800" b="1" kern="0" spc="-72">
                <a:solidFill>
                  <a:srgbClr val="1d1f20"/>
                </a:solidFill>
                <a:latin typeface="고양덕양 EB"/>
                <a:ea typeface="고양덕양 EB"/>
                <a:cs typeface="Arial"/>
              </a:rPr>
              <a:t>진행 중 구조 수정</a:t>
            </a:r>
            <a:endParaRPr lang="en-US" sz="4800">
              <a:latin typeface="고양덕양 EB"/>
            </a:endParaRPr>
          </a:p>
        </p:txBody>
      </p:sp>
      <p:sp>
        <p:nvSpPr>
          <p:cNvPr id="4" name="Text 2"/>
          <p:cNvSpPr/>
          <p:nvPr/>
        </p:nvSpPr>
        <p:spPr>
          <a:xfrm>
            <a:off x="1047750" y="2320082"/>
            <a:ext cx="17811750" cy="479971"/>
          </a:xfrm>
          <a:prstGeom prst="rect">
            <a:avLst/>
          </a:prstGeom>
          <a:noFill/>
          <a:ln/>
        </p:spPr>
        <p:txBody>
          <a:bodyPr wrap="square" lIns="25400" tIns="25400" rIns="25400" bIns="25400" anchor="t">
            <a:normAutofit/>
          </a:bodyPr>
          <a:lstStyle/>
          <a:p>
            <a:pPr marL="0" indent="0" algn="l">
              <a:lnSpc>
                <a:spcPct val="125405"/>
              </a:lnSpc>
              <a:buNone/>
              <a:defRPr/>
            </a:pPr>
            <a:r>
              <a:rPr lang="en-US" sz="2400">
                <a:solidFill>
                  <a:srgbClr val="5d5d60"/>
                </a:solidFill>
                <a:latin typeface="고양덕양 EB"/>
                <a:ea typeface="고양덕양 EB"/>
                <a:cs typeface="Arial"/>
              </a:rPr>
              <a:t>화면을 만들다 구조의 한계가 보이면 스키마를 고치는 방식으로 진행 중입니다. 지금까지 네 군데를 바꿨습니다.</a:t>
            </a:r>
            <a:endParaRPr lang="en-US" sz="2400">
              <a:latin typeface="고양덕양 EB"/>
            </a:endParaRPr>
          </a:p>
        </p:txBody>
      </p:sp>
      <p:sp>
        <p:nvSpPr>
          <p:cNvPr id="5" name="Shape 3"/>
          <p:cNvSpPr/>
          <p:nvPr/>
        </p:nvSpPr>
        <p:spPr>
          <a:xfrm>
            <a:off x="1047750" y="3085802"/>
            <a:ext cx="16192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6" name="Text 4"/>
          <p:cNvSpPr/>
          <p:nvPr/>
        </p:nvSpPr>
        <p:spPr>
          <a:xfrm>
            <a:off x="1047750" y="3514427"/>
            <a:ext cx="734396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수정 전</a:t>
            </a:r>
            <a:endParaRPr lang="en-US" sz="1800">
              <a:latin typeface="고양덕양 EB"/>
            </a:endParaRPr>
          </a:p>
        </p:txBody>
      </p:sp>
      <p:sp>
        <p:nvSpPr>
          <p:cNvPr id="7" name="Text 5"/>
          <p:cNvSpPr/>
          <p:nvPr/>
        </p:nvSpPr>
        <p:spPr>
          <a:xfrm>
            <a:off x="9397008" y="3514427"/>
            <a:ext cx="8078539"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수정 후</a:t>
            </a:r>
            <a:endParaRPr lang="en-US" sz="1800">
              <a:latin typeface="고양덕양 EB"/>
            </a:endParaRPr>
          </a:p>
        </p:txBody>
      </p:sp>
      <p:sp>
        <p:nvSpPr>
          <p:cNvPr id="8" name="Shape 6"/>
          <p:cNvSpPr/>
          <p:nvPr/>
        </p:nvSpPr>
        <p:spPr>
          <a:xfrm>
            <a:off x="1047750" y="4065389"/>
            <a:ext cx="7130058"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9" name="Text 7"/>
          <p:cNvSpPr/>
          <p:nvPr/>
        </p:nvSpPr>
        <p:spPr>
          <a:xfrm>
            <a:off x="1047750" y="4360664"/>
            <a:ext cx="7343960" cy="539948"/>
          </a:xfrm>
          <a:prstGeom prst="rect">
            <a:avLst/>
          </a:prstGeom>
          <a:noFill/>
          <a:ln/>
        </p:spPr>
        <p:txBody>
          <a:bodyPr wrap="square" lIns="25400" tIns="25400" rIns="25400" bIns="25400" anchor="t">
            <a:normAutofit/>
          </a:bodyPr>
          <a:lstStyle/>
          <a:p>
            <a:pPr marL="0" indent="0" algn="l">
              <a:lnSpc>
                <a:spcPct val="135128"/>
              </a:lnSpc>
              <a:buNone/>
              <a:defRPr/>
            </a:pPr>
            <a:r>
              <a:rPr lang="en-US" sz="2550">
                <a:solidFill>
                  <a:srgbClr val="5d5d60"/>
                </a:solidFill>
                <a:latin typeface="고양덕양 EB"/>
                <a:ea typeface="고양덕양 EB"/>
                <a:cs typeface="Arial"/>
              </a:rPr>
              <a:t>프로그램은 사용 / 미사용 둘 중 하나</a:t>
            </a:r>
            <a:endParaRPr lang="en-US" sz="2550">
              <a:latin typeface="고양덕양 EB"/>
            </a:endParaRPr>
          </a:p>
        </p:txBody>
      </p:sp>
      <p:sp>
        <p:nvSpPr>
          <p:cNvPr id="10" name="Shape 8"/>
          <p:cNvSpPr/>
          <p:nvPr/>
        </p:nvSpPr>
        <p:spPr>
          <a:xfrm>
            <a:off x="8520708" y="4021038"/>
            <a:ext cx="533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1" name="Text 9"/>
          <p:cNvSpPr/>
          <p:nvPr/>
        </p:nvSpPr>
        <p:spPr>
          <a:xfrm>
            <a:off x="8520708" y="4316313"/>
            <a:ext cx="609600" cy="628650"/>
          </a:xfrm>
          <a:prstGeom prst="rect">
            <a:avLst/>
          </a:prstGeom>
          <a:noFill/>
          <a:ln/>
        </p:spPr>
        <p:txBody>
          <a:bodyPr wrap="square" lIns="25400" tIns="25400" rIns="25400" bIns="25400" anchor="t">
            <a:normAutofit/>
          </a:bodyPr>
          <a:lstStyle/>
          <a:p>
            <a:pPr marL="0" indent="0" algn="l">
              <a:lnSpc>
                <a:spcPct val="137778"/>
              </a:lnSpc>
              <a:buNone/>
              <a:defRPr/>
            </a:pPr>
            <a:r>
              <a:rPr lang="en-US" sz="3000">
                <a:solidFill>
                  <a:srgbClr val="5980a6"/>
                </a:solidFill>
                <a:latin typeface="고양덕양 EB"/>
                <a:ea typeface="고양덕양 EB"/>
                <a:cs typeface="Arial"/>
              </a:rPr>
              <a:t>→</a:t>
            </a:r>
            <a:endParaRPr lang="en-US" sz="3000">
              <a:latin typeface="고양덕양 EB"/>
            </a:endParaRPr>
          </a:p>
        </p:txBody>
      </p:sp>
      <p:sp>
        <p:nvSpPr>
          <p:cNvPr id="12" name="Shape 10"/>
          <p:cNvSpPr/>
          <p:nvPr/>
        </p:nvSpPr>
        <p:spPr>
          <a:xfrm>
            <a:off x="9397008" y="4065389"/>
            <a:ext cx="7843242"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3" name="Text 11"/>
          <p:cNvSpPr/>
          <p:nvPr/>
        </p:nvSpPr>
        <p:spPr>
          <a:xfrm>
            <a:off x="9397008" y="4360664"/>
            <a:ext cx="8078539" cy="539948"/>
          </a:xfrm>
          <a:prstGeom prst="rect">
            <a:avLst/>
          </a:prstGeom>
          <a:noFill/>
          <a:ln/>
        </p:spPr>
        <p:txBody>
          <a:bodyPr wrap="square" lIns="25400" tIns="25400" rIns="25400" bIns="25400" anchor="t">
            <a:normAutofit/>
          </a:bodyPr>
          <a:lstStyle/>
          <a:p>
            <a:pPr marL="0" indent="0" algn="l">
              <a:lnSpc>
                <a:spcPct val="135128"/>
              </a:lnSpc>
              <a:buNone/>
              <a:defRPr/>
            </a:pPr>
            <a:r>
              <a:rPr lang="en-US" sz="2550">
                <a:solidFill>
                  <a:srgbClr val="1d1f20"/>
                </a:solidFill>
                <a:latin typeface="고양덕양 EB"/>
                <a:ea typeface="고양덕양 EB"/>
                <a:cs typeface="Arial"/>
              </a:rPr>
              <a:t>준비중 · 진행중 · 휴강 · 종료</a:t>
            </a:r>
            <a:endParaRPr lang="en-US" sz="2550">
              <a:latin typeface="고양덕양 EB"/>
            </a:endParaRPr>
          </a:p>
        </p:txBody>
      </p:sp>
      <p:sp>
        <p:nvSpPr>
          <p:cNvPr id="14" name="Shape 12"/>
          <p:cNvSpPr/>
          <p:nvPr/>
        </p:nvSpPr>
        <p:spPr>
          <a:xfrm>
            <a:off x="1047750" y="5236964"/>
            <a:ext cx="7130058"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5" name="Text 13"/>
          <p:cNvSpPr/>
          <p:nvPr/>
        </p:nvSpPr>
        <p:spPr>
          <a:xfrm>
            <a:off x="1047750" y="5532239"/>
            <a:ext cx="7343960" cy="539948"/>
          </a:xfrm>
          <a:prstGeom prst="rect">
            <a:avLst/>
          </a:prstGeom>
          <a:noFill/>
          <a:ln/>
        </p:spPr>
        <p:txBody>
          <a:bodyPr wrap="square" lIns="25400" tIns="25400" rIns="25400" bIns="25400" anchor="t">
            <a:normAutofit/>
          </a:bodyPr>
          <a:lstStyle/>
          <a:p>
            <a:pPr marL="0" indent="0" algn="l">
              <a:lnSpc>
                <a:spcPct val="135128"/>
              </a:lnSpc>
              <a:buNone/>
              <a:defRPr/>
            </a:pPr>
            <a:r>
              <a:rPr lang="en-US" sz="2550">
                <a:solidFill>
                  <a:srgbClr val="5d5d60"/>
                </a:solidFill>
                <a:latin typeface="고양덕양 EB"/>
                <a:ea typeface="고양덕양 EB"/>
                <a:cs typeface="Arial"/>
              </a:rPr>
              <a:t>가격이 0원이면 무료로 간주</a:t>
            </a:r>
            <a:endParaRPr lang="en-US" sz="2550">
              <a:latin typeface="고양덕양 EB"/>
            </a:endParaRPr>
          </a:p>
        </p:txBody>
      </p:sp>
      <p:sp>
        <p:nvSpPr>
          <p:cNvPr id="16" name="Shape 14"/>
          <p:cNvSpPr/>
          <p:nvPr/>
        </p:nvSpPr>
        <p:spPr>
          <a:xfrm>
            <a:off x="8520708" y="5192613"/>
            <a:ext cx="533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7" name="Text 15"/>
          <p:cNvSpPr/>
          <p:nvPr/>
        </p:nvSpPr>
        <p:spPr>
          <a:xfrm>
            <a:off x="8520708" y="5487888"/>
            <a:ext cx="609600" cy="628650"/>
          </a:xfrm>
          <a:prstGeom prst="rect">
            <a:avLst/>
          </a:prstGeom>
          <a:noFill/>
          <a:ln/>
        </p:spPr>
        <p:txBody>
          <a:bodyPr wrap="square" lIns="25400" tIns="25400" rIns="25400" bIns="25400" anchor="t">
            <a:normAutofit/>
          </a:bodyPr>
          <a:lstStyle/>
          <a:p>
            <a:pPr marL="0" indent="0" algn="l">
              <a:lnSpc>
                <a:spcPct val="137778"/>
              </a:lnSpc>
              <a:buNone/>
              <a:defRPr/>
            </a:pPr>
            <a:r>
              <a:rPr lang="en-US" sz="3000">
                <a:solidFill>
                  <a:srgbClr val="5980a6"/>
                </a:solidFill>
                <a:latin typeface="고양덕양 EB"/>
                <a:ea typeface="고양덕양 EB"/>
                <a:cs typeface="Arial"/>
              </a:rPr>
              <a:t>→</a:t>
            </a:r>
            <a:endParaRPr lang="en-US" sz="3000">
              <a:latin typeface="고양덕양 EB"/>
            </a:endParaRPr>
          </a:p>
        </p:txBody>
      </p:sp>
      <p:sp>
        <p:nvSpPr>
          <p:cNvPr id="18" name="Shape 16"/>
          <p:cNvSpPr/>
          <p:nvPr/>
        </p:nvSpPr>
        <p:spPr>
          <a:xfrm>
            <a:off x="9397008" y="5236964"/>
            <a:ext cx="7843242"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19" name="Text 17"/>
          <p:cNvSpPr/>
          <p:nvPr/>
        </p:nvSpPr>
        <p:spPr>
          <a:xfrm>
            <a:off x="9397008" y="5532239"/>
            <a:ext cx="8078539" cy="539948"/>
          </a:xfrm>
          <a:prstGeom prst="rect">
            <a:avLst/>
          </a:prstGeom>
          <a:noFill/>
          <a:ln/>
        </p:spPr>
        <p:txBody>
          <a:bodyPr wrap="square" lIns="25400" tIns="25400" rIns="25400" bIns="25400" anchor="t">
            <a:normAutofit/>
          </a:bodyPr>
          <a:lstStyle/>
          <a:p>
            <a:pPr marL="0" indent="0" algn="l">
              <a:lnSpc>
                <a:spcPct val="135128"/>
              </a:lnSpc>
              <a:buNone/>
              <a:defRPr/>
            </a:pPr>
            <a:r>
              <a:rPr lang="en-US" sz="2550">
                <a:solidFill>
                  <a:srgbClr val="1d1f20"/>
                </a:solidFill>
                <a:latin typeface="고양덕양 EB"/>
                <a:ea typeface="고양덕양 EB"/>
                <a:cs typeface="Arial"/>
              </a:rPr>
              <a:t>자유이용 · 회차예약 · PT패키지로 구분</a:t>
            </a:r>
            <a:endParaRPr lang="en-US" sz="2550">
              <a:latin typeface="고양덕양 EB"/>
            </a:endParaRPr>
          </a:p>
        </p:txBody>
      </p:sp>
      <p:sp>
        <p:nvSpPr>
          <p:cNvPr id="20" name="Shape 18"/>
          <p:cNvSpPr/>
          <p:nvPr/>
        </p:nvSpPr>
        <p:spPr>
          <a:xfrm>
            <a:off x="1047750" y="6408539"/>
            <a:ext cx="7130058"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1" name="Text 19"/>
          <p:cNvSpPr/>
          <p:nvPr/>
        </p:nvSpPr>
        <p:spPr>
          <a:xfrm>
            <a:off x="1047750" y="6703814"/>
            <a:ext cx="7343960" cy="539948"/>
          </a:xfrm>
          <a:prstGeom prst="rect">
            <a:avLst/>
          </a:prstGeom>
          <a:noFill/>
          <a:ln/>
        </p:spPr>
        <p:txBody>
          <a:bodyPr wrap="square" lIns="25400" tIns="25400" rIns="25400" bIns="25400" anchor="t">
            <a:normAutofit/>
          </a:bodyPr>
          <a:lstStyle/>
          <a:p>
            <a:pPr marL="0" indent="0" algn="l">
              <a:lnSpc>
                <a:spcPct val="135128"/>
              </a:lnSpc>
              <a:buNone/>
              <a:defRPr/>
            </a:pPr>
            <a:r>
              <a:rPr lang="en-US" sz="2550">
                <a:solidFill>
                  <a:srgbClr val="5d5d60"/>
                </a:solidFill>
                <a:latin typeface="고양덕양 EB"/>
                <a:ea typeface="고양덕양 EB"/>
                <a:cs typeface="Arial"/>
              </a:rPr>
              <a:t>지점 직원이면 곧 지점 관리자</a:t>
            </a:r>
            <a:endParaRPr lang="en-US" sz="2550">
              <a:latin typeface="고양덕양 EB"/>
            </a:endParaRPr>
          </a:p>
        </p:txBody>
      </p:sp>
      <p:sp>
        <p:nvSpPr>
          <p:cNvPr id="22" name="Shape 20"/>
          <p:cNvSpPr/>
          <p:nvPr/>
        </p:nvSpPr>
        <p:spPr>
          <a:xfrm>
            <a:off x="8520708" y="6364188"/>
            <a:ext cx="533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3" name="Text 21"/>
          <p:cNvSpPr/>
          <p:nvPr/>
        </p:nvSpPr>
        <p:spPr>
          <a:xfrm>
            <a:off x="8520708" y="6659463"/>
            <a:ext cx="609600" cy="628650"/>
          </a:xfrm>
          <a:prstGeom prst="rect">
            <a:avLst/>
          </a:prstGeom>
          <a:noFill/>
          <a:ln/>
        </p:spPr>
        <p:txBody>
          <a:bodyPr wrap="square" lIns="25400" tIns="25400" rIns="25400" bIns="25400" anchor="t">
            <a:normAutofit/>
          </a:bodyPr>
          <a:lstStyle/>
          <a:p>
            <a:pPr marL="0" indent="0" algn="l">
              <a:lnSpc>
                <a:spcPct val="137778"/>
              </a:lnSpc>
              <a:buNone/>
              <a:defRPr/>
            </a:pPr>
            <a:r>
              <a:rPr lang="en-US" sz="3000">
                <a:solidFill>
                  <a:srgbClr val="5980a6"/>
                </a:solidFill>
                <a:latin typeface="고양덕양 EB"/>
                <a:ea typeface="고양덕양 EB"/>
                <a:cs typeface="Arial"/>
              </a:rPr>
              <a:t>→</a:t>
            </a:r>
            <a:endParaRPr lang="en-US" sz="3000">
              <a:latin typeface="고양덕양 EB"/>
            </a:endParaRPr>
          </a:p>
        </p:txBody>
      </p:sp>
      <p:sp>
        <p:nvSpPr>
          <p:cNvPr id="24" name="Shape 22"/>
          <p:cNvSpPr/>
          <p:nvPr/>
        </p:nvSpPr>
        <p:spPr>
          <a:xfrm>
            <a:off x="9397008" y="6408539"/>
            <a:ext cx="7843242"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5" name="Text 23"/>
          <p:cNvSpPr/>
          <p:nvPr/>
        </p:nvSpPr>
        <p:spPr>
          <a:xfrm>
            <a:off x="9397008" y="6703814"/>
            <a:ext cx="8078539" cy="539948"/>
          </a:xfrm>
          <a:prstGeom prst="rect">
            <a:avLst/>
          </a:prstGeom>
          <a:noFill/>
          <a:ln/>
        </p:spPr>
        <p:txBody>
          <a:bodyPr wrap="square" lIns="25400" tIns="25400" rIns="25400" bIns="25400" anchor="t">
            <a:normAutofit/>
          </a:bodyPr>
          <a:lstStyle/>
          <a:p>
            <a:pPr marL="0" indent="0" algn="l">
              <a:lnSpc>
                <a:spcPct val="135128"/>
              </a:lnSpc>
              <a:buNone/>
              <a:defRPr/>
            </a:pPr>
            <a:r>
              <a:rPr lang="en-US" sz="2550">
                <a:solidFill>
                  <a:srgbClr val="1d1f20"/>
                </a:solidFill>
                <a:latin typeface="고양덕양 EB"/>
                <a:ea typeface="고양덕양 EB"/>
                <a:cs typeface="Arial"/>
              </a:rPr>
              <a:t>관리자와 일반 직원 권한 분리</a:t>
            </a:r>
            <a:endParaRPr lang="en-US" sz="2550">
              <a:latin typeface="고양덕양 EB"/>
            </a:endParaRPr>
          </a:p>
        </p:txBody>
      </p:sp>
      <p:sp>
        <p:nvSpPr>
          <p:cNvPr id="26" name="Shape 24"/>
          <p:cNvSpPr/>
          <p:nvPr/>
        </p:nvSpPr>
        <p:spPr>
          <a:xfrm>
            <a:off x="1047750" y="8662988"/>
            <a:ext cx="7130058"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7" name="Shape 25"/>
          <p:cNvSpPr/>
          <p:nvPr/>
        </p:nvSpPr>
        <p:spPr>
          <a:xfrm>
            <a:off x="1047750" y="7580114"/>
            <a:ext cx="7130058"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28" name="Text 26"/>
          <p:cNvSpPr/>
          <p:nvPr/>
        </p:nvSpPr>
        <p:spPr>
          <a:xfrm>
            <a:off x="1047750" y="7875389"/>
            <a:ext cx="7343960" cy="539948"/>
          </a:xfrm>
          <a:prstGeom prst="rect">
            <a:avLst/>
          </a:prstGeom>
          <a:noFill/>
          <a:ln/>
        </p:spPr>
        <p:txBody>
          <a:bodyPr wrap="square" lIns="25400" tIns="25400" rIns="25400" bIns="25400" anchor="t">
            <a:normAutofit/>
          </a:bodyPr>
          <a:lstStyle/>
          <a:p>
            <a:pPr marL="0" indent="0" algn="l">
              <a:lnSpc>
                <a:spcPct val="135128"/>
              </a:lnSpc>
              <a:buNone/>
              <a:defRPr/>
            </a:pPr>
            <a:r>
              <a:rPr lang="en-US" sz="2550">
                <a:solidFill>
                  <a:srgbClr val="5d5d60"/>
                </a:solidFill>
                <a:latin typeface="고양덕양 EB"/>
                <a:ea typeface="고양덕양 EB"/>
                <a:cs typeface="Arial"/>
              </a:rPr>
              <a:t>회원과 담당 직원의 연결 없음</a:t>
            </a:r>
            <a:endParaRPr lang="en-US" sz="2550">
              <a:latin typeface="고양덕양 EB"/>
            </a:endParaRPr>
          </a:p>
        </p:txBody>
      </p:sp>
      <p:sp>
        <p:nvSpPr>
          <p:cNvPr id="29" name="Shape 27"/>
          <p:cNvSpPr/>
          <p:nvPr/>
        </p:nvSpPr>
        <p:spPr>
          <a:xfrm>
            <a:off x="8520708" y="8707338"/>
            <a:ext cx="533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30" name="Shape 28"/>
          <p:cNvSpPr/>
          <p:nvPr/>
        </p:nvSpPr>
        <p:spPr>
          <a:xfrm>
            <a:off x="8520708" y="7535763"/>
            <a:ext cx="5334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31" name="Text 29"/>
          <p:cNvSpPr/>
          <p:nvPr/>
        </p:nvSpPr>
        <p:spPr>
          <a:xfrm>
            <a:off x="8520708" y="7831038"/>
            <a:ext cx="609600" cy="628650"/>
          </a:xfrm>
          <a:prstGeom prst="rect">
            <a:avLst/>
          </a:prstGeom>
          <a:noFill/>
          <a:ln/>
        </p:spPr>
        <p:txBody>
          <a:bodyPr wrap="square" lIns="25400" tIns="25400" rIns="25400" bIns="25400" anchor="t">
            <a:normAutofit/>
          </a:bodyPr>
          <a:lstStyle/>
          <a:p>
            <a:pPr marL="0" indent="0" algn="l">
              <a:lnSpc>
                <a:spcPct val="137778"/>
              </a:lnSpc>
              <a:buNone/>
              <a:defRPr/>
            </a:pPr>
            <a:r>
              <a:rPr lang="en-US" sz="3000">
                <a:solidFill>
                  <a:srgbClr val="5980a6"/>
                </a:solidFill>
                <a:latin typeface="고양덕양 EB"/>
                <a:ea typeface="고양덕양 EB"/>
                <a:cs typeface="Arial"/>
              </a:rPr>
              <a:t>→</a:t>
            </a:r>
            <a:endParaRPr lang="en-US" sz="3000">
              <a:latin typeface="고양덕양 EB"/>
            </a:endParaRPr>
          </a:p>
        </p:txBody>
      </p:sp>
      <p:sp>
        <p:nvSpPr>
          <p:cNvPr id="32" name="Shape 30"/>
          <p:cNvSpPr/>
          <p:nvPr/>
        </p:nvSpPr>
        <p:spPr>
          <a:xfrm>
            <a:off x="9397008" y="8662988"/>
            <a:ext cx="7843242"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33" name="Shape 31"/>
          <p:cNvSpPr/>
          <p:nvPr/>
        </p:nvSpPr>
        <p:spPr>
          <a:xfrm>
            <a:off x="9397008" y="7580114"/>
            <a:ext cx="7843242"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34" name="Text 32"/>
          <p:cNvSpPr/>
          <p:nvPr/>
        </p:nvSpPr>
        <p:spPr>
          <a:xfrm>
            <a:off x="9397008" y="7875389"/>
            <a:ext cx="8078539" cy="539948"/>
          </a:xfrm>
          <a:prstGeom prst="rect">
            <a:avLst/>
          </a:prstGeom>
          <a:noFill/>
          <a:ln/>
        </p:spPr>
        <p:txBody>
          <a:bodyPr wrap="square" lIns="25400" tIns="25400" rIns="25400" bIns="25400" anchor="t">
            <a:normAutofit/>
          </a:bodyPr>
          <a:lstStyle/>
          <a:p>
            <a:pPr marL="0" indent="0" algn="l">
              <a:lnSpc>
                <a:spcPct val="135128"/>
              </a:lnSpc>
              <a:buNone/>
              <a:defRPr/>
            </a:pPr>
            <a:r>
              <a:rPr lang="en-US" sz="2550">
                <a:solidFill>
                  <a:srgbClr val="1d1f20"/>
                </a:solidFill>
                <a:latin typeface="고양덕양 EB"/>
                <a:ea typeface="고양덕양 EB"/>
                <a:cs typeface="Arial"/>
              </a:rPr>
              <a:t>담당 직원 배정 추가</a:t>
            </a:r>
            <a:endParaRPr lang="en-US" sz="2550">
              <a:latin typeface="고양덕양 EB"/>
            </a:endParaRPr>
          </a:p>
        </p:txBody>
      </p:sp>
      <p:sp>
        <p:nvSpPr>
          <p:cNvPr id="35" name="Text 33"/>
          <p:cNvSpPr/>
          <p:nvPr/>
        </p:nvSpPr>
        <p:spPr>
          <a:xfrm>
            <a:off x="1047750" y="9208889"/>
            <a:ext cx="16678275"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5d5d60"/>
                </a:solidFill>
                <a:latin typeface="고양덕양 EB"/>
                <a:ea typeface="고양덕양 EB"/>
                <a:cs typeface="Courier New"/>
              </a:rPr>
              <a:t>남은 도메인을 붙이면서 같은 방식의 구조 변경이 더 나올 것으로 봅니다.</a:t>
            </a:r>
            <a:endParaRPr lang="en-US" sz="1800">
              <a:latin typeface="고양덕양 EB"/>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5">
    <p:bg>
      <p:bgPr shadeToTitle="0">
        <a:solidFill>
          <a:srgbClr val="f2f2f3"/>
        </a:solidFill>
      </p:bgPr>
    </p:bg>
    <p:spTree>
      <p:nvGrpSpPr>
        <p:cNvPr id="1" name=""/>
        <p:cNvGrpSpPr/>
        <p:nvPr/>
      </p:nvGrpSpPr>
      <p:grpSpPr>
        <a:xfrm>
          <a:off x="0" y="0"/>
          <a:ext cx="0" cy="0"/>
          <a:chOff x="0" y="0"/>
          <a:chExt cx="0" cy="0"/>
        </a:xfrm>
      </p:grpSpPr>
      <p:sp>
        <p:nvSpPr>
          <p:cNvPr id="2" name="Text 0"/>
          <p:cNvSpPr/>
          <p:nvPr/>
        </p:nvSpPr>
        <p:spPr>
          <a:xfrm>
            <a:off x="1047750" y="876300"/>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24">
                <a:solidFill>
                  <a:srgbClr val="416180"/>
                </a:solidFill>
                <a:latin typeface="고양덕양 EB"/>
                <a:ea typeface="고양덕양 EB"/>
                <a:cs typeface="Courier New"/>
              </a:rPr>
              <a:t>Ⅲ </a:t>
            </a:r>
            <a:r>
              <a:rPr lang="en-US" sz="1800" b="0" kern="0" spc="324">
                <a:solidFill>
                  <a:srgbClr val="416180"/>
                </a:solidFill>
                <a:ea typeface="고양덕양 EB"/>
                <a:cs typeface="Courier New"/>
              </a:rPr>
              <a:t>—</a:t>
            </a:r>
            <a:r>
              <a:rPr lang="en-US" sz="1800" b="0" kern="0" spc="324">
                <a:solidFill>
                  <a:srgbClr val="416180"/>
                </a:solidFill>
                <a:latin typeface="고양덕양 EB"/>
                <a:ea typeface="고양덕양 EB"/>
                <a:cs typeface="Courier New"/>
              </a:rPr>
              <a:t> 03</a:t>
            </a:r>
            <a:endParaRPr lang="en-US" sz="1800">
              <a:latin typeface="고양덕양 EB"/>
            </a:endParaRPr>
          </a:p>
        </p:txBody>
      </p:sp>
      <p:sp>
        <p:nvSpPr>
          <p:cNvPr id="3" name="Text 1"/>
          <p:cNvSpPr/>
          <p:nvPr/>
        </p:nvSpPr>
        <p:spPr>
          <a:xfrm>
            <a:off x="1047750" y="1440061"/>
            <a:ext cx="17811750" cy="708571"/>
          </a:xfrm>
          <a:prstGeom prst="rect">
            <a:avLst/>
          </a:prstGeom>
          <a:noFill/>
          <a:ln/>
        </p:spPr>
        <p:txBody>
          <a:bodyPr wrap="square" lIns="25400" tIns="25400" rIns="25400" bIns="25400" anchor="t">
            <a:normAutofit/>
          </a:bodyPr>
          <a:lstStyle/>
          <a:p>
            <a:pPr marL="0" indent="0" algn="l">
              <a:lnSpc>
                <a:spcPct val="95135"/>
              </a:lnSpc>
              <a:buNone/>
              <a:defRPr/>
            </a:pPr>
            <a:r>
              <a:rPr lang="en-US" sz="4800" b="1" kern="0" spc="-72">
                <a:solidFill>
                  <a:srgbClr val="1d1f20"/>
                </a:solidFill>
                <a:latin typeface="고양덕양 EB"/>
                <a:ea typeface="고양덕양 EB"/>
                <a:cs typeface="Arial"/>
              </a:rPr>
              <a:t>관리자 화면과 디자인 기준</a:t>
            </a:r>
            <a:endParaRPr lang="en-US" sz="4800">
              <a:latin typeface="고양덕양 EB"/>
            </a:endParaRPr>
          </a:p>
        </p:txBody>
      </p:sp>
      <p:sp>
        <p:nvSpPr>
          <p:cNvPr id="4" name="Text 2"/>
          <p:cNvSpPr/>
          <p:nvPr/>
        </p:nvSpPr>
        <p:spPr>
          <a:xfrm>
            <a:off x="1047750" y="2301032"/>
            <a:ext cx="17811750" cy="479971"/>
          </a:xfrm>
          <a:prstGeom prst="rect">
            <a:avLst/>
          </a:prstGeom>
          <a:noFill/>
          <a:ln/>
        </p:spPr>
        <p:txBody>
          <a:bodyPr wrap="square" lIns="25400" tIns="25400" rIns="25400" bIns="25400" anchor="t">
            <a:normAutofit/>
          </a:bodyPr>
          <a:lstStyle/>
          <a:p>
            <a:pPr marL="0" indent="0" algn="l">
              <a:lnSpc>
                <a:spcPct val="125405"/>
              </a:lnSpc>
              <a:buNone/>
              <a:defRPr/>
            </a:pPr>
            <a:r>
              <a:rPr lang="en-US" sz="2400">
                <a:solidFill>
                  <a:srgbClr val="5d5d60"/>
                </a:solidFill>
                <a:latin typeface="고양덕양 EB"/>
                <a:ea typeface="고양덕양 EB"/>
                <a:cs typeface="Arial"/>
              </a:rPr>
              <a:t>로컬에서 수정을 거치며 잡아가는 잠정 기준입니다.</a:t>
            </a:r>
            <a:endParaRPr lang="en-US" sz="2400">
              <a:solidFill>
                <a:srgbClr val="5d5d60"/>
              </a:solidFill>
              <a:latin typeface="고양덕양 EB"/>
              <a:ea typeface="고양덕양 EB"/>
              <a:cs typeface="Arial"/>
            </a:endParaRPr>
          </a:p>
        </p:txBody>
      </p:sp>
      <p:sp>
        <p:nvSpPr>
          <p:cNvPr id="5" name="Shape 3"/>
          <p:cNvSpPr/>
          <p:nvPr/>
        </p:nvSpPr>
        <p:spPr>
          <a:xfrm>
            <a:off x="1047750" y="2990552"/>
            <a:ext cx="16192500" cy="9525"/>
          </a:xfrm>
          <a:prstGeom prst="rect">
            <a:avLst/>
          </a:prstGeom>
          <a:solidFill>
            <a:srgbClr val="1f1f1f">
              <a:alpha val="16000"/>
            </a:srgbClr>
          </a:solidFill>
          <a:ln/>
        </p:spPr>
        <p:txBody>
          <a:bodyPr anchor="ctr"/>
          <a:p>
            <a:pPr algn="ctr">
              <a:defRPr/>
            </a:pPr>
            <a:endParaRPr lang="ko-KR" altLang="en-US">
              <a:latin typeface="고양덕양 EB"/>
            </a:endParaRPr>
          </a:p>
        </p:txBody>
      </p:sp>
      <p:pic>
        <p:nvPicPr>
          <p:cNvPr id="18" name=""/>
          <p:cNvPicPr>
            <a:picLocks noChangeAspect="1"/>
          </p:cNvPicPr>
          <p:nvPr/>
        </p:nvPicPr>
        <p:blipFill rotWithShape="1">
          <a:blip r:embed="rId3"/>
          <a:stretch>
            <a:fillRect/>
          </a:stretch>
        </p:blipFill>
        <p:spPr>
          <a:xfrm>
            <a:off x="2989696" y="3209633"/>
            <a:ext cx="12308609" cy="6715128"/>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6">
    <p:bg>
      <p:bgPr shadeToTitle="0">
        <a:solidFill>
          <a:srgbClr val="1d2d3d"/>
        </a:solidFill>
      </p:bgPr>
    </p:bg>
    <p:spTree>
      <p:nvGrpSpPr>
        <p:cNvPr id="1" name=""/>
        <p:cNvGrpSpPr/>
        <p:nvPr/>
      </p:nvGrpSpPr>
      <p:grpSpPr>
        <a:xfrm>
          <a:off x="0" y="0"/>
          <a:ext cx="0" cy="0"/>
          <a:chOff x="0" y="0"/>
          <a:chExt cx="0" cy="0"/>
        </a:xfrm>
      </p:grpSpPr>
      <p:sp>
        <p:nvSpPr>
          <p:cNvPr id="2" name="Text 0"/>
          <p:cNvSpPr/>
          <p:nvPr/>
        </p:nvSpPr>
        <p:spPr>
          <a:xfrm>
            <a:off x="1047750" y="4146054"/>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60">
                <a:solidFill>
                  <a:srgbClr val="b5d9fd"/>
                </a:solidFill>
                <a:latin typeface="고양덕양 EB"/>
                <a:ea typeface="고양덕양 EB"/>
                <a:cs typeface="Courier New"/>
              </a:rPr>
              <a:t>SECTION Ⅳ</a:t>
            </a:r>
            <a:endParaRPr lang="en-US" sz="1800">
              <a:latin typeface="고양덕양 EB"/>
            </a:endParaRPr>
          </a:p>
        </p:txBody>
      </p:sp>
      <p:sp>
        <p:nvSpPr>
          <p:cNvPr id="3" name="Text 1"/>
          <p:cNvSpPr/>
          <p:nvPr/>
        </p:nvSpPr>
        <p:spPr>
          <a:xfrm>
            <a:off x="1047750" y="4766965"/>
            <a:ext cx="17811750" cy="1126182"/>
          </a:xfrm>
          <a:prstGeom prst="rect">
            <a:avLst/>
          </a:prstGeom>
          <a:noFill/>
          <a:ln/>
        </p:spPr>
        <p:txBody>
          <a:bodyPr wrap="square" lIns="25400" tIns="25400" rIns="25400" bIns="25400" anchor="t">
            <a:normAutofit/>
          </a:bodyPr>
          <a:lstStyle/>
          <a:p>
            <a:pPr marL="0" indent="0" algn="l">
              <a:lnSpc>
                <a:spcPct val="88558"/>
              </a:lnSpc>
              <a:buNone/>
              <a:defRPr/>
            </a:pPr>
            <a:r>
              <a:rPr lang="en-US" sz="8400" b="0" kern="0" spc="-168">
                <a:solidFill>
                  <a:srgbClr val="f2f2f3"/>
                </a:solidFill>
                <a:latin typeface="고양덕양 EB"/>
                <a:ea typeface="고양덕양 EB"/>
                <a:cs typeface="Arial"/>
              </a:rPr>
              <a:t>다음 계획</a:t>
            </a:r>
            <a:endParaRPr lang="en-US" sz="8400">
              <a:latin typeface="고양덕양 EB"/>
            </a:endParaRPr>
          </a:p>
        </p:txBody>
      </p:sp>
      <p:sp>
        <p:nvSpPr>
          <p:cNvPr id="4" name="Shape 2"/>
          <p:cNvSpPr/>
          <p:nvPr/>
        </p:nvSpPr>
        <p:spPr>
          <a:xfrm>
            <a:off x="1047750" y="6274147"/>
            <a:ext cx="2095500" cy="19050"/>
          </a:xfrm>
          <a:prstGeom prst="rect">
            <a:avLst/>
          </a:prstGeom>
          <a:solidFill>
            <a:srgbClr val="94bce3"/>
          </a:solidFill>
          <a:ln/>
        </p:spPr>
        <p:txBody>
          <a:bodyPr anchor="ctr"/>
          <a:p>
            <a:pPr algn="ctr">
              <a:defRPr/>
            </a:pPr>
            <a:endParaRPr lang="ko-KR" altLang="en-US">
              <a:latin typeface="고양덕양 EB"/>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7">
    <p:bg>
      <p:bgPr shadeToTitle="0">
        <a:solidFill>
          <a:srgbClr val="f2f2f3"/>
        </a:solidFill>
      </p:bgPr>
    </p:bg>
    <p:spTree>
      <p:nvGrpSpPr>
        <p:cNvPr id="1" name=""/>
        <p:cNvGrpSpPr/>
        <p:nvPr/>
      </p:nvGrpSpPr>
      <p:grpSpPr>
        <a:xfrm>
          <a:off x="0" y="0"/>
          <a:ext cx="0" cy="0"/>
          <a:chOff x="0" y="0"/>
          <a:chExt cx="0" cy="0"/>
        </a:xfrm>
      </p:grpSpPr>
      <p:sp>
        <p:nvSpPr>
          <p:cNvPr id="2" name="Text 0"/>
          <p:cNvSpPr/>
          <p:nvPr/>
        </p:nvSpPr>
        <p:spPr>
          <a:xfrm>
            <a:off x="1047750" y="876300"/>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24">
                <a:solidFill>
                  <a:srgbClr val="416180"/>
                </a:solidFill>
                <a:latin typeface="고양덕양 EB"/>
                <a:ea typeface="고양덕양 EB"/>
                <a:cs typeface="Courier New"/>
              </a:rPr>
              <a:t>Ⅳ </a:t>
            </a:r>
            <a:r>
              <a:rPr lang="en-US" sz="1800" b="0" kern="0" spc="324">
                <a:solidFill>
                  <a:srgbClr val="416180"/>
                </a:solidFill>
                <a:ea typeface="고양덕양 EB"/>
                <a:cs typeface="Courier New"/>
              </a:rPr>
              <a:t>—</a:t>
            </a:r>
            <a:r>
              <a:rPr lang="en-US" sz="1800" b="0" kern="0" spc="324">
                <a:solidFill>
                  <a:srgbClr val="416180"/>
                </a:solidFill>
                <a:latin typeface="고양덕양 EB"/>
                <a:ea typeface="고양덕양 EB"/>
                <a:cs typeface="Courier New"/>
              </a:rPr>
              <a:t> 01</a:t>
            </a:r>
            <a:endParaRPr lang="en-US" sz="1800">
              <a:latin typeface="고양덕양 EB"/>
            </a:endParaRPr>
          </a:p>
        </p:txBody>
      </p:sp>
      <p:sp>
        <p:nvSpPr>
          <p:cNvPr id="3" name="Text 1"/>
          <p:cNvSpPr/>
          <p:nvPr/>
        </p:nvSpPr>
        <p:spPr>
          <a:xfrm>
            <a:off x="1047750" y="1440061"/>
            <a:ext cx="17811750" cy="708571"/>
          </a:xfrm>
          <a:prstGeom prst="rect">
            <a:avLst/>
          </a:prstGeom>
          <a:noFill/>
          <a:ln/>
        </p:spPr>
        <p:txBody>
          <a:bodyPr wrap="square" lIns="25400" tIns="25400" rIns="25400" bIns="25400" anchor="t">
            <a:normAutofit/>
          </a:bodyPr>
          <a:lstStyle/>
          <a:p>
            <a:pPr marL="0" indent="0" algn="l">
              <a:lnSpc>
                <a:spcPct val="95135"/>
              </a:lnSpc>
              <a:buNone/>
              <a:defRPr/>
            </a:pPr>
            <a:r>
              <a:rPr lang="en-US" sz="4800" b="1" kern="0" spc="-72">
                <a:solidFill>
                  <a:srgbClr val="1d1f20"/>
                </a:solidFill>
                <a:latin typeface="고양덕양 EB"/>
                <a:ea typeface="고양덕양 EB"/>
                <a:cs typeface="Arial"/>
              </a:rPr>
              <a:t>현재 진행 범위</a:t>
            </a:r>
            <a:endParaRPr lang="en-US" sz="4800">
              <a:latin typeface="고양덕양 EB"/>
            </a:endParaRPr>
          </a:p>
        </p:txBody>
      </p:sp>
      <p:sp>
        <p:nvSpPr>
          <p:cNvPr id="4" name="Text 2"/>
          <p:cNvSpPr/>
          <p:nvPr/>
        </p:nvSpPr>
        <p:spPr>
          <a:xfrm>
            <a:off x="1047750" y="2320082"/>
            <a:ext cx="16678275" cy="921841"/>
          </a:xfrm>
          <a:prstGeom prst="rect">
            <a:avLst/>
          </a:prstGeom>
          <a:noFill/>
          <a:ln/>
        </p:spPr>
        <p:txBody>
          <a:bodyPr wrap="square" lIns="25400" tIns="25400" rIns="25400" bIns="25400" anchor="t">
            <a:normAutofit/>
          </a:bodyPr>
          <a:lstStyle/>
          <a:p>
            <a:pPr marL="0" indent="0" algn="l">
              <a:lnSpc>
                <a:spcPct val="125405"/>
              </a:lnSpc>
              <a:buNone/>
              <a:defRPr/>
            </a:pPr>
            <a:r>
              <a:rPr lang="en-US" sz="2400">
                <a:solidFill>
                  <a:srgbClr val="5d5d60"/>
                </a:solidFill>
                <a:latin typeface="고양덕양 EB"/>
                <a:ea typeface="고양덕양 EB"/>
                <a:cs typeface="Arial"/>
              </a:rPr>
              <a:t>지금은 설계를 확정하는 단계입니다. </a:t>
            </a:r>
            <a:br>
              <a:rPr lang="ko-KR" altLang="en-US" sz="2400">
                <a:solidFill>
                  <a:srgbClr val="5d5d60"/>
                </a:solidFill>
                <a:latin typeface="고양덕양 EB"/>
                <a:ea typeface="고양덕양 EB"/>
                <a:cs typeface="Arial"/>
              </a:rPr>
            </a:br>
            <a:r>
              <a:rPr lang="en-US" sz="2400">
                <a:solidFill>
                  <a:srgbClr val="5d5d60"/>
                </a:solidFill>
                <a:latin typeface="고양덕양 EB"/>
                <a:ea typeface="고양덕양 EB"/>
                <a:cs typeface="Arial"/>
              </a:rPr>
              <a:t>구조와 화면 기준을 먼저 정리하고, 데이터베이스 연결과 기능 구현은 그 이후 순서로 잡았습니다.</a:t>
            </a:r>
            <a:endParaRPr lang="en-US" sz="2400">
              <a:solidFill>
                <a:srgbClr val="5d5d60"/>
              </a:solidFill>
              <a:latin typeface="고양덕양 EB"/>
              <a:ea typeface="고양덕양 EB"/>
              <a:cs typeface="Arial"/>
            </a:endParaRPr>
          </a:p>
        </p:txBody>
      </p:sp>
      <p:sp>
        <p:nvSpPr>
          <p:cNvPr id="5" name="Shape 3"/>
          <p:cNvSpPr/>
          <p:nvPr/>
        </p:nvSpPr>
        <p:spPr>
          <a:xfrm>
            <a:off x="1047750" y="3527673"/>
            <a:ext cx="16192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6" name="Shape 4"/>
          <p:cNvSpPr/>
          <p:nvPr/>
        </p:nvSpPr>
        <p:spPr>
          <a:xfrm>
            <a:off x="1047750" y="3918198"/>
            <a:ext cx="5194250" cy="28575"/>
          </a:xfrm>
          <a:prstGeom prst="rect">
            <a:avLst/>
          </a:prstGeom>
          <a:solidFill>
            <a:srgbClr val="5980a6"/>
          </a:solidFill>
          <a:ln/>
        </p:spPr>
        <p:txBody>
          <a:bodyPr anchor="ctr"/>
          <a:p>
            <a:pPr algn="ctr">
              <a:defRPr/>
            </a:pPr>
            <a:endParaRPr lang="ko-KR" altLang="en-US">
              <a:latin typeface="고양덕양 EB"/>
            </a:endParaRPr>
          </a:p>
        </p:txBody>
      </p:sp>
      <p:sp>
        <p:nvSpPr>
          <p:cNvPr id="7" name="Text 5"/>
          <p:cNvSpPr/>
          <p:nvPr/>
        </p:nvSpPr>
        <p:spPr>
          <a:xfrm>
            <a:off x="1047750" y="4213473"/>
            <a:ext cx="5713675" cy="628650"/>
          </a:xfrm>
          <a:prstGeom prst="rect">
            <a:avLst/>
          </a:prstGeom>
          <a:noFill/>
          <a:ln/>
        </p:spPr>
        <p:txBody>
          <a:bodyPr wrap="square" lIns="25400" tIns="25400" rIns="25400" bIns="25400" anchor="t">
            <a:normAutofit/>
          </a:bodyPr>
          <a:lstStyle/>
          <a:p>
            <a:pPr marL="0" indent="0" algn="l">
              <a:lnSpc>
                <a:spcPct val="137778"/>
              </a:lnSpc>
              <a:buNone/>
              <a:defRPr/>
            </a:pPr>
            <a:r>
              <a:rPr lang="en-US" sz="3000">
                <a:solidFill>
                  <a:srgbClr val="1d1f20"/>
                </a:solidFill>
                <a:latin typeface="고양덕양 EB"/>
                <a:ea typeface="고양덕양 EB"/>
                <a:cs typeface="Arial"/>
              </a:rPr>
              <a:t>지금 다듬는 중</a:t>
            </a:r>
            <a:endParaRPr lang="en-US" sz="3000">
              <a:latin typeface="고양덕양 EB"/>
            </a:endParaRPr>
          </a:p>
        </p:txBody>
      </p:sp>
      <p:sp>
        <p:nvSpPr>
          <p:cNvPr id="8" name="Text 6"/>
          <p:cNvSpPr/>
          <p:nvPr/>
        </p:nvSpPr>
        <p:spPr>
          <a:xfrm>
            <a:off x="1047750" y="4975473"/>
            <a:ext cx="5350078" cy="1721644"/>
          </a:xfrm>
          <a:prstGeom prst="rect">
            <a:avLst/>
          </a:prstGeom>
          <a:noFill/>
          <a:ln/>
        </p:spPr>
        <p:txBody>
          <a:bodyPr wrap="square" lIns="25400" tIns="25400" rIns="25400" bIns="25400" anchor="t">
            <a:normAutofit lnSpcReduction="10000"/>
          </a:bodyPr>
          <a:lstStyle/>
          <a:p>
            <a:pPr marL="0" indent="0" algn="l">
              <a:lnSpc>
                <a:spcPct val="142581"/>
              </a:lnSpc>
              <a:buNone/>
              <a:defRPr/>
            </a:pPr>
            <a:r>
              <a:rPr lang="en-US" sz="1950">
                <a:solidFill>
                  <a:srgbClr val="424244"/>
                </a:solidFill>
                <a:latin typeface="고양덕양 EB"/>
                <a:ea typeface="고양덕양 EB"/>
                <a:cs typeface="Arial"/>
              </a:rPr>
              <a:t>데이터 모델 구조 확정 </a:t>
            </a:r>
            <a:br>
              <a:rPr lang="ko-KR" altLang="en-US" sz="1950">
                <a:solidFill>
                  <a:srgbClr val="424244"/>
                </a:solidFill>
                <a:latin typeface="고양덕양 EB"/>
                <a:ea typeface="고양덕양 EB"/>
                <a:cs typeface="Arial"/>
              </a:rPr>
            </a:br>
            <a:r>
              <a:rPr lang="en-US" sz="1950">
                <a:solidFill>
                  <a:srgbClr val="424244"/>
                </a:solidFill>
                <a:latin typeface="고양덕양 EB"/>
                <a:ea typeface="고양덕양 EB"/>
                <a:cs typeface="Arial"/>
              </a:rPr>
              <a:t>권한 체계와 지점 격리 방식 </a:t>
            </a:r>
            <a:br>
              <a:rPr lang="ko-KR" altLang="en-US" sz="1950">
                <a:solidFill>
                  <a:srgbClr val="424244"/>
                </a:solidFill>
                <a:latin typeface="고양덕양 EB"/>
                <a:ea typeface="고양덕양 EB"/>
                <a:cs typeface="Arial"/>
              </a:rPr>
            </a:br>
            <a:r>
              <a:rPr lang="en-US" sz="1950">
                <a:solidFill>
                  <a:srgbClr val="424244"/>
                </a:solidFill>
                <a:latin typeface="고양덕양 EB"/>
                <a:ea typeface="고양덕양 EB"/>
                <a:cs typeface="Arial"/>
              </a:rPr>
              <a:t>관리자 화면의 정보 구조 </a:t>
            </a:r>
            <a:br>
              <a:rPr lang="ko-KR" altLang="en-US" sz="1950">
                <a:solidFill>
                  <a:srgbClr val="424244"/>
                </a:solidFill>
                <a:latin typeface="고양덕양 EB"/>
                <a:ea typeface="고양덕양 EB"/>
                <a:cs typeface="Arial"/>
              </a:rPr>
            </a:br>
            <a:r>
              <a:rPr lang="en-US" sz="1950">
                <a:solidFill>
                  <a:srgbClr val="424244"/>
                </a:solidFill>
                <a:latin typeface="고양덕양 EB"/>
                <a:ea typeface="고양덕양 EB"/>
                <a:cs typeface="Arial"/>
              </a:rPr>
              <a:t>디자인 기준 통일</a:t>
            </a:r>
            <a:endParaRPr lang="en-US" sz="1950">
              <a:solidFill>
                <a:srgbClr val="424244"/>
              </a:solidFill>
              <a:latin typeface="고양덕양 EB"/>
              <a:ea typeface="고양덕양 EB"/>
              <a:cs typeface="Arial"/>
            </a:endParaRPr>
          </a:p>
        </p:txBody>
      </p:sp>
      <p:sp>
        <p:nvSpPr>
          <p:cNvPr id="9" name="Shape 7"/>
          <p:cNvSpPr/>
          <p:nvPr/>
        </p:nvSpPr>
        <p:spPr>
          <a:xfrm>
            <a:off x="6546800" y="3918198"/>
            <a:ext cx="5194250" cy="28575"/>
          </a:xfrm>
          <a:prstGeom prst="rect">
            <a:avLst/>
          </a:prstGeom>
          <a:solidFill>
            <a:srgbClr val="94bce3"/>
          </a:solidFill>
          <a:ln/>
        </p:spPr>
        <p:txBody>
          <a:bodyPr anchor="ctr"/>
          <a:p>
            <a:pPr algn="ctr">
              <a:defRPr/>
            </a:pPr>
            <a:endParaRPr lang="ko-KR" altLang="en-US">
              <a:latin typeface="고양덕양 EB"/>
            </a:endParaRPr>
          </a:p>
        </p:txBody>
      </p:sp>
      <p:sp>
        <p:nvSpPr>
          <p:cNvPr id="10" name="Text 8"/>
          <p:cNvSpPr/>
          <p:nvPr/>
        </p:nvSpPr>
        <p:spPr>
          <a:xfrm>
            <a:off x="6546800" y="4213473"/>
            <a:ext cx="5713675" cy="628650"/>
          </a:xfrm>
          <a:prstGeom prst="rect">
            <a:avLst/>
          </a:prstGeom>
          <a:noFill/>
          <a:ln/>
        </p:spPr>
        <p:txBody>
          <a:bodyPr wrap="square" lIns="25400" tIns="25400" rIns="25400" bIns="25400" anchor="t">
            <a:normAutofit/>
          </a:bodyPr>
          <a:lstStyle/>
          <a:p>
            <a:pPr marL="0" indent="0" algn="l">
              <a:lnSpc>
                <a:spcPct val="137778"/>
              </a:lnSpc>
              <a:buNone/>
              <a:defRPr/>
            </a:pPr>
            <a:r>
              <a:rPr lang="en-US" sz="3000">
                <a:solidFill>
                  <a:srgbClr val="1d1f20"/>
                </a:solidFill>
                <a:latin typeface="고양덕양 EB"/>
                <a:ea typeface="고양덕양 EB"/>
                <a:cs typeface="Arial"/>
              </a:rPr>
              <a:t>설계 문서까지 정리된 범위</a:t>
            </a:r>
            <a:endParaRPr lang="en-US" sz="3000">
              <a:latin typeface="고양덕양 EB"/>
            </a:endParaRPr>
          </a:p>
        </p:txBody>
      </p:sp>
      <p:sp>
        <p:nvSpPr>
          <p:cNvPr id="11" name="Text 9"/>
          <p:cNvSpPr/>
          <p:nvPr/>
        </p:nvSpPr>
        <p:spPr>
          <a:xfrm>
            <a:off x="6546800" y="4975473"/>
            <a:ext cx="5350078" cy="1721644"/>
          </a:xfrm>
          <a:prstGeom prst="rect">
            <a:avLst/>
          </a:prstGeom>
          <a:noFill/>
          <a:ln/>
        </p:spPr>
        <p:txBody>
          <a:bodyPr wrap="square" lIns="25400" tIns="25400" rIns="25400" bIns="25400" anchor="t">
            <a:normAutofit lnSpcReduction="10000"/>
          </a:bodyPr>
          <a:lstStyle/>
          <a:p>
            <a:pPr marL="0" indent="0" algn="l">
              <a:lnSpc>
                <a:spcPct val="142581"/>
              </a:lnSpc>
              <a:buNone/>
              <a:defRPr/>
            </a:pPr>
            <a:r>
              <a:rPr lang="en-US" sz="1950">
                <a:solidFill>
                  <a:srgbClr val="424244"/>
                </a:solidFill>
                <a:latin typeface="고양덕양 EB"/>
                <a:ea typeface="고양덕양 EB"/>
                <a:cs typeface="Arial"/>
              </a:rPr>
              <a:t>권한관리 · 인사정보관리 </a:t>
            </a:r>
            <a:br>
              <a:rPr lang="ko-KR" altLang="en-US" sz="1950">
                <a:solidFill>
                  <a:srgbClr val="424244"/>
                </a:solidFill>
                <a:latin typeface="고양덕양 EB"/>
                <a:ea typeface="고양덕양 EB"/>
                <a:cs typeface="Arial"/>
              </a:rPr>
            </a:br>
            <a:r>
              <a:rPr lang="en-US" sz="1950">
                <a:solidFill>
                  <a:srgbClr val="424244"/>
                </a:solidFill>
                <a:latin typeface="고양덕양 EB"/>
                <a:ea typeface="고양덕양 EB"/>
                <a:cs typeface="Arial"/>
              </a:rPr>
              <a:t>근태관리 · 게시판 </a:t>
            </a:r>
            <a:br>
              <a:rPr lang="ko-KR" altLang="en-US" sz="1950">
                <a:solidFill>
                  <a:srgbClr val="424244"/>
                </a:solidFill>
                <a:latin typeface="고양덕양 EB"/>
                <a:ea typeface="고양덕양 EB"/>
                <a:cs typeface="Arial"/>
              </a:rPr>
            </a:br>
            <a:r>
              <a:rPr lang="en-US" sz="1950">
                <a:solidFill>
                  <a:srgbClr val="424244"/>
                </a:solidFill>
                <a:latin typeface="고양덕양 EB"/>
                <a:ea typeface="고양덕양 EB"/>
                <a:cs typeface="Arial"/>
              </a:rPr>
              <a:t>회원관리 · 예약 및 결제 </a:t>
            </a:r>
            <a:br>
              <a:rPr lang="ko-KR" altLang="en-US" sz="1950">
                <a:solidFill>
                  <a:srgbClr val="424244"/>
                </a:solidFill>
                <a:latin typeface="고양덕양 EB"/>
                <a:ea typeface="고양덕양 EB"/>
                <a:cs typeface="Arial"/>
              </a:rPr>
            </a:br>
            <a:r>
              <a:rPr lang="en-US" sz="1950">
                <a:solidFill>
                  <a:srgbClr val="424244"/>
                </a:solidFill>
                <a:latin typeface="고양덕양 EB"/>
                <a:ea typeface="고양덕양 EB"/>
                <a:cs typeface="Arial"/>
              </a:rPr>
              <a:t>강사·프로그램 · 혼잡도관리</a:t>
            </a:r>
            <a:endParaRPr lang="en-US" sz="1950">
              <a:solidFill>
                <a:srgbClr val="424244"/>
              </a:solidFill>
              <a:latin typeface="고양덕양 EB"/>
              <a:ea typeface="고양덕양 EB"/>
              <a:cs typeface="Arial"/>
            </a:endParaRPr>
          </a:p>
        </p:txBody>
      </p:sp>
      <p:sp>
        <p:nvSpPr>
          <p:cNvPr id="12" name="Shape 10"/>
          <p:cNvSpPr/>
          <p:nvPr/>
        </p:nvSpPr>
        <p:spPr>
          <a:xfrm>
            <a:off x="12045851" y="3918198"/>
            <a:ext cx="5194250" cy="28575"/>
          </a:xfrm>
          <a:prstGeom prst="rect">
            <a:avLst/>
          </a:prstGeom>
          <a:solidFill>
            <a:srgbClr val="b7b7ba"/>
          </a:solidFill>
          <a:ln/>
        </p:spPr>
        <p:txBody>
          <a:bodyPr anchor="ctr"/>
          <a:p>
            <a:pPr algn="ctr">
              <a:defRPr/>
            </a:pPr>
            <a:endParaRPr lang="ko-KR" altLang="en-US">
              <a:latin typeface="고양덕양 EB"/>
            </a:endParaRPr>
          </a:p>
        </p:txBody>
      </p:sp>
      <p:sp>
        <p:nvSpPr>
          <p:cNvPr id="13" name="Text 11"/>
          <p:cNvSpPr/>
          <p:nvPr/>
        </p:nvSpPr>
        <p:spPr>
          <a:xfrm>
            <a:off x="12045851" y="4213473"/>
            <a:ext cx="5713675" cy="628650"/>
          </a:xfrm>
          <a:prstGeom prst="rect">
            <a:avLst/>
          </a:prstGeom>
          <a:noFill/>
          <a:ln/>
        </p:spPr>
        <p:txBody>
          <a:bodyPr wrap="square" lIns="25400" tIns="25400" rIns="25400" bIns="25400" anchor="t">
            <a:normAutofit/>
          </a:bodyPr>
          <a:lstStyle/>
          <a:p>
            <a:pPr marL="0" indent="0" algn="l">
              <a:lnSpc>
                <a:spcPct val="137778"/>
              </a:lnSpc>
              <a:buNone/>
              <a:defRPr/>
            </a:pPr>
            <a:r>
              <a:rPr lang="en-US" sz="3000">
                <a:solidFill>
                  <a:srgbClr val="1d1f20"/>
                </a:solidFill>
                <a:latin typeface="고양덕양 EB"/>
                <a:ea typeface="고양덕양 EB"/>
                <a:cs typeface="Arial"/>
              </a:rPr>
              <a:t>착수 전</a:t>
            </a:r>
            <a:endParaRPr lang="en-US" sz="3000">
              <a:latin typeface="고양덕양 EB"/>
            </a:endParaRPr>
          </a:p>
        </p:txBody>
      </p:sp>
      <p:sp>
        <p:nvSpPr>
          <p:cNvPr id="14" name="Text 12"/>
          <p:cNvSpPr/>
          <p:nvPr/>
        </p:nvSpPr>
        <p:spPr>
          <a:xfrm>
            <a:off x="12045851" y="4975473"/>
            <a:ext cx="5350078" cy="1721644"/>
          </a:xfrm>
          <a:prstGeom prst="rect">
            <a:avLst/>
          </a:prstGeom>
          <a:noFill/>
          <a:ln/>
        </p:spPr>
        <p:txBody>
          <a:bodyPr wrap="square" lIns="25400" tIns="25400" rIns="25400" bIns="25400" anchor="t">
            <a:normAutofit lnSpcReduction="10000"/>
          </a:bodyPr>
          <a:lstStyle/>
          <a:p>
            <a:pPr marL="0" indent="0" algn="l">
              <a:lnSpc>
                <a:spcPct val="142581"/>
              </a:lnSpc>
              <a:buNone/>
              <a:defRPr/>
            </a:pPr>
            <a:r>
              <a:rPr lang="en-US" sz="1950">
                <a:solidFill>
                  <a:srgbClr val="424244"/>
                </a:solidFill>
                <a:latin typeface="고양덕양 EB"/>
                <a:ea typeface="고양덕양 EB"/>
                <a:cs typeface="Arial"/>
              </a:rPr>
              <a:t>실제 데이터베이스 연결 </a:t>
            </a:r>
            <a:br>
              <a:rPr lang="ko-KR" altLang="en-US" sz="1950">
                <a:solidFill>
                  <a:srgbClr val="424244"/>
                </a:solidFill>
                <a:latin typeface="고양덕양 EB"/>
                <a:ea typeface="고양덕양 EB"/>
                <a:cs typeface="Arial"/>
              </a:rPr>
            </a:br>
            <a:r>
              <a:rPr lang="en-US" sz="1950">
                <a:solidFill>
                  <a:srgbClr val="424244"/>
                </a:solidFill>
                <a:latin typeface="고양덕양 EB"/>
                <a:ea typeface="고양덕양 EB"/>
                <a:cs typeface="Arial"/>
              </a:rPr>
              <a:t>등록·수정·삭제 기능 </a:t>
            </a:r>
            <a:br>
              <a:rPr lang="ko-KR" altLang="en-US" sz="1950">
                <a:solidFill>
                  <a:srgbClr val="424244"/>
                </a:solidFill>
                <a:latin typeface="고양덕양 EB"/>
                <a:ea typeface="고양덕양 EB"/>
                <a:cs typeface="Arial"/>
              </a:rPr>
            </a:br>
            <a:r>
              <a:rPr lang="en-US" sz="1950">
                <a:solidFill>
                  <a:srgbClr val="424244"/>
                </a:solidFill>
                <a:latin typeface="고양덕양 EB"/>
                <a:ea typeface="고양덕양 EB"/>
                <a:cs typeface="Arial"/>
              </a:rPr>
              <a:t>회원 모바일 앱 </a:t>
            </a:r>
            <a:br>
              <a:rPr lang="ko-KR" altLang="en-US" sz="1950">
                <a:solidFill>
                  <a:srgbClr val="424244"/>
                </a:solidFill>
                <a:latin typeface="고양덕양 EB"/>
                <a:ea typeface="고양덕양 EB"/>
                <a:cs typeface="Arial"/>
              </a:rPr>
            </a:br>
            <a:r>
              <a:rPr lang="en-US" sz="1950">
                <a:solidFill>
                  <a:srgbClr val="424244"/>
                </a:solidFill>
                <a:latin typeface="고양덕양 EB"/>
                <a:ea typeface="고양덕양 EB"/>
                <a:cs typeface="Arial"/>
              </a:rPr>
              <a:t>캘린더형 예약 화면</a:t>
            </a:r>
            <a:endParaRPr lang="en-US" sz="1950">
              <a:solidFill>
                <a:srgbClr val="424244"/>
              </a:solidFill>
              <a:latin typeface="고양덕양 EB"/>
              <a:ea typeface="고양덕양 EB"/>
              <a:cs typeface="Arial"/>
            </a:endParaRPr>
          </a:p>
        </p:txBody>
      </p:sp>
      <p:sp>
        <p:nvSpPr>
          <p:cNvPr id="15" name="Shape 13"/>
          <p:cNvSpPr/>
          <p:nvPr/>
        </p:nvSpPr>
        <p:spPr>
          <a:xfrm>
            <a:off x="1047750" y="8250734"/>
            <a:ext cx="16192500" cy="9525"/>
          </a:xfrm>
          <a:prstGeom prst="rect">
            <a:avLst/>
          </a:prstGeom>
          <a:solidFill>
            <a:srgbClr val="1f1f1f">
              <a:alpha val="16000"/>
            </a:srgbClr>
          </a:solidFill>
          <a:ln/>
        </p:spPr>
        <p:txBody>
          <a:bodyPr anchor="ctr"/>
          <a:p>
            <a:pPr algn="ctr">
              <a:defRPr/>
            </a:pPr>
            <a:endParaRPr lang="ko-KR" altLang="en-US">
              <a:latin typeface="고양덕양 EB"/>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8">
    <p:bg>
      <p:bgPr shadeToTitle="0">
        <a:solidFill>
          <a:srgbClr val="f2f2f3"/>
        </a:solidFill>
      </p:bgPr>
    </p:bg>
    <p:spTree>
      <p:nvGrpSpPr>
        <p:cNvPr id="1" name=""/>
        <p:cNvGrpSpPr/>
        <p:nvPr/>
      </p:nvGrpSpPr>
      <p:grpSpPr>
        <a:xfrm>
          <a:off x="0" y="0"/>
          <a:ext cx="0" cy="0"/>
          <a:chOff x="0" y="0"/>
          <a:chExt cx="0" cy="0"/>
        </a:xfrm>
      </p:grpSpPr>
      <p:sp>
        <p:nvSpPr>
          <p:cNvPr id="2" name="Text 0"/>
          <p:cNvSpPr/>
          <p:nvPr/>
        </p:nvSpPr>
        <p:spPr>
          <a:xfrm>
            <a:off x="1047750" y="876300"/>
            <a:ext cx="17811750"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24">
                <a:solidFill>
                  <a:srgbClr val="416180"/>
                </a:solidFill>
                <a:latin typeface="고양덕양 EB"/>
                <a:ea typeface="고양덕양 EB"/>
                <a:cs typeface="Courier New"/>
              </a:rPr>
              <a:t>Ⅳ </a:t>
            </a:r>
            <a:r>
              <a:rPr lang="en-US" sz="1800" b="0" kern="0" spc="324">
                <a:solidFill>
                  <a:srgbClr val="416180"/>
                </a:solidFill>
                <a:ea typeface="고양덕양 EB"/>
                <a:cs typeface="Courier New"/>
              </a:rPr>
              <a:t>—</a:t>
            </a:r>
            <a:r>
              <a:rPr lang="en-US" sz="1800" b="0" kern="0" spc="324">
                <a:solidFill>
                  <a:srgbClr val="416180"/>
                </a:solidFill>
                <a:latin typeface="고양덕양 EB"/>
                <a:ea typeface="고양덕양 EB"/>
                <a:cs typeface="Courier New"/>
              </a:rPr>
              <a:t> 02</a:t>
            </a:r>
            <a:endParaRPr lang="en-US" sz="1800">
              <a:latin typeface="고양덕양 EB"/>
            </a:endParaRPr>
          </a:p>
        </p:txBody>
      </p:sp>
      <p:sp>
        <p:nvSpPr>
          <p:cNvPr id="3" name="Text 1"/>
          <p:cNvSpPr/>
          <p:nvPr/>
        </p:nvSpPr>
        <p:spPr>
          <a:xfrm>
            <a:off x="1047750" y="1440061"/>
            <a:ext cx="17811750" cy="708571"/>
          </a:xfrm>
          <a:prstGeom prst="rect">
            <a:avLst/>
          </a:prstGeom>
          <a:noFill/>
          <a:ln/>
        </p:spPr>
        <p:txBody>
          <a:bodyPr wrap="square" lIns="25400" tIns="25400" rIns="25400" bIns="25400" anchor="t">
            <a:normAutofit/>
          </a:bodyPr>
          <a:lstStyle/>
          <a:p>
            <a:pPr marL="0" indent="0" algn="l">
              <a:lnSpc>
                <a:spcPct val="95135"/>
              </a:lnSpc>
              <a:buNone/>
              <a:defRPr/>
            </a:pPr>
            <a:r>
              <a:rPr lang="en-US" sz="4800" b="1" kern="0" spc="-72">
                <a:solidFill>
                  <a:srgbClr val="1d1f20"/>
                </a:solidFill>
                <a:latin typeface="고양덕양 EB"/>
                <a:ea typeface="고양덕양 EB"/>
                <a:cs typeface="Arial"/>
              </a:rPr>
              <a:t>개발 로드맵</a:t>
            </a:r>
            <a:endParaRPr lang="en-US" sz="4800">
              <a:latin typeface="고양덕양 EB"/>
            </a:endParaRPr>
          </a:p>
        </p:txBody>
      </p:sp>
      <p:sp>
        <p:nvSpPr>
          <p:cNvPr id="4" name="Text 2"/>
          <p:cNvSpPr/>
          <p:nvPr/>
        </p:nvSpPr>
        <p:spPr>
          <a:xfrm>
            <a:off x="1047750" y="2301032"/>
            <a:ext cx="17811750" cy="479971"/>
          </a:xfrm>
          <a:prstGeom prst="rect">
            <a:avLst/>
          </a:prstGeom>
          <a:noFill/>
          <a:ln/>
        </p:spPr>
        <p:txBody>
          <a:bodyPr wrap="square" lIns="25400" tIns="25400" rIns="25400" bIns="25400" anchor="t">
            <a:normAutofit/>
          </a:bodyPr>
          <a:lstStyle/>
          <a:p>
            <a:pPr marL="0" indent="0" algn="l">
              <a:lnSpc>
                <a:spcPct val="125405"/>
              </a:lnSpc>
              <a:buNone/>
              <a:defRPr/>
            </a:pPr>
            <a:r>
              <a:rPr lang="en-US" sz="2400">
                <a:solidFill>
                  <a:srgbClr val="5d5d60"/>
                </a:solidFill>
                <a:latin typeface="고양덕양 EB"/>
                <a:ea typeface="고양덕양 EB"/>
                <a:cs typeface="Arial"/>
              </a:rPr>
              <a:t>현재 계획한 순서입니다. 앞 단계에서 구조가 바뀌면 뒤 단계의 범위와 순서도 함께 조정할 예정입니다.</a:t>
            </a:r>
            <a:endParaRPr lang="en-US" sz="2400">
              <a:latin typeface="고양덕양 EB"/>
            </a:endParaRPr>
          </a:p>
        </p:txBody>
      </p:sp>
      <p:sp>
        <p:nvSpPr>
          <p:cNvPr id="5" name="Shape 3"/>
          <p:cNvSpPr/>
          <p:nvPr/>
        </p:nvSpPr>
        <p:spPr>
          <a:xfrm>
            <a:off x="1047750" y="3009602"/>
            <a:ext cx="16192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6" name="Shape 4"/>
          <p:cNvSpPr/>
          <p:nvPr/>
        </p:nvSpPr>
        <p:spPr>
          <a:xfrm>
            <a:off x="1047750" y="3400127"/>
            <a:ext cx="3862387" cy="6162973"/>
          </a:xfrm>
          <a:prstGeom prst="rect">
            <a:avLst/>
          </a:prstGeom>
          <a:solidFill>
            <a:srgbClr val="1d2d3d"/>
          </a:solidFill>
          <a:ln/>
        </p:spPr>
        <p:txBody>
          <a:bodyPr anchor="ctr"/>
          <a:p>
            <a:pPr algn="ctr">
              <a:defRPr/>
            </a:pPr>
            <a:endParaRPr lang="ko-KR" altLang="en-US">
              <a:latin typeface="고양덕양 EB"/>
            </a:endParaRPr>
          </a:p>
        </p:txBody>
      </p:sp>
      <p:sp>
        <p:nvSpPr>
          <p:cNvPr id="7" name="Text 5"/>
          <p:cNvSpPr/>
          <p:nvPr/>
        </p:nvSpPr>
        <p:spPr>
          <a:xfrm>
            <a:off x="1371600" y="3781127"/>
            <a:ext cx="3536156"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b5d9fd"/>
                </a:solidFill>
                <a:latin typeface="고양덕양 EB"/>
                <a:ea typeface="고양덕양 EB"/>
                <a:cs typeface="Courier New"/>
              </a:rPr>
              <a:t>진행 중</a:t>
            </a:r>
            <a:endParaRPr lang="en-US" sz="1800">
              <a:latin typeface="고양덕양 EB"/>
            </a:endParaRPr>
          </a:p>
        </p:txBody>
      </p:sp>
      <p:sp>
        <p:nvSpPr>
          <p:cNvPr id="8" name="Text 6"/>
          <p:cNvSpPr/>
          <p:nvPr/>
        </p:nvSpPr>
        <p:spPr>
          <a:xfrm>
            <a:off x="1371600" y="4325838"/>
            <a:ext cx="3311128" cy="1001911"/>
          </a:xfrm>
          <a:prstGeom prst="rect">
            <a:avLst/>
          </a:prstGeom>
          <a:noFill/>
          <a:ln/>
        </p:spPr>
        <p:txBody>
          <a:bodyPr wrap="square" lIns="25400" tIns="25400" rIns="25400" bIns="25400" anchor="t">
            <a:normAutofit/>
          </a:bodyPr>
          <a:lstStyle/>
          <a:p>
            <a:pPr marL="0" indent="0" algn="l">
              <a:lnSpc>
                <a:spcPct val="101200"/>
              </a:lnSpc>
              <a:buNone/>
              <a:defRPr/>
            </a:pPr>
            <a:r>
              <a:rPr lang="en-US" sz="3300">
                <a:solidFill>
                  <a:srgbClr val="f2f2f3"/>
                </a:solidFill>
                <a:latin typeface="고양덕양 EB"/>
                <a:ea typeface="고양덕양 EB"/>
                <a:cs typeface="Arial"/>
              </a:rPr>
              <a:t>스키마·화면 </a:t>
            </a:r>
            <a:br>
              <a:rPr lang="ko-KR" altLang="en-US" sz="3300">
                <a:solidFill>
                  <a:srgbClr val="f2f2f3"/>
                </a:solidFill>
                <a:latin typeface="고양덕양 EB"/>
                <a:ea typeface="고양덕양 EB"/>
                <a:cs typeface="Arial"/>
              </a:rPr>
            </a:br>
            <a:r>
              <a:rPr lang="en-US" sz="3300">
                <a:solidFill>
                  <a:srgbClr val="f2f2f3"/>
                </a:solidFill>
                <a:latin typeface="고양덕양 EB"/>
                <a:ea typeface="고양덕양 EB"/>
                <a:cs typeface="Arial"/>
              </a:rPr>
              <a:t>기준 확정</a:t>
            </a:r>
            <a:endParaRPr lang="en-US" sz="3300">
              <a:solidFill>
                <a:srgbClr val="f2f2f3"/>
              </a:solidFill>
              <a:latin typeface="고양덕양 EB"/>
              <a:ea typeface="고양덕양 EB"/>
              <a:cs typeface="Arial"/>
            </a:endParaRPr>
          </a:p>
        </p:txBody>
      </p:sp>
      <p:sp>
        <p:nvSpPr>
          <p:cNvPr id="9" name="Text 7"/>
          <p:cNvSpPr/>
          <p:nvPr/>
        </p:nvSpPr>
        <p:spPr>
          <a:xfrm>
            <a:off x="1371600" y="5499199"/>
            <a:ext cx="3311128" cy="1152525"/>
          </a:xfrm>
          <a:prstGeom prst="rect">
            <a:avLst/>
          </a:prstGeom>
          <a:noFill/>
          <a:ln/>
        </p:spPr>
        <p:txBody>
          <a:bodyPr wrap="square" lIns="25400" tIns="25400" rIns="25400" bIns="25400" anchor="t">
            <a:normAutofit/>
          </a:bodyPr>
          <a:lstStyle/>
          <a:p>
            <a:pPr marL="0" indent="0" algn="l">
              <a:lnSpc>
                <a:spcPct val="125806"/>
              </a:lnSpc>
              <a:buNone/>
              <a:defRPr/>
            </a:pPr>
            <a:r>
              <a:rPr lang="en-US">
                <a:solidFill>
                  <a:srgbClr val="d6ebff"/>
                </a:solidFill>
                <a:latin typeface="고양덕양 EB"/>
                <a:ea typeface="고양덕양 EB"/>
                <a:cs typeface="Arial"/>
              </a:rPr>
              <a:t>구조 수정을 거치며 데이터 모델과 관리자 화면 기준을 굳히는 단계</a:t>
            </a:r>
            <a:endParaRPr lang="en-US">
              <a:latin typeface="고양덕양 EB"/>
            </a:endParaRPr>
          </a:p>
        </p:txBody>
      </p:sp>
      <p:sp>
        <p:nvSpPr>
          <p:cNvPr id="10" name="Shape 8"/>
          <p:cNvSpPr/>
          <p:nvPr/>
        </p:nvSpPr>
        <p:spPr>
          <a:xfrm>
            <a:off x="5157788" y="3400127"/>
            <a:ext cx="3862387" cy="6162973"/>
          </a:xfrm>
          <a:prstGeom prst="rect">
            <a:avLst/>
          </a:prstGeom>
          <a:ln w="9525">
            <a:solidFill>
              <a:srgbClr val="1f1f1f">
                <a:alpha val="16000"/>
              </a:srgbClr>
            </a:solidFill>
            <a:prstDash val="solid"/>
          </a:ln>
        </p:spPr>
        <p:txBody>
          <a:bodyPr anchor="ctr"/>
          <a:p>
            <a:pPr algn="ctr">
              <a:defRPr/>
            </a:pPr>
            <a:endParaRPr lang="ko-KR" altLang="en-US">
              <a:latin typeface="고양덕양 EB"/>
            </a:endParaRPr>
          </a:p>
        </p:txBody>
      </p:sp>
      <p:sp>
        <p:nvSpPr>
          <p:cNvPr id="11" name="Text 9"/>
          <p:cNvSpPr/>
          <p:nvPr/>
        </p:nvSpPr>
        <p:spPr>
          <a:xfrm>
            <a:off x="5491163" y="3790652"/>
            <a:ext cx="3515201"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02</a:t>
            </a:r>
            <a:endParaRPr lang="en-US" sz="1800">
              <a:latin typeface="고양덕양 EB"/>
            </a:endParaRPr>
          </a:p>
        </p:txBody>
      </p:sp>
      <p:sp>
        <p:nvSpPr>
          <p:cNvPr id="12" name="Text 10"/>
          <p:cNvSpPr/>
          <p:nvPr/>
        </p:nvSpPr>
        <p:spPr>
          <a:xfrm>
            <a:off x="5491163" y="4335363"/>
            <a:ext cx="3291507" cy="1001911"/>
          </a:xfrm>
          <a:prstGeom prst="rect">
            <a:avLst/>
          </a:prstGeom>
          <a:noFill/>
          <a:ln/>
        </p:spPr>
        <p:txBody>
          <a:bodyPr wrap="square" lIns="25400" tIns="25400" rIns="25400" bIns="25400" anchor="t">
            <a:normAutofit/>
          </a:bodyPr>
          <a:lstStyle/>
          <a:p>
            <a:pPr marL="0" indent="0" algn="l">
              <a:lnSpc>
                <a:spcPct val="101200"/>
              </a:lnSpc>
              <a:buNone/>
              <a:defRPr/>
            </a:pPr>
            <a:r>
              <a:rPr lang="en-US" sz="3300">
                <a:solidFill>
                  <a:srgbClr val="1d1f20"/>
                </a:solidFill>
                <a:latin typeface="고양덕양 EB"/>
                <a:ea typeface="고양덕양 EB"/>
                <a:cs typeface="Arial"/>
              </a:rPr>
              <a:t>데이터베이스 연결</a:t>
            </a:r>
            <a:endParaRPr lang="en-US" sz="3300">
              <a:latin typeface="고양덕양 EB"/>
            </a:endParaRPr>
          </a:p>
        </p:txBody>
      </p:sp>
      <p:sp>
        <p:nvSpPr>
          <p:cNvPr id="13" name="Text 11"/>
          <p:cNvSpPr/>
          <p:nvPr/>
        </p:nvSpPr>
        <p:spPr>
          <a:xfrm>
            <a:off x="5491163" y="5508724"/>
            <a:ext cx="3291507" cy="1152525"/>
          </a:xfrm>
          <a:prstGeom prst="rect">
            <a:avLst/>
          </a:prstGeom>
          <a:noFill/>
          <a:ln/>
        </p:spPr>
        <p:txBody>
          <a:bodyPr wrap="square" lIns="25400" tIns="25400" rIns="25400" bIns="25400" anchor="t">
            <a:normAutofit/>
          </a:bodyPr>
          <a:lstStyle/>
          <a:p>
            <a:pPr marL="0" indent="0" algn="l">
              <a:lnSpc>
                <a:spcPct val="125806"/>
              </a:lnSpc>
              <a:buNone/>
              <a:defRPr/>
            </a:pPr>
            <a:r>
              <a:rPr lang="en-US">
                <a:solidFill>
                  <a:srgbClr val="424244"/>
                </a:solidFill>
                <a:latin typeface="고양덕양 EB"/>
                <a:ea typeface="고양덕양 EB"/>
                <a:cs typeface="Arial"/>
              </a:rPr>
              <a:t>확정된 스키마로 마이그레이션을 실행하고</a:t>
            </a:r>
            <a:r>
              <a:rPr lang="ko-KR" altLang="en-US">
                <a:solidFill>
                  <a:srgbClr val="424244"/>
                </a:solidFill>
                <a:latin typeface="고양덕양 EB"/>
                <a:ea typeface="고양덕양 EB"/>
                <a:cs typeface="Arial"/>
              </a:rPr>
              <a:t> </a:t>
            </a:r>
            <a:r>
              <a:rPr lang="en-US">
                <a:solidFill>
                  <a:srgbClr val="424244"/>
                </a:solidFill>
                <a:latin typeface="고양덕양 EB"/>
                <a:ea typeface="고양덕양 EB"/>
                <a:cs typeface="Arial"/>
              </a:rPr>
              <a:t>실제 데이터에 연결</a:t>
            </a:r>
            <a:endParaRPr lang="en-US">
              <a:solidFill>
                <a:srgbClr val="424244"/>
              </a:solidFill>
              <a:latin typeface="고양덕양 EB"/>
              <a:ea typeface="고양덕양 EB"/>
              <a:cs typeface="Arial"/>
            </a:endParaRPr>
          </a:p>
        </p:txBody>
      </p:sp>
      <p:sp>
        <p:nvSpPr>
          <p:cNvPr id="14" name="Shape 12"/>
          <p:cNvSpPr/>
          <p:nvPr/>
        </p:nvSpPr>
        <p:spPr>
          <a:xfrm>
            <a:off x="9267825" y="3400127"/>
            <a:ext cx="3862387" cy="6162973"/>
          </a:xfrm>
          <a:prstGeom prst="rect">
            <a:avLst/>
          </a:prstGeom>
          <a:ln w="9525">
            <a:solidFill>
              <a:srgbClr val="1f1f1f">
                <a:alpha val="16000"/>
              </a:srgbClr>
            </a:solidFill>
            <a:prstDash val="solid"/>
          </a:ln>
        </p:spPr>
        <p:txBody>
          <a:bodyPr anchor="ctr"/>
          <a:p>
            <a:pPr algn="ctr">
              <a:defRPr/>
            </a:pPr>
            <a:endParaRPr lang="ko-KR" altLang="en-US">
              <a:latin typeface="고양덕양 EB"/>
            </a:endParaRPr>
          </a:p>
        </p:txBody>
      </p:sp>
      <p:sp>
        <p:nvSpPr>
          <p:cNvPr id="15" name="Text 13"/>
          <p:cNvSpPr/>
          <p:nvPr/>
        </p:nvSpPr>
        <p:spPr>
          <a:xfrm>
            <a:off x="9601200" y="3790652"/>
            <a:ext cx="3515201"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03</a:t>
            </a:r>
            <a:endParaRPr lang="en-US" sz="1800">
              <a:latin typeface="고양덕양 EB"/>
            </a:endParaRPr>
          </a:p>
        </p:txBody>
      </p:sp>
      <p:sp>
        <p:nvSpPr>
          <p:cNvPr id="16" name="Text 14"/>
          <p:cNvSpPr/>
          <p:nvPr/>
        </p:nvSpPr>
        <p:spPr>
          <a:xfrm>
            <a:off x="9601200" y="4335363"/>
            <a:ext cx="3515201" cy="520005"/>
          </a:xfrm>
          <a:prstGeom prst="rect">
            <a:avLst/>
          </a:prstGeom>
          <a:noFill/>
          <a:ln/>
        </p:spPr>
        <p:txBody>
          <a:bodyPr wrap="square" lIns="25400" tIns="25400" rIns="25400" bIns="25400" anchor="t">
            <a:normAutofit/>
          </a:bodyPr>
          <a:lstStyle/>
          <a:p>
            <a:pPr marL="0" indent="0" algn="l">
              <a:lnSpc>
                <a:spcPct val="101200"/>
              </a:lnSpc>
              <a:buNone/>
              <a:defRPr/>
            </a:pPr>
            <a:r>
              <a:rPr lang="en-US" sz="3300">
                <a:solidFill>
                  <a:srgbClr val="1d1f20"/>
                </a:solidFill>
                <a:latin typeface="고양덕양 EB"/>
                <a:ea typeface="고양덕양 EB"/>
                <a:cs typeface="Arial"/>
              </a:rPr>
              <a:t>기능 구현</a:t>
            </a:r>
            <a:endParaRPr lang="en-US" sz="3300">
              <a:latin typeface="고양덕양 EB"/>
            </a:endParaRPr>
          </a:p>
        </p:txBody>
      </p:sp>
      <p:sp>
        <p:nvSpPr>
          <p:cNvPr id="17" name="Text 15"/>
          <p:cNvSpPr/>
          <p:nvPr/>
        </p:nvSpPr>
        <p:spPr>
          <a:xfrm>
            <a:off x="9601200" y="5508724"/>
            <a:ext cx="3291507" cy="1152525"/>
          </a:xfrm>
          <a:prstGeom prst="rect">
            <a:avLst/>
          </a:prstGeom>
          <a:noFill/>
          <a:ln/>
        </p:spPr>
        <p:txBody>
          <a:bodyPr wrap="square" lIns="25400" tIns="25400" rIns="25400" bIns="25400" anchor="t">
            <a:normAutofit/>
          </a:bodyPr>
          <a:lstStyle/>
          <a:p>
            <a:pPr marL="0" indent="0" algn="l">
              <a:lnSpc>
                <a:spcPct val="125806"/>
              </a:lnSpc>
              <a:buNone/>
              <a:defRPr/>
            </a:pPr>
            <a:r>
              <a:rPr lang="en-US">
                <a:solidFill>
                  <a:srgbClr val="424244"/>
                </a:solidFill>
                <a:latin typeface="고양덕양 EB"/>
                <a:ea typeface="고양덕양 EB"/>
                <a:cs typeface="Arial"/>
              </a:rPr>
              <a:t>회원·인사·프로그램 등록·수정, </a:t>
            </a:r>
            <a:br>
              <a:rPr lang="ko-KR" altLang="en-US">
                <a:solidFill>
                  <a:srgbClr val="424244"/>
                </a:solidFill>
                <a:latin typeface="고양덕양 EB"/>
                <a:ea typeface="고양덕양 EB"/>
                <a:cs typeface="Arial"/>
              </a:rPr>
            </a:br>
            <a:r>
              <a:rPr lang="en-US">
                <a:solidFill>
                  <a:srgbClr val="424244"/>
                </a:solidFill>
                <a:latin typeface="고양덕양 EB"/>
                <a:ea typeface="고양덕양 EB"/>
                <a:cs typeface="Arial"/>
              </a:rPr>
              <a:t>근태, 예약 및 결제 </a:t>
            </a:r>
            <a:endParaRPr lang="ko-KR" altLang="en-US">
              <a:solidFill>
                <a:srgbClr val="424244"/>
              </a:solidFill>
              <a:latin typeface="고양덕양 EB"/>
              <a:ea typeface="고양덕양 EB"/>
              <a:cs typeface="Arial"/>
            </a:endParaRPr>
          </a:p>
        </p:txBody>
      </p:sp>
      <p:sp>
        <p:nvSpPr>
          <p:cNvPr id="18" name="Shape 16"/>
          <p:cNvSpPr/>
          <p:nvPr/>
        </p:nvSpPr>
        <p:spPr>
          <a:xfrm>
            <a:off x="13377863" y="3400127"/>
            <a:ext cx="3862387" cy="6162973"/>
          </a:xfrm>
          <a:prstGeom prst="rect">
            <a:avLst/>
          </a:prstGeom>
          <a:ln w="9525">
            <a:solidFill>
              <a:srgbClr val="1f1f1f">
                <a:alpha val="16000"/>
              </a:srgbClr>
            </a:solidFill>
            <a:prstDash val="solid"/>
          </a:ln>
        </p:spPr>
        <p:txBody>
          <a:bodyPr anchor="ctr"/>
          <a:p>
            <a:pPr algn="ctr">
              <a:defRPr/>
            </a:pPr>
            <a:endParaRPr lang="ko-KR" altLang="en-US">
              <a:latin typeface="고양덕양 EB"/>
            </a:endParaRPr>
          </a:p>
        </p:txBody>
      </p:sp>
      <p:sp>
        <p:nvSpPr>
          <p:cNvPr id="19" name="Text 17"/>
          <p:cNvSpPr/>
          <p:nvPr/>
        </p:nvSpPr>
        <p:spPr>
          <a:xfrm>
            <a:off x="13711238" y="3790652"/>
            <a:ext cx="3515201"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a:solidFill>
                  <a:srgbClr val="416180"/>
                </a:solidFill>
                <a:latin typeface="고양덕양 EB"/>
                <a:ea typeface="고양덕양 EB"/>
                <a:cs typeface="Courier New"/>
              </a:rPr>
              <a:t>04</a:t>
            </a:r>
            <a:endParaRPr lang="en-US" sz="1800">
              <a:latin typeface="고양덕양 EB"/>
            </a:endParaRPr>
          </a:p>
        </p:txBody>
      </p:sp>
      <p:sp>
        <p:nvSpPr>
          <p:cNvPr id="20" name="Text 18"/>
          <p:cNvSpPr/>
          <p:nvPr/>
        </p:nvSpPr>
        <p:spPr>
          <a:xfrm>
            <a:off x="13711238" y="4335363"/>
            <a:ext cx="3515201" cy="520005"/>
          </a:xfrm>
          <a:prstGeom prst="rect">
            <a:avLst/>
          </a:prstGeom>
          <a:noFill/>
          <a:ln/>
        </p:spPr>
        <p:txBody>
          <a:bodyPr wrap="square" lIns="25400" tIns="25400" rIns="25400" bIns="25400" anchor="t">
            <a:normAutofit/>
          </a:bodyPr>
          <a:lstStyle/>
          <a:p>
            <a:pPr marL="0" indent="0" algn="l">
              <a:lnSpc>
                <a:spcPct val="101200"/>
              </a:lnSpc>
              <a:buNone/>
              <a:defRPr/>
            </a:pPr>
            <a:r>
              <a:rPr lang="en-US" sz="3300">
                <a:solidFill>
                  <a:srgbClr val="1d1f20"/>
                </a:solidFill>
                <a:latin typeface="고양덕양 EB"/>
                <a:ea typeface="고양덕양 EB"/>
                <a:cs typeface="Arial"/>
              </a:rPr>
              <a:t>공통 기반 마무리</a:t>
            </a:r>
            <a:endParaRPr lang="en-US" sz="3300">
              <a:latin typeface="고양덕양 EB"/>
            </a:endParaRPr>
          </a:p>
        </p:txBody>
      </p:sp>
      <p:sp>
        <p:nvSpPr>
          <p:cNvPr id="21" name="Text 19"/>
          <p:cNvSpPr/>
          <p:nvPr/>
        </p:nvSpPr>
        <p:spPr>
          <a:xfrm>
            <a:off x="13711238" y="5508724"/>
            <a:ext cx="3291507" cy="1461081"/>
          </a:xfrm>
          <a:prstGeom prst="rect">
            <a:avLst/>
          </a:prstGeom>
          <a:noFill/>
          <a:ln/>
        </p:spPr>
        <p:txBody>
          <a:bodyPr wrap="square" lIns="25400" tIns="25400" rIns="25400" bIns="25400" anchor="t">
            <a:normAutofit lnSpcReduction="10000"/>
          </a:bodyPr>
          <a:lstStyle/>
          <a:p>
            <a:pPr marL="0" indent="0" algn="l">
              <a:lnSpc>
                <a:spcPct val="125806"/>
              </a:lnSpc>
              <a:buNone/>
              <a:defRPr/>
            </a:pPr>
            <a:r>
              <a:rPr lang="en-US">
                <a:solidFill>
                  <a:srgbClr val="424244"/>
                </a:solidFill>
                <a:latin typeface="고양덕양 EB"/>
                <a:ea typeface="고양덕양 EB"/>
                <a:cs typeface="Arial"/>
              </a:rPr>
              <a:t>변경 이력 기록, </a:t>
            </a:r>
            <a:br>
              <a:rPr lang="ko-KR" altLang="en-US">
                <a:solidFill>
                  <a:srgbClr val="424244"/>
                </a:solidFill>
                <a:latin typeface="고양덕양 EB"/>
                <a:ea typeface="고양덕양 EB"/>
                <a:cs typeface="Arial"/>
              </a:rPr>
            </a:br>
            <a:r>
              <a:rPr lang="en-US">
                <a:solidFill>
                  <a:srgbClr val="424244"/>
                </a:solidFill>
                <a:latin typeface="고양덕양 EB"/>
                <a:ea typeface="고양덕양 EB"/>
                <a:cs typeface="Arial"/>
              </a:rPr>
              <a:t>민감정보 마스킹, </a:t>
            </a:r>
            <a:br>
              <a:rPr lang="ko-KR" altLang="en-US">
                <a:solidFill>
                  <a:srgbClr val="424244"/>
                </a:solidFill>
                <a:latin typeface="고양덕양 EB"/>
                <a:ea typeface="고양덕양 EB"/>
                <a:cs typeface="Arial"/>
              </a:rPr>
            </a:br>
            <a:r>
              <a:rPr lang="en-US">
                <a:solidFill>
                  <a:srgbClr val="424244"/>
                </a:solidFill>
                <a:latin typeface="고양덕양 EB"/>
                <a:ea typeface="고양덕양 EB"/>
                <a:cs typeface="Arial"/>
              </a:rPr>
              <a:t>혼잡도 자동 계산, </a:t>
            </a:r>
            <a:br>
              <a:rPr lang="ko-KR" altLang="en-US">
                <a:solidFill>
                  <a:srgbClr val="424244"/>
                </a:solidFill>
                <a:latin typeface="고양덕양 EB"/>
                <a:ea typeface="고양덕양 EB"/>
                <a:cs typeface="Arial"/>
              </a:rPr>
            </a:br>
            <a:r>
              <a:rPr lang="en-US">
                <a:solidFill>
                  <a:srgbClr val="424244"/>
                </a:solidFill>
                <a:latin typeface="고양덕양 EB"/>
                <a:ea typeface="고양덕양 EB"/>
                <a:cs typeface="Arial"/>
              </a:rPr>
              <a:t>회원 앱</a:t>
            </a:r>
            <a:endParaRPr lang="en-US">
              <a:solidFill>
                <a:srgbClr val="424244"/>
              </a:solidFill>
              <a:latin typeface="고양덕양 EB"/>
              <a:ea typeface="고양덕양 EB"/>
              <a:cs typeface="Arial"/>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9">
    <p:bg>
      <p:bgPr shadeToTitle="0">
        <a:solidFill>
          <a:srgbClr val="f2f2f3"/>
        </a:solidFill>
      </p:bgPr>
    </p:bg>
    <p:spTree>
      <p:nvGrpSpPr>
        <p:cNvPr id="1" name=""/>
        <p:cNvGrpSpPr/>
        <p:nvPr/>
      </p:nvGrpSpPr>
      <p:grpSpPr>
        <a:xfrm>
          <a:off x="0" y="0"/>
          <a:ext cx="0" cy="0"/>
          <a:chOff x="0" y="0"/>
          <a:chExt cx="0" cy="0"/>
        </a:xfrm>
      </p:grpSpPr>
      <p:sp>
        <p:nvSpPr>
          <p:cNvPr id="2" name="Shape 0"/>
          <p:cNvSpPr/>
          <p:nvPr/>
        </p:nvSpPr>
        <p:spPr>
          <a:xfrm>
            <a:off x="1047750" y="986730"/>
            <a:ext cx="133350" cy="133350"/>
          </a:xfrm>
          <a:prstGeom prst="rect">
            <a:avLst/>
          </a:prstGeom>
          <a:solidFill>
            <a:srgbClr val="5980a6"/>
          </a:solidFill>
          <a:ln/>
        </p:spPr>
        <p:txBody>
          <a:bodyPr anchor="ctr"/>
          <a:p>
            <a:pPr algn="ctr">
              <a:defRPr/>
            </a:pPr>
            <a:endParaRPr lang="ko-KR" altLang="en-US">
              <a:latin typeface="고양덕양 EB"/>
            </a:endParaRPr>
          </a:p>
        </p:txBody>
      </p:sp>
      <p:sp>
        <p:nvSpPr>
          <p:cNvPr id="3" name="Text 1"/>
          <p:cNvSpPr/>
          <p:nvPr/>
        </p:nvSpPr>
        <p:spPr>
          <a:xfrm>
            <a:off x="1371600" y="876300"/>
            <a:ext cx="6080388" cy="392311"/>
          </a:xfrm>
          <a:prstGeom prst="rect">
            <a:avLst/>
          </a:prstGeom>
          <a:noFill/>
          <a:ln/>
        </p:spPr>
        <p:txBody>
          <a:bodyPr wrap="square" lIns="25400" tIns="25400" rIns="25400" bIns="25400" anchor="t">
            <a:normAutofit/>
          </a:bodyPr>
          <a:lstStyle/>
          <a:p>
            <a:pPr marL="0" indent="0" algn="l">
              <a:lnSpc>
                <a:spcPct val="137778"/>
              </a:lnSpc>
              <a:buNone/>
              <a:defRPr/>
            </a:pPr>
            <a:r>
              <a:rPr lang="en-US" sz="1800" b="0" kern="0" spc="324">
                <a:solidFill>
                  <a:srgbClr val="416180"/>
                </a:solidFill>
                <a:latin typeface="고양덕양 EB"/>
                <a:ea typeface="고양덕양 EB"/>
                <a:cs typeface="Courier New"/>
              </a:rPr>
              <a:t>SPOISM ERP / PROGRESS REVIEW 01</a:t>
            </a:r>
            <a:endParaRPr lang="en-US" sz="1800">
              <a:latin typeface="고양덕양 EB"/>
            </a:endParaRPr>
          </a:p>
        </p:txBody>
      </p:sp>
      <p:sp>
        <p:nvSpPr>
          <p:cNvPr id="4" name="Text 2"/>
          <p:cNvSpPr/>
          <p:nvPr/>
        </p:nvSpPr>
        <p:spPr>
          <a:xfrm>
            <a:off x="1047750" y="6827193"/>
            <a:ext cx="17811750" cy="1126182"/>
          </a:xfrm>
          <a:prstGeom prst="rect">
            <a:avLst/>
          </a:prstGeom>
          <a:noFill/>
          <a:ln/>
        </p:spPr>
        <p:txBody>
          <a:bodyPr wrap="square" lIns="25400" tIns="25400" rIns="25400" bIns="25400" anchor="t">
            <a:normAutofit/>
          </a:bodyPr>
          <a:lstStyle/>
          <a:p>
            <a:pPr marL="0" indent="0" algn="l">
              <a:lnSpc>
                <a:spcPct val="88558"/>
              </a:lnSpc>
              <a:buNone/>
              <a:defRPr/>
            </a:pPr>
            <a:r>
              <a:rPr lang="en-US" sz="8400" b="0" kern="0" spc="-168">
                <a:solidFill>
                  <a:srgbClr val="1d1f20"/>
                </a:solidFill>
                <a:latin typeface="고양덕양 EB"/>
                <a:ea typeface="고양덕양 EB"/>
                <a:cs typeface="Arial"/>
              </a:rPr>
              <a:t>질의응답</a:t>
            </a:r>
            <a:endParaRPr lang="en-US" sz="8400">
              <a:latin typeface="고양덕양 EB"/>
            </a:endParaRPr>
          </a:p>
        </p:txBody>
      </p:sp>
      <p:sp>
        <p:nvSpPr>
          <p:cNvPr id="5" name="Shape 3"/>
          <p:cNvSpPr/>
          <p:nvPr/>
        </p:nvSpPr>
        <p:spPr>
          <a:xfrm>
            <a:off x="1047750" y="8334375"/>
            <a:ext cx="16192500" cy="9525"/>
          </a:xfrm>
          <a:prstGeom prst="rect">
            <a:avLst/>
          </a:prstGeom>
          <a:solidFill>
            <a:srgbClr val="1f1f1f">
              <a:alpha val="16000"/>
            </a:srgbClr>
          </a:solidFill>
          <a:ln/>
        </p:spPr>
        <p:txBody>
          <a:bodyPr anchor="ctr"/>
          <a:p>
            <a:pPr algn="ctr">
              <a:defRPr/>
            </a:pPr>
            <a:endParaRPr lang="ko-KR" altLang="en-US">
              <a:latin typeface="고양덕양 EB"/>
            </a:endParaRPr>
          </a:p>
        </p:txBody>
      </p:sp>
      <p:sp>
        <p:nvSpPr>
          <p:cNvPr id="6" name="Text 4"/>
          <p:cNvSpPr/>
          <p:nvPr/>
        </p:nvSpPr>
        <p:spPr>
          <a:xfrm>
            <a:off x="1047750" y="8648700"/>
            <a:ext cx="14615679" cy="952500"/>
          </a:xfrm>
          <a:prstGeom prst="rect">
            <a:avLst/>
          </a:prstGeom>
          <a:noFill/>
          <a:ln/>
        </p:spPr>
        <p:txBody>
          <a:bodyPr wrap="square" lIns="25400" tIns="25400" rIns="25400" bIns="25400" anchor="t">
            <a:normAutofit/>
          </a:bodyPr>
          <a:lstStyle/>
          <a:p>
            <a:pPr marL="0" indent="0" algn="l">
              <a:lnSpc>
                <a:spcPct val="129729"/>
              </a:lnSpc>
              <a:buNone/>
              <a:defRPr/>
            </a:pPr>
            <a:r>
              <a:rPr lang="en-US" sz="2200">
                <a:solidFill>
                  <a:srgbClr val="424244"/>
                </a:solidFill>
                <a:latin typeface="고양덕양 EB"/>
                <a:ea typeface="고양덕양 EB"/>
                <a:cs typeface="Arial"/>
              </a:rPr>
              <a:t>설계 문서는 공통설계서와 8개 기능 문서, 기술결정 기록, 트러블슈팅 기록, 요구사항 추적표로 구성되어 있습니다. </a:t>
            </a:r>
            <a:br>
              <a:rPr lang="ko-KR" altLang="en-US" sz="2200">
                <a:solidFill>
                  <a:srgbClr val="424244"/>
                </a:solidFill>
                <a:latin typeface="고양덕양 EB"/>
                <a:ea typeface="고양덕양 EB"/>
                <a:cs typeface="Arial"/>
              </a:rPr>
            </a:br>
            <a:r>
              <a:rPr lang="en-US" sz="2200">
                <a:solidFill>
                  <a:srgbClr val="424244"/>
                </a:solidFill>
                <a:latin typeface="고양덕양 EB"/>
                <a:ea typeface="고양덕양 EB"/>
                <a:cs typeface="Arial"/>
              </a:rPr>
              <a:t>구조 변경이 생길 때마다 근거를 함께 기록해 문서를 갱신하고 있습니다.</a:t>
            </a:r>
            <a:endParaRPr lang="en-US" sz="2200">
              <a:solidFill>
                <a:srgbClr val="424244"/>
              </a:solidFill>
              <a:latin typeface="고양덕양 EB"/>
              <a:ea typeface="고양덕양 EB"/>
              <a:cs typeface="Arial"/>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20"/>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20"/>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PptxGenJS</ep:Company>
  <ep:Words>0</ep:Words>
  <ep:PresentationFormat>On-screen Show (16:9)</ep:PresentationFormat>
  <ep:Paragraphs>0</ep:Paragraphs>
  <ep:Slides>17</ep:Slides>
  <ep:Notes>19</ep:Notes>
  <ep:TotalTime>0</ep:TotalTime>
  <ep:HiddenSlides>0</ep:HiddenSlides>
  <ep:MMClips>0</ep:MMClips>
  <ep:HeadingPairs>
    <vt:vector size="4" baseType="variant">
      <vt:variant>
        <vt:lpstr>테마</vt:lpstr>
      </vt:variant>
      <vt:variant>
        <vt:i4>1</vt:i4>
      </vt:variant>
      <vt:variant>
        <vt:lpstr>슬라이드 제목</vt:lpstr>
      </vt:variant>
      <vt:variant>
        <vt:i4>17</vt:i4>
      </vt:variant>
    </vt:vector>
  </ep:HeadingPairs>
  <ep:TitlesOfParts>
    <vt:vector size="18" baseType="lpstr">
      <vt:lpstr>Office Theme</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lpstr>슬라이드 11</vt:lpstr>
      <vt:lpstr>슬라이드 12</vt:lpstr>
      <vt:lpstr>슬라이드 13</vt:lpstr>
      <vt:lpstr>슬라이드 14</vt:lpstr>
      <vt:lpstr>슬라이드 15</vt:lpstr>
      <vt:lpstr>슬라이드 16</vt:lpstr>
      <vt:lpstr>슬라이드 17</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2026-09-07T09:59:13.000</dcterms:created>
  <dc:creator>PptxGenJS</dc:creator>
  <cp:lastModifiedBy>DASH-</cp:lastModifiedBy>
  <dcterms:modified xsi:type="dcterms:W3CDTF">2026-09-07T10:26:43.340</dcterms:modified>
  <cp:revision>30</cp:revision>
  <dc:subject>PptxGenJS Presentation</dc:subject>
  <dc:title>PptxGenJS Presentation</dc:title>
  <cp:version>1000.0000.01</cp:version>
</cp:coreProperties>
</file>